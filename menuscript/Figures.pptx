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784"/>
    <p:restoredTop sz="94630"/>
  </p:normalViewPr>
  <p:slideViewPr>
    <p:cSldViewPr snapToGrid="0">
      <p:cViewPr varScale="1">
        <p:scale>
          <a:sx n="113" d="100"/>
          <a:sy n="113" d="100"/>
        </p:scale>
        <p:origin x="37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E3980D2-DD7D-814D-91CB-F0324DE24F88}" type="datetimeFigureOut">
              <a:rPr lang="en-US" smtClean="0"/>
              <a:t>4/10/26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63AC6CD-AF3A-1544-9A87-113AA554FA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45601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3AC6CD-AF3A-1544-9A87-113AA554FA14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348221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278BAD-4978-D5C5-6D77-A0524143AA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5FDCFF5-BF91-0E04-89DC-7571F54DA65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F87AB87-7DB2-503C-92AC-1BE46E83A4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D5B90B-A207-F953-56C0-32A535B900E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3AC6CD-AF3A-1544-9A87-113AA554FA14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063896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595A3C-39EF-4592-567A-62C1404891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A1FEC4D-9841-E959-F70F-3ABA661473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822A85E-09EB-FB66-5B42-D9881B76CC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10A92B-31BA-55C7-B4C9-4ECC85C1C1A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3AC6CD-AF3A-1544-9A87-113AA554FA14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7249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10F697-2B1B-B0DB-BE1D-2A480BF8DF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27F41F1-51F3-9A72-89CD-F3F4876C559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D2C216-9150-6222-0625-20697E707E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568553-DF1D-154F-AE0E-A86501EBB975}" type="datetimeFigureOut">
              <a:rPr lang="en-US" smtClean="0"/>
              <a:t>4/10/26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D6CE1D-08B1-A5CC-AAF9-647E892FA3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AA2B77-49ED-A17C-8445-53B4D8A138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EB69CD-0790-B847-82B7-67D158D86C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71921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41DFBF-B022-151E-E000-2C6986C842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0FB838-0E09-E58B-055B-CF277EE566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FEB86E-F49F-5017-3DE5-C9421FF2ED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568553-DF1D-154F-AE0E-A86501EBB975}" type="datetimeFigureOut">
              <a:rPr lang="en-US" smtClean="0"/>
              <a:t>4/10/26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89945C-6205-8DE5-122D-8C57C5DB26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184923-4FA6-84D9-DF3A-6E7CCBC821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EB69CD-0790-B847-82B7-67D158D86C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77036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87C1F-D388-2C32-21A6-E112867C28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3D14C0-2362-63DF-9D2E-00061684C9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F47533-1824-A5D9-AAB2-753391193D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568553-DF1D-154F-AE0E-A86501EBB975}" type="datetimeFigureOut">
              <a:rPr lang="en-US" smtClean="0"/>
              <a:t>4/10/26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34D694-C5A3-B65E-5B7B-203E77735B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86AC4B-6BDD-8FDE-1FCD-E4886E1E38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EB69CD-0790-B847-82B7-67D158D86C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56428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D40BA0-AD4E-B4FC-B57D-C743E795F1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D5CDFE-5A68-E85A-FABC-5A0E10C58A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0F947D2-937E-C970-3EBD-891877FDCE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0AEDAF-FC8A-C9E7-7535-3D05B031CF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568553-DF1D-154F-AE0E-A86501EBB975}" type="datetimeFigureOut">
              <a:rPr lang="en-US" smtClean="0"/>
              <a:t>4/10/26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469440-BCCC-55AA-D419-62F7FBD923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E4E8BF-101B-B5B0-C7EA-28B1DEFD04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EB69CD-0790-B847-82B7-67D158D86C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7351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FD4AF1-EE12-6C4B-10CB-CC726CFBD0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8AA83F-4136-9956-B368-A1478CD4B2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EE056F1-F88D-2CD9-1DB3-12A9A00FCC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F7AADB6-F266-E7B7-22EC-50754DDCC2D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AE4226F-FF39-35C0-710B-577411C3BB3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B79167A-C379-0DFA-38A4-B4EF4ECF23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568553-DF1D-154F-AE0E-A86501EBB975}" type="datetimeFigureOut">
              <a:rPr lang="en-US" smtClean="0"/>
              <a:t>4/10/26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97EB09E-FF96-3318-B4E8-64F1EACA38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CD4E4A4-6CBE-29A4-1AA8-A91091C0DA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EB69CD-0790-B847-82B7-67D158D86C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26495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8CDBF7-5ECC-DC1D-0229-0306F2A860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3CB5016-3EE0-E397-4B52-435E9ECE12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568553-DF1D-154F-AE0E-A86501EBB975}" type="datetimeFigureOut">
              <a:rPr lang="en-US" smtClean="0"/>
              <a:t>4/10/26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8E98AF6-5CE8-FCD8-9470-D7B23F766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A1A3E71-5000-4351-1B80-D15E014D82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EB69CD-0790-B847-82B7-67D158D86C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8126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2F65146-19B6-D8F3-5B19-4D3505F74E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568553-DF1D-154F-AE0E-A86501EBB975}" type="datetimeFigureOut">
              <a:rPr lang="en-US" smtClean="0"/>
              <a:t>4/10/26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F142D3A-21D7-8157-BB2D-0BC5A5F0D2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177674-8189-F7E1-C973-48B297E546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EB69CD-0790-B847-82B7-67D158D86C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34054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994582-0021-A635-60C1-911270FB5A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2BF1C5-DF40-FF97-C3C4-88F8FA852C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4EF8A91-E1F6-AF29-39AD-5460439E0B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A6BAB1D-B6A0-D4C5-B58B-72A8949B7E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568553-DF1D-154F-AE0E-A86501EBB975}" type="datetimeFigureOut">
              <a:rPr lang="en-US" smtClean="0"/>
              <a:t>4/10/26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57E9A5D-CE53-0FFB-49C7-4CAE7E182B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AF07CA-B581-FAF3-187A-7B1A512E07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EB69CD-0790-B847-82B7-67D158D86C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91298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72FC17-E873-71BF-DE5C-569EA470BA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275C475-70E8-6836-D0F5-454D55C60C7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A713CFA-DB7F-4293-7458-ECB4AD2FA7F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CD226D-6796-E9FF-A046-5BF01EB0C8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568553-DF1D-154F-AE0E-A86501EBB975}" type="datetimeFigureOut">
              <a:rPr lang="en-US" smtClean="0"/>
              <a:t>4/10/26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A4E499-B21E-413E-7B85-5C4F904865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250AFE-9FF5-7DD1-1003-1E6B8B9D38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EB69CD-0790-B847-82B7-67D158D86C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00241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C09C86-CFE2-3B5D-8427-4722133E10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1DABFFD-A295-77D6-6D9E-3608A3E084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DF3EA8-AD3E-2708-B3A9-3FBD59CAD6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568553-DF1D-154F-AE0E-A86501EBB975}" type="datetimeFigureOut">
              <a:rPr lang="en-US" smtClean="0"/>
              <a:t>4/10/26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BE5A21-83D0-15BD-25A6-1236B30EBF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64EBD1-5974-36BA-3230-E84BC9F470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EB69CD-0790-B847-82B7-67D158D86C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71929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65358AB-DC83-5F97-D1D2-1590BBCF761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4E67583-D3BA-7CD0-2E59-36C738AC44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9672BD-62A2-4546-F890-D935E99248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568553-DF1D-154F-AE0E-A86501EBB975}" type="datetimeFigureOut">
              <a:rPr lang="en-US" smtClean="0"/>
              <a:t>4/10/26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381A33-0AB9-F76E-94C8-A7A578C4B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C6F36B-67E9-65AE-5022-071F1534D4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EB69CD-0790-B847-82B7-67D158D86C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19892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6D9880D-846B-1227-4BBD-FE0E797759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EFB0EF-E950-13AC-C406-12DD310703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DE313B-8AC0-6FE0-1409-31D8824784F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2568553-DF1D-154F-AE0E-A86501EBB975}" type="datetimeFigureOut">
              <a:rPr lang="en-US" smtClean="0"/>
              <a:t>4/10/26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7746A5-1AD0-78B6-1776-0DD33442E30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E8FAAD-819C-7782-7F2E-3F645678795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AEB69CD-0790-B847-82B7-67D158D86C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58530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1.png"/><Relationship Id="rId7" Type="http://schemas.openxmlformats.org/officeDocument/2006/relationships/image" Target="../media/image5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svg"/><Relationship Id="rId5" Type="http://schemas.openxmlformats.org/officeDocument/2006/relationships/image" Target="../media/image3.svg"/><Relationship Id="rId10" Type="http://schemas.openxmlformats.org/officeDocument/2006/relationships/image" Target="../media/image8.jpe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1.png"/><Relationship Id="rId7" Type="http://schemas.openxmlformats.org/officeDocument/2006/relationships/image" Target="../media/image10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svg"/><Relationship Id="rId5" Type="http://schemas.openxmlformats.org/officeDocument/2006/relationships/image" Target="../media/image4.svg"/><Relationship Id="rId4" Type="http://schemas.openxmlformats.org/officeDocument/2006/relationships/image" Target="../media/image2.png"/><Relationship Id="rId9" Type="http://schemas.openxmlformats.org/officeDocument/2006/relationships/image" Target="../media/image8.jpe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jpeg"/><Relationship Id="rId3" Type="http://schemas.openxmlformats.org/officeDocument/2006/relationships/image" Target="../media/image2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svg"/><Relationship Id="rId5" Type="http://schemas.openxmlformats.org/officeDocument/2006/relationships/image" Target="../media/image9.svg"/><Relationship Id="rId4" Type="http://schemas.openxmlformats.org/officeDocument/2006/relationships/image" Target="../media/image4.svg"/><Relationship Id="rId9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>
            <a:extLst>
              <a:ext uri="{FF2B5EF4-FFF2-40B4-BE49-F238E27FC236}">
                <a16:creationId xmlns:a16="http://schemas.microsoft.com/office/drawing/2014/main" id="{12ADE5AE-6D49-4ED9-B45E-0B8C63DDCB86}"/>
              </a:ext>
            </a:extLst>
          </p:cNvPr>
          <p:cNvSpPr/>
          <p:nvPr/>
        </p:nvSpPr>
        <p:spPr>
          <a:xfrm rot="186276">
            <a:off x="6278764" y="4865628"/>
            <a:ext cx="2373292" cy="1418652"/>
          </a:xfrm>
          <a:prstGeom prst="ellipse">
            <a:avLst/>
          </a:prstGeom>
          <a:solidFill>
            <a:schemeClr val="accent6">
              <a:lumMod val="20000"/>
              <a:lumOff val="80000"/>
              <a:alpha val="37122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115445F7-3E6D-590F-9421-020E06E41594}"/>
              </a:ext>
            </a:extLst>
          </p:cNvPr>
          <p:cNvSpPr/>
          <p:nvPr/>
        </p:nvSpPr>
        <p:spPr>
          <a:xfrm rot="20779310">
            <a:off x="4025955" y="4865630"/>
            <a:ext cx="2373292" cy="1418652"/>
          </a:xfrm>
          <a:prstGeom prst="ellipse">
            <a:avLst/>
          </a:prstGeom>
          <a:solidFill>
            <a:schemeClr val="accent1">
              <a:alpha val="1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89C42F4-FF41-9238-7ABE-B8E0A899BAD9}"/>
              </a:ext>
            </a:extLst>
          </p:cNvPr>
          <p:cNvSpPr/>
          <p:nvPr/>
        </p:nvSpPr>
        <p:spPr>
          <a:xfrm>
            <a:off x="1422707" y="3406405"/>
            <a:ext cx="1809653" cy="63932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Shared Observation 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sz="2000" b="1" i="1" dirty="0"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O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3C1842A-8CA3-90F1-F763-BFA201851A2A}"/>
              </a:ext>
            </a:extLst>
          </p:cNvPr>
          <p:cNvSpPr txBox="1"/>
          <p:nvPr/>
        </p:nvSpPr>
        <p:spPr>
          <a:xfrm rot="2624621">
            <a:off x="2618812" y="2166246"/>
            <a:ext cx="5176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FEE305A-AE5F-0C3D-0D3B-B1A727B11975}"/>
              </a:ext>
            </a:extLst>
          </p:cNvPr>
          <p:cNvSpPr txBox="1"/>
          <p:nvPr/>
        </p:nvSpPr>
        <p:spPr>
          <a:xfrm rot="19070983">
            <a:off x="1514266" y="2091981"/>
            <a:ext cx="5492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C90C26C9-76D5-6E98-4AF9-7D2E4FA9E7D1}"/>
              </a:ext>
            </a:extLst>
          </p:cNvPr>
          <p:cNvCxnSpPr>
            <a:cxnSpLocks/>
            <a:stCxn id="4" idx="5"/>
            <a:endCxn id="9" idx="0"/>
          </p:cNvCxnSpPr>
          <p:nvPr/>
        </p:nvCxnSpPr>
        <p:spPr>
          <a:xfrm>
            <a:off x="1522402" y="2840263"/>
            <a:ext cx="805132" cy="56614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D28FE2D4-F0DC-1C3E-74C1-9868A8671CCD}"/>
              </a:ext>
            </a:extLst>
          </p:cNvPr>
          <p:cNvCxnSpPr>
            <a:cxnSpLocks/>
            <a:stCxn id="7" idx="4"/>
            <a:endCxn id="9" idx="0"/>
          </p:cNvCxnSpPr>
          <p:nvPr/>
        </p:nvCxnSpPr>
        <p:spPr>
          <a:xfrm>
            <a:off x="2315872" y="2330270"/>
            <a:ext cx="11662" cy="107613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712BEA0A-DF6F-B170-6DB6-0C8D8B7C0E5B}"/>
              </a:ext>
            </a:extLst>
          </p:cNvPr>
          <p:cNvCxnSpPr>
            <a:cxnSpLocks/>
            <a:stCxn id="8" idx="3"/>
            <a:endCxn id="9" idx="0"/>
          </p:cNvCxnSpPr>
          <p:nvPr/>
        </p:nvCxnSpPr>
        <p:spPr>
          <a:xfrm flipH="1">
            <a:off x="2327534" y="2852641"/>
            <a:ext cx="716422" cy="553764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19DBFF25-1CF5-8A3A-9F97-699519E97D1E}"/>
              </a:ext>
            </a:extLst>
          </p:cNvPr>
          <p:cNvSpPr txBox="1"/>
          <p:nvPr/>
        </p:nvSpPr>
        <p:spPr>
          <a:xfrm>
            <a:off x="1503707" y="1152685"/>
            <a:ext cx="175300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Global View Consensus</a:t>
            </a:r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D67B3B6C-B518-7F46-70E0-037522D101DC}"/>
              </a:ext>
            </a:extLst>
          </p:cNvPr>
          <p:cNvSpPr/>
          <p:nvPr/>
        </p:nvSpPr>
        <p:spPr>
          <a:xfrm>
            <a:off x="4115363" y="2468910"/>
            <a:ext cx="457200" cy="4572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6B4BC660-869E-714C-680E-575B52813546}"/>
              </a:ext>
            </a:extLst>
          </p:cNvPr>
          <p:cNvSpPr/>
          <p:nvPr/>
        </p:nvSpPr>
        <p:spPr>
          <a:xfrm>
            <a:off x="3926955" y="3437122"/>
            <a:ext cx="1798615" cy="639325"/>
          </a:xfrm>
          <a:prstGeom prst="rect">
            <a:avLst/>
          </a:prstGeom>
          <a:solidFill>
            <a:schemeClr val="accent1">
              <a:alpha val="1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Local Observation </a:t>
            </a:r>
            <a:r>
              <a:rPr lang="en-US" sz="2000" b="1" i="1" dirty="0"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O</a:t>
            </a:r>
            <a:r>
              <a:rPr lang="en-US" b="1" i="1" baseline="-25000" dirty="0"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1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0F2EC4D3-472F-753A-F695-8C4F6F532567}"/>
              </a:ext>
            </a:extLst>
          </p:cNvPr>
          <p:cNvSpPr/>
          <p:nvPr/>
        </p:nvSpPr>
        <p:spPr>
          <a:xfrm>
            <a:off x="5673250" y="2312412"/>
            <a:ext cx="457200" cy="4572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700" dirty="0">
              <a:solidFill>
                <a:schemeClr val="tx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BAE3CD49-0448-50FE-1A9F-7F2B73261EFF}"/>
              </a:ext>
            </a:extLst>
          </p:cNvPr>
          <p:cNvSpPr/>
          <p:nvPr/>
        </p:nvSpPr>
        <p:spPr>
          <a:xfrm>
            <a:off x="4901139" y="1874920"/>
            <a:ext cx="457200" cy="4572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C64EA75-D518-208E-204B-E3750CCBCD84}"/>
              </a:ext>
            </a:extLst>
          </p:cNvPr>
          <p:cNvSpPr txBox="1"/>
          <p:nvPr/>
        </p:nvSpPr>
        <p:spPr>
          <a:xfrm rot="2624621">
            <a:off x="5315684" y="2231856"/>
            <a:ext cx="6768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E4A47E31-C5D0-180D-88B0-66DC02A5B7BD}"/>
              </a:ext>
            </a:extLst>
          </p:cNvPr>
          <p:cNvSpPr txBox="1"/>
          <p:nvPr/>
        </p:nvSpPr>
        <p:spPr>
          <a:xfrm rot="18623277">
            <a:off x="4394756" y="2038199"/>
            <a:ext cx="6768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D5AB644D-D947-5152-0B1B-19296E131B55}"/>
              </a:ext>
            </a:extLst>
          </p:cNvPr>
          <p:cNvSpPr/>
          <p:nvPr/>
        </p:nvSpPr>
        <p:spPr>
          <a:xfrm>
            <a:off x="5941959" y="3442083"/>
            <a:ext cx="1801368" cy="639325"/>
          </a:xfrm>
          <a:prstGeom prst="rect">
            <a:avLst/>
          </a:prstGeom>
          <a:solidFill>
            <a:schemeClr val="accent6">
              <a:lumMod val="20000"/>
              <a:lumOff val="80000"/>
              <a:alpha val="37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Local Observation </a:t>
            </a:r>
            <a:r>
              <a:rPr lang="en-US" sz="2000" b="1" i="1" dirty="0"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O</a:t>
            </a:r>
            <a:r>
              <a:rPr lang="en-US" b="1" i="1" baseline="-25000" dirty="0"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2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319F56CF-0091-2024-4B11-842F2477967B}"/>
              </a:ext>
            </a:extLst>
          </p:cNvPr>
          <p:cNvCxnSpPr>
            <a:cxnSpLocks/>
            <a:stCxn id="38" idx="4"/>
            <a:endCxn id="39" idx="0"/>
          </p:cNvCxnSpPr>
          <p:nvPr/>
        </p:nvCxnSpPr>
        <p:spPr>
          <a:xfrm>
            <a:off x="4343963" y="2926110"/>
            <a:ext cx="482300" cy="511012"/>
          </a:xfrm>
          <a:prstGeom prst="straightConnector1">
            <a:avLst/>
          </a:prstGeom>
          <a:ln w="19050">
            <a:solidFill>
              <a:schemeClr val="accent1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B8B8DF07-0ADA-8735-5C74-1EF391985AAB}"/>
              </a:ext>
            </a:extLst>
          </p:cNvPr>
          <p:cNvCxnSpPr>
            <a:cxnSpLocks/>
            <a:stCxn id="47" idx="4"/>
            <a:endCxn id="39" idx="0"/>
          </p:cNvCxnSpPr>
          <p:nvPr/>
        </p:nvCxnSpPr>
        <p:spPr>
          <a:xfrm flipH="1">
            <a:off x="4826263" y="2332120"/>
            <a:ext cx="303476" cy="1105002"/>
          </a:xfrm>
          <a:prstGeom prst="straightConnector1">
            <a:avLst/>
          </a:prstGeom>
          <a:ln w="19050">
            <a:solidFill>
              <a:schemeClr val="accent1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AA45F8F9-59AA-91E8-1642-3643DB59F943}"/>
              </a:ext>
            </a:extLst>
          </p:cNvPr>
          <p:cNvCxnSpPr>
            <a:cxnSpLocks/>
            <a:stCxn id="46" idx="3"/>
            <a:endCxn id="39" idx="0"/>
          </p:cNvCxnSpPr>
          <p:nvPr/>
        </p:nvCxnSpPr>
        <p:spPr>
          <a:xfrm flipH="1">
            <a:off x="4826263" y="2702657"/>
            <a:ext cx="913942" cy="734465"/>
          </a:xfrm>
          <a:prstGeom prst="straightConnector1">
            <a:avLst/>
          </a:prstGeom>
          <a:ln w="19050">
            <a:solidFill>
              <a:schemeClr val="accent1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DD476DAB-E10E-12C1-E22E-226193ECC166}"/>
              </a:ext>
            </a:extLst>
          </p:cNvPr>
          <p:cNvCxnSpPr>
            <a:cxnSpLocks/>
            <a:stCxn id="47" idx="4"/>
            <a:endCxn id="60" idx="0"/>
          </p:cNvCxnSpPr>
          <p:nvPr/>
        </p:nvCxnSpPr>
        <p:spPr>
          <a:xfrm>
            <a:off x="5129739" y="2332120"/>
            <a:ext cx="1712904" cy="1109963"/>
          </a:xfrm>
          <a:prstGeom prst="straightConnector1">
            <a:avLst/>
          </a:prstGeom>
          <a:ln w="22225">
            <a:solidFill>
              <a:schemeClr val="accent3"/>
            </a:solidFill>
            <a:prstDash val="dash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0176FE07-1A7A-0278-A368-E0E1957130ED}"/>
              </a:ext>
            </a:extLst>
          </p:cNvPr>
          <p:cNvCxnSpPr>
            <a:cxnSpLocks/>
            <a:stCxn id="50" idx="3"/>
            <a:endCxn id="39" idx="0"/>
          </p:cNvCxnSpPr>
          <p:nvPr/>
        </p:nvCxnSpPr>
        <p:spPr>
          <a:xfrm flipH="1">
            <a:off x="4826263" y="2944756"/>
            <a:ext cx="2006456" cy="492366"/>
          </a:xfrm>
          <a:prstGeom prst="straightConnector1">
            <a:avLst/>
          </a:prstGeom>
          <a:ln w="19050">
            <a:solidFill>
              <a:schemeClr val="accent1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0" name="TextBox 99">
            <a:extLst>
              <a:ext uri="{FF2B5EF4-FFF2-40B4-BE49-F238E27FC236}">
                <a16:creationId xmlns:a16="http://schemas.microsoft.com/office/drawing/2014/main" id="{D129A9A2-FC16-A2CF-FDDA-E7639D12B5CF}"/>
              </a:ext>
            </a:extLst>
          </p:cNvPr>
          <p:cNvSpPr txBox="1"/>
          <p:nvPr/>
        </p:nvSpPr>
        <p:spPr>
          <a:xfrm>
            <a:off x="5423268" y="1152685"/>
            <a:ext cx="192412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Topological View Consensus</a:t>
            </a:r>
          </a:p>
        </p:txBody>
      </p:sp>
      <p:grpSp>
        <p:nvGrpSpPr>
          <p:cNvPr id="140" name="Group 139">
            <a:extLst>
              <a:ext uri="{FF2B5EF4-FFF2-40B4-BE49-F238E27FC236}">
                <a16:creationId xmlns:a16="http://schemas.microsoft.com/office/drawing/2014/main" id="{3DF03D7F-4620-5BC0-98D6-E1FA41516BE1}"/>
              </a:ext>
            </a:extLst>
          </p:cNvPr>
          <p:cNvGrpSpPr/>
          <p:nvPr/>
        </p:nvGrpSpPr>
        <p:grpSpPr>
          <a:xfrm>
            <a:off x="1132157" y="2450018"/>
            <a:ext cx="597291" cy="457200"/>
            <a:chOff x="1170658" y="2421143"/>
            <a:chExt cx="597291" cy="457200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BDA0DA7A-9490-3183-C1EA-259C2E5C98BB}"/>
                </a:ext>
              </a:extLst>
            </p:cNvPr>
            <p:cNvSpPr/>
            <p:nvPr/>
          </p:nvSpPr>
          <p:spPr>
            <a:xfrm>
              <a:off x="1170658" y="2421143"/>
              <a:ext cx="457200" cy="4572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endParaRPr>
            </a:p>
          </p:txBody>
        </p:sp>
        <p:sp>
          <p:nvSpPr>
            <p:cNvPr id="136" name="TextBox 135">
              <a:extLst>
                <a:ext uri="{FF2B5EF4-FFF2-40B4-BE49-F238E27FC236}">
                  <a16:creationId xmlns:a16="http://schemas.microsoft.com/office/drawing/2014/main" id="{AD803550-5646-7430-69FF-C36B6D987B76}"/>
                </a:ext>
              </a:extLst>
            </p:cNvPr>
            <p:cNvSpPr txBox="1"/>
            <p:nvPr/>
          </p:nvSpPr>
          <p:spPr>
            <a:xfrm>
              <a:off x="1190986" y="2465077"/>
              <a:ext cx="57696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tx1"/>
                  </a:solidFill>
                  <a:latin typeface="Cambria Math" panose="02040503050406030204" pitchFamily="18" charset="0"/>
                  <a:ea typeface="Cambria Math" panose="02040503050406030204" pitchFamily="18" charset="0"/>
                </a:rPr>
                <a:t>N</a:t>
              </a:r>
              <a:r>
                <a:rPr lang="en-US" baseline="-25000" dirty="0">
                  <a:solidFill>
                    <a:schemeClr val="tx1"/>
                  </a:solidFill>
                  <a:latin typeface="Cambria Math" panose="02040503050406030204" pitchFamily="18" charset="0"/>
                  <a:ea typeface="Cambria Math" panose="02040503050406030204" pitchFamily="18" charset="0"/>
                </a:rPr>
                <a:t>1</a:t>
              </a:r>
              <a:endParaRPr lang="en-US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endParaRPr>
            </a:p>
          </p:txBody>
        </p:sp>
      </p:grpSp>
      <p:grpSp>
        <p:nvGrpSpPr>
          <p:cNvPr id="139" name="Group 138">
            <a:extLst>
              <a:ext uri="{FF2B5EF4-FFF2-40B4-BE49-F238E27FC236}">
                <a16:creationId xmlns:a16="http://schemas.microsoft.com/office/drawing/2014/main" id="{D24D2559-8937-298D-AB0F-0275BAD2D59F}"/>
              </a:ext>
            </a:extLst>
          </p:cNvPr>
          <p:cNvGrpSpPr/>
          <p:nvPr/>
        </p:nvGrpSpPr>
        <p:grpSpPr>
          <a:xfrm>
            <a:off x="2087272" y="1873070"/>
            <a:ext cx="489232" cy="457200"/>
            <a:chOff x="2193149" y="1786445"/>
            <a:chExt cx="489232" cy="457200"/>
          </a:xfrm>
        </p:grpSpPr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922219A8-6346-EF60-382C-D00E66CAB3C1}"/>
                </a:ext>
              </a:extLst>
            </p:cNvPr>
            <p:cNvSpPr/>
            <p:nvPr/>
          </p:nvSpPr>
          <p:spPr>
            <a:xfrm>
              <a:off x="2193149" y="1786445"/>
              <a:ext cx="457200" cy="4572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endParaRPr>
            </a:p>
          </p:txBody>
        </p:sp>
        <p:sp>
          <p:nvSpPr>
            <p:cNvPr id="137" name="TextBox 136">
              <a:extLst>
                <a:ext uri="{FF2B5EF4-FFF2-40B4-BE49-F238E27FC236}">
                  <a16:creationId xmlns:a16="http://schemas.microsoft.com/office/drawing/2014/main" id="{9ABD5729-F2BC-5A05-59DF-FCABD67B294C}"/>
                </a:ext>
              </a:extLst>
            </p:cNvPr>
            <p:cNvSpPr txBox="1"/>
            <p:nvPr/>
          </p:nvSpPr>
          <p:spPr>
            <a:xfrm>
              <a:off x="2239619" y="1835473"/>
              <a:ext cx="44276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tx1"/>
                  </a:solidFill>
                  <a:latin typeface="Cambria Math" panose="02040503050406030204" pitchFamily="18" charset="0"/>
                  <a:ea typeface="Cambria Math" panose="02040503050406030204" pitchFamily="18" charset="0"/>
                </a:rPr>
                <a:t>N</a:t>
              </a:r>
              <a:r>
                <a:rPr lang="en-US" baseline="-25000" dirty="0">
                  <a:latin typeface="Cambria Math" panose="02040503050406030204" pitchFamily="18" charset="0"/>
                  <a:ea typeface="Cambria Math" panose="02040503050406030204" pitchFamily="18" charset="0"/>
                </a:rPr>
                <a:t>9</a:t>
              </a:r>
              <a:endParaRPr lang="en-US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endParaRPr>
            </a:p>
          </p:txBody>
        </p:sp>
      </p:grpSp>
      <p:grpSp>
        <p:nvGrpSpPr>
          <p:cNvPr id="141" name="Group 140">
            <a:extLst>
              <a:ext uri="{FF2B5EF4-FFF2-40B4-BE49-F238E27FC236}">
                <a16:creationId xmlns:a16="http://schemas.microsoft.com/office/drawing/2014/main" id="{349D0D54-397F-3D6A-394E-43DB873F4C99}"/>
              </a:ext>
            </a:extLst>
          </p:cNvPr>
          <p:cNvGrpSpPr/>
          <p:nvPr/>
        </p:nvGrpSpPr>
        <p:grpSpPr>
          <a:xfrm>
            <a:off x="2977001" y="2462396"/>
            <a:ext cx="525151" cy="457200"/>
            <a:chOff x="3121378" y="2433521"/>
            <a:chExt cx="525151" cy="457200"/>
          </a:xfrm>
        </p:grpSpPr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A4323D94-C3F5-3A80-CFE3-327EB0158CD0}"/>
                </a:ext>
              </a:extLst>
            </p:cNvPr>
            <p:cNvSpPr/>
            <p:nvPr/>
          </p:nvSpPr>
          <p:spPr>
            <a:xfrm>
              <a:off x="3121378" y="2433521"/>
              <a:ext cx="457200" cy="4572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endParaRPr>
            </a:p>
          </p:txBody>
        </p:sp>
        <p:sp>
          <p:nvSpPr>
            <p:cNvPr id="138" name="TextBox 137">
              <a:extLst>
                <a:ext uri="{FF2B5EF4-FFF2-40B4-BE49-F238E27FC236}">
                  <a16:creationId xmlns:a16="http://schemas.microsoft.com/office/drawing/2014/main" id="{278DC489-6856-D6AA-0B50-CD73E234ADCB}"/>
                </a:ext>
              </a:extLst>
            </p:cNvPr>
            <p:cNvSpPr txBox="1"/>
            <p:nvPr/>
          </p:nvSpPr>
          <p:spPr>
            <a:xfrm>
              <a:off x="3155641" y="2485251"/>
              <a:ext cx="49088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err="1">
                  <a:solidFill>
                    <a:schemeClr val="tx1"/>
                  </a:solidFill>
                  <a:latin typeface="Cambria Math" panose="02040503050406030204" pitchFamily="18" charset="0"/>
                  <a:ea typeface="Cambria Math" panose="02040503050406030204" pitchFamily="18" charset="0"/>
                </a:rPr>
                <a:t>N</a:t>
              </a:r>
              <a:r>
                <a:rPr lang="en-US" baseline="-25000" dirty="0" err="1">
                  <a:solidFill>
                    <a:schemeClr val="tx1"/>
                  </a:solidFill>
                  <a:latin typeface="Cambria Math" panose="02040503050406030204" pitchFamily="18" charset="0"/>
                  <a:ea typeface="Cambria Math" panose="02040503050406030204" pitchFamily="18" charset="0"/>
                </a:rPr>
                <a:t>n</a:t>
              </a:r>
              <a:endParaRPr lang="en-US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endParaRPr>
            </a:p>
          </p:txBody>
        </p:sp>
      </p:grpSp>
      <p:sp>
        <p:nvSpPr>
          <p:cNvPr id="142" name="TextBox 141">
            <a:extLst>
              <a:ext uri="{FF2B5EF4-FFF2-40B4-BE49-F238E27FC236}">
                <a16:creationId xmlns:a16="http://schemas.microsoft.com/office/drawing/2014/main" id="{B8E64EB6-8948-6377-C2E2-95E433614669}"/>
              </a:ext>
            </a:extLst>
          </p:cNvPr>
          <p:cNvSpPr txBox="1"/>
          <p:nvPr/>
        </p:nvSpPr>
        <p:spPr>
          <a:xfrm>
            <a:off x="4133215" y="2499386"/>
            <a:ext cx="4235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</a:t>
            </a:r>
            <a:r>
              <a:rPr lang="en-US" baseline="-25000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u</a:t>
            </a:r>
            <a:endParaRPr lang="en-US" dirty="0">
              <a:solidFill>
                <a:schemeClr val="tx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143" name="TextBox 142">
            <a:extLst>
              <a:ext uri="{FF2B5EF4-FFF2-40B4-BE49-F238E27FC236}">
                <a16:creationId xmlns:a16="http://schemas.microsoft.com/office/drawing/2014/main" id="{901FD19D-97DC-3829-AC52-2FA8B663F6FF}"/>
              </a:ext>
            </a:extLst>
          </p:cNvPr>
          <p:cNvSpPr txBox="1"/>
          <p:nvPr/>
        </p:nvSpPr>
        <p:spPr>
          <a:xfrm>
            <a:off x="4947782" y="1923537"/>
            <a:ext cx="4754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</a:t>
            </a:r>
            <a:r>
              <a:rPr lang="en-US" baseline="-25000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endParaRPr lang="en-US" dirty="0"/>
          </a:p>
        </p:txBody>
      </p:sp>
      <p:sp>
        <p:nvSpPr>
          <p:cNvPr id="146" name="TextBox 145">
            <a:extLst>
              <a:ext uri="{FF2B5EF4-FFF2-40B4-BE49-F238E27FC236}">
                <a16:creationId xmlns:a16="http://schemas.microsoft.com/office/drawing/2014/main" id="{BF60A26D-CC1C-2479-27C6-0EACDFD02128}"/>
              </a:ext>
            </a:extLst>
          </p:cNvPr>
          <p:cNvSpPr txBox="1"/>
          <p:nvPr/>
        </p:nvSpPr>
        <p:spPr>
          <a:xfrm>
            <a:off x="5703871" y="2345799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N</a:t>
            </a:r>
            <a:r>
              <a:rPr lang="en-US" baseline="-250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w</a:t>
            </a:r>
            <a:endParaRPr lang="en-US" dirty="0"/>
          </a:p>
        </p:txBody>
      </p:sp>
      <p:cxnSp>
        <p:nvCxnSpPr>
          <p:cNvPr id="207" name="Straight Connector 206">
            <a:extLst>
              <a:ext uri="{FF2B5EF4-FFF2-40B4-BE49-F238E27FC236}">
                <a16:creationId xmlns:a16="http://schemas.microsoft.com/office/drawing/2014/main" id="{75433E50-EF17-2992-D032-B83BBBAC7DBB}"/>
              </a:ext>
            </a:extLst>
          </p:cNvPr>
          <p:cNvCxnSpPr>
            <a:cxnSpLocks/>
          </p:cNvCxnSpPr>
          <p:nvPr/>
        </p:nvCxnSpPr>
        <p:spPr>
          <a:xfrm>
            <a:off x="3666744" y="1067455"/>
            <a:ext cx="0" cy="3258785"/>
          </a:xfrm>
          <a:prstGeom prst="line">
            <a:avLst/>
          </a:prstGeom>
          <a:ln w="44450" cmpd="dbl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0" name="Rectangle 209">
            <a:extLst>
              <a:ext uri="{FF2B5EF4-FFF2-40B4-BE49-F238E27FC236}">
                <a16:creationId xmlns:a16="http://schemas.microsoft.com/office/drawing/2014/main" id="{17A78A75-B8EE-D869-74D7-754A7CFB5EDB}"/>
              </a:ext>
            </a:extLst>
          </p:cNvPr>
          <p:cNvSpPr/>
          <p:nvPr/>
        </p:nvSpPr>
        <p:spPr>
          <a:xfrm>
            <a:off x="3396998" y="2095365"/>
            <a:ext cx="539491" cy="17373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9" name="Straight Arrow Connector 208">
            <a:extLst>
              <a:ext uri="{FF2B5EF4-FFF2-40B4-BE49-F238E27FC236}">
                <a16:creationId xmlns:a16="http://schemas.microsoft.com/office/drawing/2014/main" id="{212928A4-B2AE-5284-56E1-A8F06E20EE55}"/>
              </a:ext>
            </a:extLst>
          </p:cNvPr>
          <p:cNvCxnSpPr/>
          <p:nvPr/>
        </p:nvCxnSpPr>
        <p:spPr>
          <a:xfrm>
            <a:off x="3434201" y="2182233"/>
            <a:ext cx="446282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Oval 50">
            <a:extLst>
              <a:ext uri="{FF2B5EF4-FFF2-40B4-BE49-F238E27FC236}">
                <a16:creationId xmlns:a16="http://schemas.microsoft.com/office/drawing/2014/main" id="{6FC651FD-D3A8-6BAF-3A5C-2C8931034B5D}"/>
              </a:ext>
            </a:extLst>
          </p:cNvPr>
          <p:cNvSpPr/>
          <p:nvPr/>
        </p:nvSpPr>
        <p:spPr>
          <a:xfrm>
            <a:off x="8303318" y="2587995"/>
            <a:ext cx="457200" cy="4572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2B9F8ACA-7C49-0333-0816-E8E6F23A2F82}"/>
              </a:ext>
            </a:extLst>
          </p:cNvPr>
          <p:cNvSpPr txBox="1"/>
          <p:nvPr/>
        </p:nvSpPr>
        <p:spPr>
          <a:xfrm rot="2895067">
            <a:off x="8016277" y="2351726"/>
            <a:ext cx="5261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02F20F53-D8A9-716F-D307-4CDD881429B9}"/>
              </a:ext>
            </a:extLst>
          </p:cNvPr>
          <p:cNvSpPr txBox="1"/>
          <p:nvPr/>
        </p:nvSpPr>
        <p:spPr>
          <a:xfrm rot="18623277">
            <a:off x="7139208" y="2261399"/>
            <a:ext cx="4393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</a:p>
        </p:txBody>
      </p: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1CC01AC0-C972-211E-FC85-44AA660E3791}"/>
              </a:ext>
            </a:extLst>
          </p:cNvPr>
          <p:cNvCxnSpPr>
            <a:cxnSpLocks/>
            <a:stCxn id="50" idx="4"/>
            <a:endCxn id="60" idx="0"/>
          </p:cNvCxnSpPr>
          <p:nvPr/>
        </p:nvCxnSpPr>
        <p:spPr>
          <a:xfrm flipH="1">
            <a:off x="6842643" y="3011711"/>
            <a:ext cx="151721" cy="430372"/>
          </a:xfrm>
          <a:prstGeom prst="straightConnector1">
            <a:avLst/>
          </a:prstGeom>
          <a:ln w="22225">
            <a:solidFill>
              <a:schemeClr val="accent3"/>
            </a:solidFill>
            <a:prstDash val="dash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980AE74C-A8F2-1176-78C1-E62DC17F4F2F}"/>
              </a:ext>
            </a:extLst>
          </p:cNvPr>
          <p:cNvCxnSpPr>
            <a:cxnSpLocks/>
            <a:stCxn id="52" idx="3"/>
            <a:endCxn id="60" idx="0"/>
          </p:cNvCxnSpPr>
          <p:nvPr/>
        </p:nvCxnSpPr>
        <p:spPr>
          <a:xfrm flipH="1">
            <a:off x="6842643" y="2440718"/>
            <a:ext cx="825525" cy="1001365"/>
          </a:xfrm>
          <a:prstGeom prst="straightConnector1">
            <a:avLst/>
          </a:prstGeom>
          <a:ln w="22225">
            <a:solidFill>
              <a:schemeClr val="accent3"/>
            </a:solidFill>
            <a:prstDash val="dash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E9761CC8-4F13-9B59-DA60-CB136BB97D2B}"/>
              </a:ext>
            </a:extLst>
          </p:cNvPr>
          <p:cNvCxnSpPr>
            <a:cxnSpLocks/>
            <a:stCxn id="51" idx="3"/>
            <a:endCxn id="60" idx="0"/>
          </p:cNvCxnSpPr>
          <p:nvPr/>
        </p:nvCxnSpPr>
        <p:spPr>
          <a:xfrm flipH="1">
            <a:off x="6842643" y="2978240"/>
            <a:ext cx="1527630" cy="463843"/>
          </a:xfrm>
          <a:prstGeom prst="straightConnector1">
            <a:avLst/>
          </a:prstGeom>
          <a:ln w="22225">
            <a:solidFill>
              <a:schemeClr val="accent3"/>
            </a:solidFill>
            <a:prstDash val="dash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9" name="TextBox 88">
            <a:extLst>
              <a:ext uri="{FF2B5EF4-FFF2-40B4-BE49-F238E27FC236}">
                <a16:creationId xmlns:a16="http://schemas.microsoft.com/office/drawing/2014/main" id="{062E766C-CE12-D47C-C997-68C8E89C69A3}"/>
              </a:ext>
            </a:extLst>
          </p:cNvPr>
          <p:cNvSpPr txBox="1"/>
          <p:nvPr/>
        </p:nvSpPr>
        <p:spPr>
          <a:xfrm>
            <a:off x="7803998" y="3452981"/>
            <a:ext cx="4833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CD07F6F2-25BA-8B0A-B1E9-B79482104858}"/>
              </a:ext>
            </a:extLst>
          </p:cNvPr>
          <p:cNvSpPr/>
          <p:nvPr/>
        </p:nvSpPr>
        <p:spPr>
          <a:xfrm>
            <a:off x="8367612" y="3437121"/>
            <a:ext cx="640080" cy="639325"/>
          </a:xfrm>
          <a:prstGeom prst="rect">
            <a:avLst/>
          </a:prstGeom>
          <a:solidFill>
            <a:schemeClr val="bg1">
              <a:lumMod val="95000"/>
              <a:alpha val="73845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b="1" i="1" dirty="0"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O</a:t>
            </a:r>
            <a:r>
              <a:rPr lang="en-US" b="1" i="1" baseline="-25000" dirty="0"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m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93" name="Group 192">
            <a:extLst>
              <a:ext uri="{FF2B5EF4-FFF2-40B4-BE49-F238E27FC236}">
                <a16:creationId xmlns:a16="http://schemas.microsoft.com/office/drawing/2014/main" id="{9955D214-5D95-BA34-28F3-5592AFE8BFDE}"/>
              </a:ext>
            </a:extLst>
          </p:cNvPr>
          <p:cNvGrpSpPr/>
          <p:nvPr/>
        </p:nvGrpSpPr>
        <p:grpSpPr>
          <a:xfrm>
            <a:off x="6765764" y="2554511"/>
            <a:ext cx="478157" cy="457200"/>
            <a:chOff x="6934441" y="2492365"/>
            <a:chExt cx="478157" cy="457200"/>
          </a:xfrm>
        </p:grpSpPr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BE7A0385-5094-41B0-2A73-DD5FA116BFBB}"/>
                </a:ext>
              </a:extLst>
            </p:cNvPr>
            <p:cNvSpPr/>
            <p:nvPr/>
          </p:nvSpPr>
          <p:spPr>
            <a:xfrm>
              <a:off x="6934441" y="2492365"/>
              <a:ext cx="457200" cy="457200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endParaRPr>
            </a:p>
          </p:txBody>
        </p:sp>
        <p:sp>
          <p:nvSpPr>
            <p:cNvPr id="147" name="TextBox 146">
              <a:extLst>
                <a:ext uri="{FF2B5EF4-FFF2-40B4-BE49-F238E27FC236}">
                  <a16:creationId xmlns:a16="http://schemas.microsoft.com/office/drawing/2014/main" id="{D0D96C84-2DA7-A2AD-0FE8-638F3707CB2D}"/>
                </a:ext>
              </a:extLst>
            </p:cNvPr>
            <p:cNvSpPr txBox="1"/>
            <p:nvPr/>
          </p:nvSpPr>
          <p:spPr>
            <a:xfrm>
              <a:off x="6972326" y="2539420"/>
              <a:ext cx="44027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err="1">
                  <a:solidFill>
                    <a:schemeClr val="tx1"/>
                  </a:solidFill>
                  <a:latin typeface="Cambria Math" panose="02040503050406030204" pitchFamily="18" charset="0"/>
                  <a:ea typeface="Cambria Math" panose="02040503050406030204" pitchFamily="18" charset="0"/>
                </a:rPr>
                <a:t>N</a:t>
              </a:r>
              <a:r>
                <a:rPr lang="en-US" baseline="-25000" dirty="0" err="1">
                  <a:solidFill>
                    <a:schemeClr val="tx1"/>
                  </a:solidFill>
                  <a:latin typeface="Cambria Math" panose="02040503050406030204" pitchFamily="18" charset="0"/>
                  <a:ea typeface="Cambria Math" panose="02040503050406030204" pitchFamily="18" charset="0"/>
                </a:rPr>
                <a:t>x</a:t>
              </a:r>
              <a:endParaRPr lang="en-US" dirty="0"/>
            </a:p>
          </p:txBody>
        </p:sp>
      </p:grpSp>
      <p:grpSp>
        <p:nvGrpSpPr>
          <p:cNvPr id="192" name="Group 191">
            <a:extLst>
              <a:ext uri="{FF2B5EF4-FFF2-40B4-BE49-F238E27FC236}">
                <a16:creationId xmlns:a16="http://schemas.microsoft.com/office/drawing/2014/main" id="{76B8B94F-69E5-52A5-B18C-5CEAAFD84289}"/>
              </a:ext>
            </a:extLst>
          </p:cNvPr>
          <p:cNvGrpSpPr/>
          <p:nvPr/>
        </p:nvGrpSpPr>
        <p:grpSpPr>
          <a:xfrm>
            <a:off x="7601213" y="2050473"/>
            <a:ext cx="499320" cy="457200"/>
            <a:chOff x="7803998" y="1903194"/>
            <a:chExt cx="499320" cy="457200"/>
          </a:xfrm>
        </p:grpSpPr>
        <p:sp>
          <p:nvSpPr>
            <p:cNvPr id="52" name="Oval 51">
              <a:extLst>
                <a:ext uri="{FF2B5EF4-FFF2-40B4-BE49-F238E27FC236}">
                  <a16:creationId xmlns:a16="http://schemas.microsoft.com/office/drawing/2014/main" id="{22487625-448E-0DEA-7D65-C750DB7F5127}"/>
                </a:ext>
              </a:extLst>
            </p:cNvPr>
            <p:cNvSpPr/>
            <p:nvPr/>
          </p:nvSpPr>
          <p:spPr>
            <a:xfrm>
              <a:off x="7803998" y="1903194"/>
              <a:ext cx="457200" cy="457200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endParaRPr>
            </a:p>
          </p:txBody>
        </p:sp>
        <p:sp>
          <p:nvSpPr>
            <p:cNvPr id="150" name="TextBox 149">
              <a:extLst>
                <a:ext uri="{FF2B5EF4-FFF2-40B4-BE49-F238E27FC236}">
                  <a16:creationId xmlns:a16="http://schemas.microsoft.com/office/drawing/2014/main" id="{B806EF13-990D-696A-E744-D2B82788ACA4}"/>
                </a:ext>
              </a:extLst>
            </p:cNvPr>
            <p:cNvSpPr txBox="1"/>
            <p:nvPr/>
          </p:nvSpPr>
          <p:spPr>
            <a:xfrm>
              <a:off x="7830569" y="1944036"/>
              <a:ext cx="47274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tx1"/>
                  </a:solidFill>
                  <a:latin typeface="Cambria Math" panose="02040503050406030204" pitchFamily="18" charset="0"/>
                  <a:ea typeface="Cambria Math" panose="02040503050406030204" pitchFamily="18" charset="0"/>
                </a:rPr>
                <a:t>N</a:t>
              </a:r>
              <a:r>
                <a:rPr lang="en-US" baseline="-25000" dirty="0">
                  <a:solidFill>
                    <a:schemeClr val="tx1"/>
                  </a:solidFill>
                  <a:latin typeface="Cambria Math" panose="02040503050406030204" pitchFamily="18" charset="0"/>
                  <a:ea typeface="Cambria Math" panose="02040503050406030204" pitchFamily="18" charset="0"/>
                </a:rPr>
                <a:t>y</a:t>
              </a:r>
              <a:endParaRPr lang="en-US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endParaRPr>
            </a:p>
          </p:txBody>
        </p:sp>
      </p:grpSp>
      <p:sp>
        <p:nvSpPr>
          <p:cNvPr id="152" name="TextBox 151">
            <a:extLst>
              <a:ext uri="{FF2B5EF4-FFF2-40B4-BE49-F238E27FC236}">
                <a16:creationId xmlns:a16="http://schemas.microsoft.com/office/drawing/2014/main" id="{B7C9C625-F59C-1DC8-3FE3-1E74D63661CC}"/>
              </a:ext>
            </a:extLst>
          </p:cNvPr>
          <p:cNvSpPr txBox="1"/>
          <p:nvPr/>
        </p:nvSpPr>
        <p:spPr>
          <a:xfrm>
            <a:off x="8353862" y="2628565"/>
            <a:ext cx="4563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</a:t>
            </a:r>
            <a:r>
              <a:rPr lang="en-US" baseline="-25000" dirty="0" err="1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z</a:t>
            </a:r>
            <a:endParaRPr lang="en-US" dirty="0"/>
          </a:p>
        </p:txBody>
      </p:sp>
      <p:cxnSp>
        <p:nvCxnSpPr>
          <p:cNvPr id="185" name="Straight Arrow Connector 184">
            <a:extLst>
              <a:ext uri="{FF2B5EF4-FFF2-40B4-BE49-F238E27FC236}">
                <a16:creationId xmlns:a16="http://schemas.microsoft.com/office/drawing/2014/main" id="{B51BBD20-EAF2-0D0A-01E7-F6E2B7F9B107}"/>
              </a:ext>
            </a:extLst>
          </p:cNvPr>
          <p:cNvCxnSpPr>
            <a:cxnSpLocks/>
            <a:stCxn id="51" idx="4"/>
            <a:endCxn id="90" idx="0"/>
          </p:cNvCxnSpPr>
          <p:nvPr/>
        </p:nvCxnSpPr>
        <p:spPr>
          <a:xfrm>
            <a:off x="8531918" y="3045195"/>
            <a:ext cx="155734" cy="391926"/>
          </a:xfrm>
          <a:prstGeom prst="straightConnector1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  <a:prstDash val="dash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53742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6A9B3B-6224-BFB2-1887-C3229E6A66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13AE3B5F-9312-C0E1-9654-BA2E433F761A}"/>
              </a:ext>
            </a:extLst>
          </p:cNvPr>
          <p:cNvSpPr/>
          <p:nvPr/>
        </p:nvSpPr>
        <p:spPr>
          <a:xfrm>
            <a:off x="1422707" y="3406405"/>
            <a:ext cx="1809653" cy="63932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Shared Observation 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sz="2000" b="1" i="1" dirty="0"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O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37C3262-FFBE-D0A8-6EA5-463B0E54137D}"/>
              </a:ext>
            </a:extLst>
          </p:cNvPr>
          <p:cNvSpPr txBox="1"/>
          <p:nvPr/>
        </p:nvSpPr>
        <p:spPr>
          <a:xfrm>
            <a:off x="2577199" y="2506783"/>
            <a:ext cx="44627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586893A-100B-78D9-323B-13A903B20485}"/>
              </a:ext>
            </a:extLst>
          </p:cNvPr>
          <p:cNvSpPr txBox="1"/>
          <p:nvPr/>
        </p:nvSpPr>
        <p:spPr>
          <a:xfrm>
            <a:off x="1641468" y="2493977"/>
            <a:ext cx="39595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61DFA886-0DB0-D3B8-4956-0E91D7058616}"/>
              </a:ext>
            </a:extLst>
          </p:cNvPr>
          <p:cNvCxnSpPr>
            <a:cxnSpLocks/>
            <a:stCxn id="4" idx="5"/>
            <a:endCxn id="9" idx="0"/>
          </p:cNvCxnSpPr>
          <p:nvPr/>
        </p:nvCxnSpPr>
        <p:spPr>
          <a:xfrm>
            <a:off x="1522402" y="2840263"/>
            <a:ext cx="805132" cy="56614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097A25A7-7AF1-54AA-0827-5DB79F84823E}"/>
              </a:ext>
            </a:extLst>
          </p:cNvPr>
          <p:cNvCxnSpPr>
            <a:cxnSpLocks/>
            <a:stCxn id="7" idx="4"/>
            <a:endCxn id="9" idx="0"/>
          </p:cNvCxnSpPr>
          <p:nvPr/>
        </p:nvCxnSpPr>
        <p:spPr>
          <a:xfrm>
            <a:off x="2298055" y="2908428"/>
            <a:ext cx="29479" cy="49797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D4503124-636E-DE87-A543-B0BDD4B7F6F4}"/>
              </a:ext>
            </a:extLst>
          </p:cNvPr>
          <p:cNvCxnSpPr>
            <a:cxnSpLocks/>
            <a:stCxn id="8" idx="3"/>
            <a:endCxn id="9" idx="0"/>
          </p:cNvCxnSpPr>
          <p:nvPr/>
        </p:nvCxnSpPr>
        <p:spPr>
          <a:xfrm flipH="1">
            <a:off x="2327534" y="2852641"/>
            <a:ext cx="716422" cy="553764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A060E56E-85AF-ADCF-05EC-631FB462BC45}"/>
              </a:ext>
            </a:extLst>
          </p:cNvPr>
          <p:cNvSpPr txBox="1"/>
          <p:nvPr/>
        </p:nvSpPr>
        <p:spPr>
          <a:xfrm>
            <a:off x="1332603" y="1659583"/>
            <a:ext cx="175300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Global View Consensus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D5E3A9FE-F118-57C0-3894-3B1A63F10A0B}"/>
              </a:ext>
            </a:extLst>
          </p:cNvPr>
          <p:cNvSpPr/>
          <p:nvPr/>
        </p:nvSpPr>
        <p:spPr>
          <a:xfrm>
            <a:off x="3926955" y="3437122"/>
            <a:ext cx="1798615" cy="639325"/>
          </a:xfrm>
          <a:prstGeom prst="rect">
            <a:avLst/>
          </a:prstGeom>
          <a:solidFill>
            <a:schemeClr val="accent1">
              <a:alpha val="1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Local Observation </a:t>
            </a:r>
            <a:r>
              <a:rPr lang="en-US" sz="2000" b="1" i="1" dirty="0"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O</a:t>
            </a:r>
            <a:r>
              <a:rPr lang="en-US" b="1" i="1" baseline="-25000" dirty="0"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1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1A1E088-20BE-832E-F15B-66FE39AEBA78}"/>
              </a:ext>
            </a:extLst>
          </p:cNvPr>
          <p:cNvSpPr txBox="1"/>
          <p:nvPr/>
        </p:nvSpPr>
        <p:spPr>
          <a:xfrm>
            <a:off x="5041077" y="2506633"/>
            <a:ext cx="4394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967FEBCC-FBBB-37C4-F5D6-31CE153EF760}"/>
              </a:ext>
            </a:extLst>
          </p:cNvPr>
          <p:cNvSpPr txBox="1"/>
          <p:nvPr/>
        </p:nvSpPr>
        <p:spPr>
          <a:xfrm>
            <a:off x="4195815" y="2506632"/>
            <a:ext cx="3795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9D6A2C75-F928-A05C-3A99-B90592F25C42}"/>
              </a:ext>
            </a:extLst>
          </p:cNvPr>
          <p:cNvSpPr/>
          <p:nvPr/>
        </p:nvSpPr>
        <p:spPr>
          <a:xfrm>
            <a:off x="5941959" y="3442083"/>
            <a:ext cx="1801368" cy="639325"/>
          </a:xfrm>
          <a:prstGeom prst="rect">
            <a:avLst/>
          </a:prstGeom>
          <a:solidFill>
            <a:schemeClr val="accent6">
              <a:lumMod val="20000"/>
              <a:lumOff val="80000"/>
              <a:alpha val="37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Local Observation </a:t>
            </a:r>
            <a:r>
              <a:rPr lang="en-US" sz="2000" b="1" i="1" dirty="0"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O</a:t>
            </a:r>
            <a:r>
              <a:rPr lang="en-US" b="1" i="1" baseline="-25000" dirty="0"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2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03A15C33-036C-4992-278E-B04F9E54DCB7}"/>
              </a:ext>
            </a:extLst>
          </p:cNvPr>
          <p:cNvCxnSpPr>
            <a:cxnSpLocks/>
            <a:stCxn id="38" idx="5"/>
            <a:endCxn id="39" idx="0"/>
          </p:cNvCxnSpPr>
          <p:nvPr/>
        </p:nvCxnSpPr>
        <p:spPr>
          <a:xfrm>
            <a:off x="4115977" y="2852641"/>
            <a:ext cx="710286" cy="584481"/>
          </a:xfrm>
          <a:prstGeom prst="straightConnector1">
            <a:avLst/>
          </a:prstGeom>
          <a:ln w="19050">
            <a:solidFill>
              <a:schemeClr val="accent1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5D2EC181-D7AB-8B65-42D8-5312BFFE78B0}"/>
              </a:ext>
            </a:extLst>
          </p:cNvPr>
          <p:cNvCxnSpPr>
            <a:cxnSpLocks/>
            <a:stCxn id="47" idx="4"/>
            <a:endCxn id="39" idx="0"/>
          </p:cNvCxnSpPr>
          <p:nvPr/>
        </p:nvCxnSpPr>
        <p:spPr>
          <a:xfrm>
            <a:off x="4803931" y="2907218"/>
            <a:ext cx="22332" cy="529904"/>
          </a:xfrm>
          <a:prstGeom prst="straightConnector1">
            <a:avLst/>
          </a:prstGeom>
          <a:ln w="19050">
            <a:solidFill>
              <a:schemeClr val="accent1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509DCE3C-29F9-FB39-426C-66CDF6753961}"/>
              </a:ext>
            </a:extLst>
          </p:cNvPr>
          <p:cNvCxnSpPr>
            <a:cxnSpLocks/>
            <a:stCxn id="46" idx="3"/>
            <a:endCxn id="39" idx="0"/>
          </p:cNvCxnSpPr>
          <p:nvPr/>
        </p:nvCxnSpPr>
        <p:spPr>
          <a:xfrm flipH="1">
            <a:off x="4826263" y="2840424"/>
            <a:ext cx="679275" cy="596698"/>
          </a:xfrm>
          <a:prstGeom prst="straightConnector1">
            <a:avLst/>
          </a:prstGeom>
          <a:ln w="19050">
            <a:solidFill>
              <a:schemeClr val="accent1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434B43C7-0EE9-E91C-0163-17D2215D42CE}"/>
              </a:ext>
            </a:extLst>
          </p:cNvPr>
          <p:cNvCxnSpPr>
            <a:cxnSpLocks/>
            <a:stCxn id="47" idx="4"/>
            <a:endCxn id="60" idx="0"/>
          </p:cNvCxnSpPr>
          <p:nvPr/>
        </p:nvCxnSpPr>
        <p:spPr>
          <a:xfrm>
            <a:off x="4803931" y="2907218"/>
            <a:ext cx="2038712" cy="534865"/>
          </a:xfrm>
          <a:prstGeom prst="straightConnector1">
            <a:avLst/>
          </a:prstGeom>
          <a:ln w="22225">
            <a:solidFill>
              <a:schemeClr val="accent3"/>
            </a:solidFill>
            <a:prstDash val="dash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1474E54D-D56B-0D64-9F5A-58B08F0DDDB1}"/>
              </a:ext>
            </a:extLst>
          </p:cNvPr>
          <p:cNvCxnSpPr>
            <a:cxnSpLocks/>
            <a:stCxn id="50" idx="3"/>
            <a:endCxn id="39" idx="0"/>
          </p:cNvCxnSpPr>
          <p:nvPr/>
        </p:nvCxnSpPr>
        <p:spPr>
          <a:xfrm flipH="1">
            <a:off x="4826263" y="2855644"/>
            <a:ext cx="1528357" cy="581478"/>
          </a:xfrm>
          <a:prstGeom prst="straightConnector1">
            <a:avLst/>
          </a:prstGeom>
          <a:ln w="19050">
            <a:solidFill>
              <a:schemeClr val="accent1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0" name="TextBox 99">
            <a:extLst>
              <a:ext uri="{FF2B5EF4-FFF2-40B4-BE49-F238E27FC236}">
                <a16:creationId xmlns:a16="http://schemas.microsoft.com/office/drawing/2014/main" id="{2B237831-F47E-1889-ADB9-0D8EC5201B58}"/>
              </a:ext>
            </a:extLst>
          </p:cNvPr>
          <p:cNvSpPr txBox="1"/>
          <p:nvPr/>
        </p:nvSpPr>
        <p:spPr>
          <a:xfrm>
            <a:off x="5525569" y="1640165"/>
            <a:ext cx="192412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Topological View Consensus</a:t>
            </a:r>
          </a:p>
        </p:txBody>
      </p:sp>
      <p:grpSp>
        <p:nvGrpSpPr>
          <p:cNvPr id="140" name="Group 139">
            <a:extLst>
              <a:ext uri="{FF2B5EF4-FFF2-40B4-BE49-F238E27FC236}">
                <a16:creationId xmlns:a16="http://schemas.microsoft.com/office/drawing/2014/main" id="{000716AA-1C95-8C80-C46A-8DAE986620F8}"/>
              </a:ext>
            </a:extLst>
          </p:cNvPr>
          <p:cNvGrpSpPr/>
          <p:nvPr/>
        </p:nvGrpSpPr>
        <p:grpSpPr>
          <a:xfrm>
            <a:off x="1132157" y="2450018"/>
            <a:ext cx="597291" cy="457200"/>
            <a:chOff x="1170658" y="2421143"/>
            <a:chExt cx="597291" cy="457200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AB68E65F-463F-D299-DFA7-B9FF7205694C}"/>
                </a:ext>
              </a:extLst>
            </p:cNvPr>
            <p:cNvSpPr/>
            <p:nvPr/>
          </p:nvSpPr>
          <p:spPr>
            <a:xfrm>
              <a:off x="1170658" y="2421143"/>
              <a:ext cx="457200" cy="4572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endParaRPr>
            </a:p>
          </p:txBody>
        </p:sp>
        <p:sp>
          <p:nvSpPr>
            <p:cNvPr id="136" name="TextBox 135">
              <a:extLst>
                <a:ext uri="{FF2B5EF4-FFF2-40B4-BE49-F238E27FC236}">
                  <a16:creationId xmlns:a16="http://schemas.microsoft.com/office/drawing/2014/main" id="{E59D7A32-8127-FB80-436A-737CA5D88260}"/>
                </a:ext>
              </a:extLst>
            </p:cNvPr>
            <p:cNvSpPr txBox="1"/>
            <p:nvPr/>
          </p:nvSpPr>
          <p:spPr>
            <a:xfrm>
              <a:off x="1190986" y="2465077"/>
              <a:ext cx="57696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tx1"/>
                  </a:solidFill>
                  <a:latin typeface="Cambria Math" panose="02040503050406030204" pitchFamily="18" charset="0"/>
                  <a:ea typeface="Cambria Math" panose="02040503050406030204" pitchFamily="18" charset="0"/>
                </a:rPr>
                <a:t>N</a:t>
              </a:r>
              <a:r>
                <a:rPr lang="en-US" baseline="-25000" dirty="0">
                  <a:solidFill>
                    <a:schemeClr val="tx1"/>
                  </a:solidFill>
                  <a:latin typeface="Cambria Math" panose="02040503050406030204" pitchFamily="18" charset="0"/>
                  <a:ea typeface="Cambria Math" panose="02040503050406030204" pitchFamily="18" charset="0"/>
                </a:rPr>
                <a:t>1</a:t>
              </a:r>
              <a:endParaRPr lang="en-US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endParaRPr>
            </a:p>
          </p:txBody>
        </p:sp>
      </p:grpSp>
      <p:grpSp>
        <p:nvGrpSpPr>
          <p:cNvPr id="139" name="Group 138">
            <a:extLst>
              <a:ext uri="{FF2B5EF4-FFF2-40B4-BE49-F238E27FC236}">
                <a16:creationId xmlns:a16="http://schemas.microsoft.com/office/drawing/2014/main" id="{1C2BEB16-F8E0-BD9F-9454-1BCD3586347E}"/>
              </a:ext>
            </a:extLst>
          </p:cNvPr>
          <p:cNvGrpSpPr/>
          <p:nvPr/>
        </p:nvGrpSpPr>
        <p:grpSpPr>
          <a:xfrm>
            <a:off x="2069455" y="2451228"/>
            <a:ext cx="489232" cy="457200"/>
            <a:chOff x="2193149" y="1786445"/>
            <a:chExt cx="489232" cy="457200"/>
          </a:xfrm>
        </p:grpSpPr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EB867EBC-4D3A-8D1B-4B26-D225888415C9}"/>
                </a:ext>
              </a:extLst>
            </p:cNvPr>
            <p:cNvSpPr/>
            <p:nvPr/>
          </p:nvSpPr>
          <p:spPr>
            <a:xfrm>
              <a:off x="2193149" y="1786445"/>
              <a:ext cx="457200" cy="4572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endParaRPr>
            </a:p>
          </p:txBody>
        </p:sp>
        <p:sp>
          <p:nvSpPr>
            <p:cNvPr id="137" name="TextBox 136">
              <a:extLst>
                <a:ext uri="{FF2B5EF4-FFF2-40B4-BE49-F238E27FC236}">
                  <a16:creationId xmlns:a16="http://schemas.microsoft.com/office/drawing/2014/main" id="{682C4AE9-607F-3A64-2FD9-7A4C3E5EE1FB}"/>
                </a:ext>
              </a:extLst>
            </p:cNvPr>
            <p:cNvSpPr txBox="1"/>
            <p:nvPr/>
          </p:nvSpPr>
          <p:spPr>
            <a:xfrm>
              <a:off x="2239619" y="1835473"/>
              <a:ext cx="44276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tx1"/>
                  </a:solidFill>
                  <a:latin typeface="Cambria Math" panose="02040503050406030204" pitchFamily="18" charset="0"/>
                  <a:ea typeface="Cambria Math" panose="02040503050406030204" pitchFamily="18" charset="0"/>
                </a:rPr>
                <a:t>N</a:t>
              </a:r>
              <a:r>
                <a:rPr lang="en-US" baseline="-25000" dirty="0">
                  <a:latin typeface="Cambria Math" panose="02040503050406030204" pitchFamily="18" charset="0"/>
                  <a:ea typeface="Cambria Math" panose="02040503050406030204" pitchFamily="18" charset="0"/>
                </a:rPr>
                <a:t>9</a:t>
              </a:r>
              <a:endParaRPr lang="en-US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endParaRPr>
            </a:p>
          </p:txBody>
        </p:sp>
      </p:grpSp>
      <p:grpSp>
        <p:nvGrpSpPr>
          <p:cNvPr id="141" name="Group 140">
            <a:extLst>
              <a:ext uri="{FF2B5EF4-FFF2-40B4-BE49-F238E27FC236}">
                <a16:creationId xmlns:a16="http://schemas.microsoft.com/office/drawing/2014/main" id="{579D05DE-5F72-E25F-327D-EFD24AD2CFDF}"/>
              </a:ext>
            </a:extLst>
          </p:cNvPr>
          <p:cNvGrpSpPr/>
          <p:nvPr/>
        </p:nvGrpSpPr>
        <p:grpSpPr>
          <a:xfrm>
            <a:off x="2977001" y="2462396"/>
            <a:ext cx="525151" cy="457200"/>
            <a:chOff x="3121378" y="2433521"/>
            <a:chExt cx="525151" cy="457200"/>
          </a:xfrm>
        </p:grpSpPr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E79585A4-C98A-E3EA-16E6-9378ABECAE31}"/>
                </a:ext>
              </a:extLst>
            </p:cNvPr>
            <p:cNvSpPr/>
            <p:nvPr/>
          </p:nvSpPr>
          <p:spPr>
            <a:xfrm>
              <a:off x="3121378" y="2433521"/>
              <a:ext cx="457200" cy="4572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endParaRPr>
            </a:p>
          </p:txBody>
        </p:sp>
        <p:sp>
          <p:nvSpPr>
            <p:cNvPr id="138" name="TextBox 137">
              <a:extLst>
                <a:ext uri="{FF2B5EF4-FFF2-40B4-BE49-F238E27FC236}">
                  <a16:creationId xmlns:a16="http://schemas.microsoft.com/office/drawing/2014/main" id="{D6C673F2-A1A4-6280-EF45-D7EC37938410}"/>
                </a:ext>
              </a:extLst>
            </p:cNvPr>
            <p:cNvSpPr txBox="1"/>
            <p:nvPr/>
          </p:nvSpPr>
          <p:spPr>
            <a:xfrm>
              <a:off x="3155641" y="2485251"/>
              <a:ext cx="49088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err="1">
                  <a:solidFill>
                    <a:schemeClr val="tx1"/>
                  </a:solidFill>
                  <a:latin typeface="Cambria Math" panose="02040503050406030204" pitchFamily="18" charset="0"/>
                  <a:ea typeface="Cambria Math" panose="02040503050406030204" pitchFamily="18" charset="0"/>
                </a:rPr>
                <a:t>N</a:t>
              </a:r>
              <a:r>
                <a:rPr lang="en-US" baseline="-25000" dirty="0" err="1">
                  <a:solidFill>
                    <a:schemeClr val="tx1"/>
                  </a:solidFill>
                  <a:latin typeface="Cambria Math" panose="02040503050406030204" pitchFamily="18" charset="0"/>
                  <a:ea typeface="Cambria Math" panose="02040503050406030204" pitchFamily="18" charset="0"/>
                </a:rPr>
                <a:t>n</a:t>
              </a:r>
              <a:endParaRPr lang="en-US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endParaRP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3CC6CCE2-AB61-A590-5B1C-C3C66EE0339E}"/>
              </a:ext>
            </a:extLst>
          </p:cNvPr>
          <p:cNvGrpSpPr/>
          <p:nvPr/>
        </p:nvGrpSpPr>
        <p:grpSpPr>
          <a:xfrm>
            <a:off x="3725732" y="2462396"/>
            <a:ext cx="457200" cy="457200"/>
            <a:chOff x="4115363" y="2468910"/>
            <a:chExt cx="457200" cy="457200"/>
          </a:xfrm>
        </p:grpSpPr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F74A0285-DA82-4F8F-6B94-D5C9C267E211}"/>
                </a:ext>
              </a:extLst>
            </p:cNvPr>
            <p:cNvSpPr/>
            <p:nvPr/>
          </p:nvSpPr>
          <p:spPr>
            <a:xfrm>
              <a:off x="4115363" y="2468910"/>
              <a:ext cx="457200" cy="457200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endParaRPr>
            </a:p>
          </p:txBody>
        </p:sp>
        <p:sp>
          <p:nvSpPr>
            <p:cNvPr id="142" name="TextBox 141">
              <a:extLst>
                <a:ext uri="{FF2B5EF4-FFF2-40B4-BE49-F238E27FC236}">
                  <a16:creationId xmlns:a16="http://schemas.microsoft.com/office/drawing/2014/main" id="{72F35F89-FF6C-0EF5-EAD9-12FDF7187AE6}"/>
                </a:ext>
              </a:extLst>
            </p:cNvPr>
            <p:cNvSpPr txBox="1"/>
            <p:nvPr/>
          </p:nvSpPr>
          <p:spPr>
            <a:xfrm>
              <a:off x="4133215" y="2499386"/>
              <a:ext cx="42351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tx1"/>
                  </a:solidFill>
                  <a:latin typeface="Cambria Math" panose="02040503050406030204" pitchFamily="18" charset="0"/>
                  <a:ea typeface="Cambria Math" panose="02040503050406030204" pitchFamily="18" charset="0"/>
                </a:rPr>
                <a:t>N</a:t>
              </a:r>
              <a:r>
                <a:rPr lang="en-US" baseline="-25000" dirty="0">
                  <a:latin typeface="Cambria Math" panose="02040503050406030204" pitchFamily="18" charset="0"/>
                  <a:ea typeface="Cambria Math" panose="02040503050406030204" pitchFamily="18" charset="0"/>
                </a:rPr>
                <a:t>1</a:t>
              </a:r>
              <a:endParaRPr lang="en-US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endParaRPr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02608B87-0DD6-3947-2011-D6D1A8A40FEF}"/>
              </a:ext>
            </a:extLst>
          </p:cNvPr>
          <p:cNvGrpSpPr/>
          <p:nvPr/>
        </p:nvGrpSpPr>
        <p:grpSpPr>
          <a:xfrm>
            <a:off x="4575331" y="2450018"/>
            <a:ext cx="522129" cy="457200"/>
            <a:chOff x="4901139" y="1874920"/>
            <a:chExt cx="522129" cy="457200"/>
          </a:xfrm>
        </p:grpSpPr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5DB3D143-DF82-3A3F-18FB-8F07AC618E09}"/>
                </a:ext>
              </a:extLst>
            </p:cNvPr>
            <p:cNvSpPr/>
            <p:nvPr/>
          </p:nvSpPr>
          <p:spPr>
            <a:xfrm>
              <a:off x="4901139" y="1874920"/>
              <a:ext cx="457200" cy="457200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endParaRPr>
            </a:p>
          </p:txBody>
        </p:sp>
        <p:sp>
          <p:nvSpPr>
            <p:cNvPr id="143" name="TextBox 142">
              <a:extLst>
                <a:ext uri="{FF2B5EF4-FFF2-40B4-BE49-F238E27FC236}">
                  <a16:creationId xmlns:a16="http://schemas.microsoft.com/office/drawing/2014/main" id="{4BB63FF8-A6DE-23C5-CF15-2A1102A496A3}"/>
                </a:ext>
              </a:extLst>
            </p:cNvPr>
            <p:cNvSpPr txBox="1"/>
            <p:nvPr/>
          </p:nvSpPr>
          <p:spPr>
            <a:xfrm>
              <a:off x="4947782" y="1923537"/>
              <a:ext cx="47548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tx1"/>
                  </a:solidFill>
                  <a:latin typeface="Cambria Math" panose="02040503050406030204" pitchFamily="18" charset="0"/>
                  <a:ea typeface="Cambria Math" panose="02040503050406030204" pitchFamily="18" charset="0"/>
                </a:rPr>
                <a:t>N</a:t>
              </a:r>
              <a:r>
                <a:rPr lang="en-US" baseline="-25000" dirty="0">
                  <a:solidFill>
                    <a:schemeClr val="tx1"/>
                  </a:solidFill>
                  <a:latin typeface="Cambria Math" panose="02040503050406030204" pitchFamily="18" charset="0"/>
                  <a:ea typeface="Cambria Math" panose="02040503050406030204" pitchFamily="18" charset="0"/>
                </a:rPr>
                <a:t>j</a:t>
              </a:r>
              <a:endParaRPr lang="en-US" dirty="0"/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71D46D23-5C14-249E-9BDA-C4F4C517B39A}"/>
              </a:ext>
            </a:extLst>
          </p:cNvPr>
          <p:cNvGrpSpPr/>
          <p:nvPr/>
        </p:nvGrpSpPr>
        <p:grpSpPr>
          <a:xfrm>
            <a:off x="5438583" y="2450179"/>
            <a:ext cx="487821" cy="457200"/>
            <a:chOff x="5673250" y="2312412"/>
            <a:chExt cx="487821" cy="457200"/>
          </a:xfrm>
        </p:grpSpPr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FA11D2CA-259B-3F50-8B53-DAFEBFFB285E}"/>
                </a:ext>
              </a:extLst>
            </p:cNvPr>
            <p:cNvSpPr/>
            <p:nvPr/>
          </p:nvSpPr>
          <p:spPr>
            <a:xfrm>
              <a:off x="5673250" y="2312412"/>
              <a:ext cx="457200" cy="457200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700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endParaRPr>
            </a:p>
          </p:txBody>
        </p:sp>
        <p:sp>
          <p:nvSpPr>
            <p:cNvPr id="146" name="TextBox 145">
              <a:extLst>
                <a:ext uri="{FF2B5EF4-FFF2-40B4-BE49-F238E27FC236}">
                  <a16:creationId xmlns:a16="http://schemas.microsoft.com/office/drawing/2014/main" id="{774285F0-4063-6FDC-67D1-9EDBE41318CF}"/>
                </a:ext>
              </a:extLst>
            </p:cNvPr>
            <p:cNvSpPr txBox="1"/>
            <p:nvPr/>
          </p:nvSpPr>
          <p:spPr>
            <a:xfrm>
              <a:off x="5703871" y="2345799"/>
              <a:ext cx="4572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err="1">
                  <a:latin typeface="Cambria Math" panose="02040503050406030204" pitchFamily="18" charset="0"/>
                  <a:ea typeface="Cambria Math" panose="02040503050406030204" pitchFamily="18" charset="0"/>
                </a:rPr>
                <a:t>N</a:t>
              </a:r>
              <a:r>
                <a:rPr lang="en-US" baseline="-25000" dirty="0" err="1">
                  <a:latin typeface="Cambria Math" panose="02040503050406030204" pitchFamily="18" charset="0"/>
                  <a:ea typeface="Cambria Math" panose="02040503050406030204" pitchFamily="18" charset="0"/>
                </a:rPr>
                <a:t>k</a:t>
              </a:r>
              <a:endParaRPr lang="en-US" dirty="0"/>
            </a:p>
          </p:txBody>
        </p:sp>
      </p:grpSp>
      <p:cxnSp>
        <p:nvCxnSpPr>
          <p:cNvPr id="207" name="Straight Connector 206">
            <a:extLst>
              <a:ext uri="{FF2B5EF4-FFF2-40B4-BE49-F238E27FC236}">
                <a16:creationId xmlns:a16="http://schemas.microsoft.com/office/drawing/2014/main" id="{96D6E483-9103-DD41-1723-B7CE66FEC099}"/>
              </a:ext>
            </a:extLst>
          </p:cNvPr>
          <p:cNvCxnSpPr>
            <a:cxnSpLocks/>
          </p:cNvCxnSpPr>
          <p:nvPr/>
        </p:nvCxnSpPr>
        <p:spPr>
          <a:xfrm>
            <a:off x="3666744" y="1495514"/>
            <a:ext cx="0" cy="2830726"/>
          </a:xfrm>
          <a:prstGeom prst="line">
            <a:avLst/>
          </a:prstGeom>
          <a:ln w="44450" cmpd="dbl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0" name="Rectangle 209">
            <a:extLst>
              <a:ext uri="{FF2B5EF4-FFF2-40B4-BE49-F238E27FC236}">
                <a16:creationId xmlns:a16="http://schemas.microsoft.com/office/drawing/2014/main" id="{677A54AE-A397-96F1-8842-E0763EAEEFB0}"/>
              </a:ext>
            </a:extLst>
          </p:cNvPr>
          <p:cNvSpPr/>
          <p:nvPr/>
        </p:nvSpPr>
        <p:spPr>
          <a:xfrm>
            <a:off x="3396998" y="2095365"/>
            <a:ext cx="539491" cy="17373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9" name="Straight Arrow Connector 208">
            <a:extLst>
              <a:ext uri="{FF2B5EF4-FFF2-40B4-BE49-F238E27FC236}">
                <a16:creationId xmlns:a16="http://schemas.microsoft.com/office/drawing/2014/main" id="{B4C083A0-BD14-2324-BD49-78D1763CB400}"/>
              </a:ext>
            </a:extLst>
          </p:cNvPr>
          <p:cNvCxnSpPr/>
          <p:nvPr/>
        </p:nvCxnSpPr>
        <p:spPr>
          <a:xfrm>
            <a:off x="3434201" y="2182233"/>
            <a:ext cx="446282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C543A8AE-7680-2B51-3ED3-E8AD426DBB0B}"/>
              </a:ext>
            </a:extLst>
          </p:cNvPr>
          <p:cNvSpPr txBox="1"/>
          <p:nvPr/>
        </p:nvSpPr>
        <p:spPr>
          <a:xfrm>
            <a:off x="7597053" y="2531025"/>
            <a:ext cx="3850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12F0FCD1-D28C-86F4-E19C-43419308C093}"/>
              </a:ext>
            </a:extLst>
          </p:cNvPr>
          <p:cNvSpPr txBox="1"/>
          <p:nvPr/>
        </p:nvSpPr>
        <p:spPr>
          <a:xfrm>
            <a:off x="6726496" y="2536540"/>
            <a:ext cx="31429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</a:p>
        </p:txBody>
      </p: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58323B87-8FB5-AA42-59E5-19C8F8B120B5}"/>
              </a:ext>
            </a:extLst>
          </p:cNvPr>
          <p:cNvCxnSpPr>
            <a:cxnSpLocks/>
            <a:stCxn id="50" idx="4"/>
            <a:endCxn id="60" idx="0"/>
          </p:cNvCxnSpPr>
          <p:nvPr/>
        </p:nvCxnSpPr>
        <p:spPr>
          <a:xfrm>
            <a:off x="6516265" y="2922599"/>
            <a:ext cx="326378" cy="519484"/>
          </a:xfrm>
          <a:prstGeom prst="straightConnector1">
            <a:avLst/>
          </a:prstGeom>
          <a:ln w="22225">
            <a:solidFill>
              <a:schemeClr val="accent3"/>
            </a:solidFill>
            <a:prstDash val="dash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B6CBA83D-4F66-A471-37D4-81F5D7A9D8FA}"/>
              </a:ext>
            </a:extLst>
          </p:cNvPr>
          <p:cNvCxnSpPr>
            <a:cxnSpLocks/>
            <a:stCxn id="52" idx="3"/>
            <a:endCxn id="60" idx="0"/>
          </p:cNvCxnSpPr>
          <p:nvPr/>
        </p:nvCxnSpPr>
        <p:spPr>
          <a:xfrm flipH="1">
            <a:off x="6842643" y="2856993"/>
            <a:ext cx="322045" cy="585090"/>
          </a:xfrm>
          <a:prstGeom prst="straightConnector1">
            <a:avLst/>
          </a:prstGeom>
          <a:ln w="22225">
            <a:solidFill>
              <a:schemeClr val="accent3"/>
            </a:solidFill>
            <a:prstDash val="dash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4DA08EF6-AD7D-61DC-2172-AF163347FFCD}"/>
              </a:ext>
            </a:extLst>
          </p:cNvPr>
          <p:cNvCxnSpPr>
            <a:cxnSpLocks/>
            <a:stCxn id="51" idx="3"/>
            <a:endCxn id="60" idx="0"/>
          </p:cNvCxnSpPr>
          <p:nvPr/>
        </p:nvCxnSpPr>
        <p:spPr>
          <a:xfrm flipH="1">
            <a:off x="6842643" y="2848371"/>
            <a:ext cx="1214103" cy="593712"/>
          </a:xfrm>
          <a:prstGeom prst="straightConnector1">
            <a:avLst/>
          </a:prstGeom>
          <a:ln w="22225">
            <a:solidFill>
              <a:schemeClr val="accent3"/>
            </a:solidFill>
            <a:prstDash val="dash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9" name="TextBox 88">
            <a:extLst>
              <a:ext uri="{FF2B5EF4-FFF2-40B4-BE49-F238E27FC236}">
                <a16:creationId xmlns:a16="http://schemas.microsoft.com/office/drawing/2014/main" id="{F763CA1E-8CA2-259E-292F-34DE989A209E}"/>
              </a:ext>
            </a:extLst>
          </p:cNvPr>
          <p:cNvSpPr txBox="1"/>
          <p:nvPr/>
        </p:nvSpPr>
        <p:spPr>
          <a:xfrm>
            <a:off x="7803998" y="3452981"/>
            <a:ext cx="4833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201032E1-37FC-CA1F-D95A-FC430FFC7FB3}"/>
              </a:ext>
            </a:extLst>
          </p:cNvPr>
          <p:cNvSpPr/>
          <p:nvPr/>
        </p:nvSpPr>
        <p:spPr>
          <a:xfrm>
            <a:off x="8367612" y="3437121"/>
            <a:ext cx="640080" cy="639325"/>
          </a:xfrm>
          <a:prstGeom prst="rect">
            <a:avLst/>
          </a:prstGeom>
          <a:solidFill>
            <a:schemeClr val="bg1">
              <a:lumMod val="95000"/>
              <a:alpha val="73845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b="1" i="1" dirty="0"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O</a:t>
            </a:r>
            <a:r>
              <a:rPr lang="en-US" b="1" i="1" baseline="-25000" dirty="0"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m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93" name="Group 192">
            <a:extLst>
              <a:ext uri="{FF2B5EF4-FFF2-40B4-BE49-F238E27FC236}">
                <a16:creationId xmlns:a16="http://schemas.microsoft.com/office/drawing/2014/main" id="{292495C6-11EA-3FB9-D555-824B39A1D50B}"/>
              </a:ext>
            </a:extLst>
          </p:cNvPr>
          <p:cNvGrpSpPr/>
          <p:nvPr/>
        </p:nvGrpSpPr>
        <p:grpSpPr>
          <a:xfrm>
            <a:off x="6287665" y="2465399"/>
            <a:ext cx="478157" cy="457200"/>
            <a:chOff x="6934441" y="2492365"/>
            <a:chExt cx="478157" cy="457200"/>
          </a:xfrm>
        </p:grpSpPr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C10E0613-D41B-61AE-2D8F-806526A5B26C}"/>
                </a:ext>
              </a:extLst>
            </p:cNvPr>
            <p:cNvSpPr/>
            <p:nvPr/>
          </p:nvSpPr>
          <p:spPr>
            <a:xfrm>
              <a:off x="6934441" y="2492365"/>
              <a:ext cx="457200" cy="457200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endParaRPr>
            </a:p>
          </p:txBody>
        </p:sp>
        <p:sp>
          <p:nvSpPr>
            <p:cNvPr id="147" name="TextBox 146">
              <a:extLst>
                <a:ext uri="{FF2B5EF4-FFF2-40B4-BE49-F238E27FC236}">
                  <a16:creationId xmlns:a16="http://schemas.microsoft.com/office/drawing/2014/main" id="{780A5857-5A9E-CD32-2CE3-786007A5189C}"/>
                </a:ext>
              </a:extLst>
            </p:cNvPr>
            <p:cNvSpPr txBox="1"/>
            <p:nvPr/>
          </p:nvSpPr>
          <p:spPr>
            <a:xfrm>
              <a:off x="6972326" y="2539420"/>
              <a:ext cx="44027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err="1">
                  <a:solidFill>
                    <a:schemeClr val="tx1"/>
                  </a:solidFill>
                  <a:latin typeface="Cambria Math" panose="02040503050406030204" pitchFamily="18" charset="0"/>
                  <a:ea typeface="Cambria Math" panose="02040503050406030204" pitchFamily="18" charset="0"/>
                </a:rPr>
                <a:t>N</a:t>
              </a:r>
              <a:r>
                <a:rPr lang="en-US" baseline="-25000" dirty="0" err="1">
                  <a:solidFill>
                    <a:schemeClr val="tx1"/>
                  </a:solidFill>
                  <a:latin typeface="Cambria Math" panose="02040503050406030204" pitchFamily="18" charset="0"/>
                  <a:ea typeface="Cambria Math" panose="02040503050406030204" pitchFamily="18" charset="0"/>
                </a:rPr>
                <a:t>x</a:t>
              </a:r>
              <a:endParaRPr lang="en-US" dirty="0"/>
            </a:p>
          </p:txBody>
        </p:sp>
      </p:grpSp>
      <p:grpSp>
        <p:nvGrpSpPr>
          <p:cNvPr id="192" name="Group 191">
            <a:extLst>
              <a:ext uri="{FF2B5EF4-FFF2-40B4-BE49-F238E27FC236}">
                <a16:creationId xmlns:a16="http://schemas.microsoft.com/office/drawing/2014/main" id="{B6B67FBC-FB2E-E2FE-DF29-38510C77D02B}"/>
              </a:ext>
            </a:extLst>
          </p:cNvPr>
          <p:cNvGrpSpPr/>
          <p:nvPr/>
        </p:nvGrpSpPr>
        <p:grpSpPr>
          <a:xfrm>
            <a:off x="7097733" y="2466748"/>
            <a:ext cx="499320" cy="457200"/>
            <a:chOff x="7803998" y="1903194"/>
            <a:chExt cx="499320" cy="457200"/>
          </a:xfrm>
        </p:grpSpPr>
        <p:sp>
          <p:nvSpPr>
            <p:cNvPr id="52" name="Oval 51">
              <a:extLst>
                <a:ext uri="{FF2B5EF4-FFF2-40B4-BE49-F238E27FC236}">
                  <a16:creationId xmlns:a16="http://schemas.microsoft.com/office/drawing/2014/main" id="{583A965B-F478-B0FE-1E6E-A0DFC417D016}"/>
                </a:ext>
              </a:extLst>
            </p:cNvPr>
            <p:cNvSpPr/>
            <p:nvPr/>
          </p:nvSpPr>
          <p:spPr>
            <a:xfrm>
              <a:off x="7803998" y="1903194"/>
              <a:ext cx="457200" cy="457200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endParaRPr>
            </a:p>
          </p:txBody>
        </p:sp>
        <p:sp>
          <p:nvSpPr>
            <p:cNvPr id="150" name="TextBox 149">
              <a:extLst>
                <a:ext uri="{FF2B5EF4-FFF2-40B4-BE49-F238E27FC236}">
                  <a16:creationId xmlns:a16="http://schemas.microsoft.com/office/drawing/2014/main" id="{256B111A-23A4-0A84-FFA8-9A7728387C4A}"/>
                </a:ext>
              </a:extLst>
            </p:cNvPr>
            <p:cNvSpPr txBox="1"/>
            <p:nvPr/>
          </p:nvSpPr>
          <p:spPr>
            <a:xfrm>
              <a:off x="7830569" y="1944036"/>
              <a:ext cx="47274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tx1"/>
                  </a:solidFill>
                  <a:latin typeface="Cambria Math" panose="02040503050406030204" pitchFamily="18" charset="0"/>
                  <a:ea typeface="Cambria Math" panose="02040503050406030204" pitchFamily="18" charset="0"/>
                </a:rPr>
                <a:t>N</a:t>
              </a:r>
              <a:r>
                <a:rPr lang="en-US" baseline="-25000" dirty="0">
                  <a:latin typeface="Cambria Math" panose="02040503050406030204" pitchFamily="18" charset="0"/>
                  <a:ea typeface="Cambria Math" panose="02040503050406030204" pitchFamily="18" charset="0"/>
                </a:rPr>
                <a:t>j’</a:t>
              </a:r>
              <a:endParaRPr lang="en-US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endParaRP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C9037C07-6A64-3058-5282-8A1FA37443AC}"/>
              </a:ext>
            </a:extLst>
          </p:cNvPr>
          <p:cNvGrpSpPr/>
          <p:nvPr/>
        </p:nvGrpSpPr>
        <p:grpSpPr>
          <a:xfrm>
            <a:off x="7989791" y="2458126"/>
            <a:ext cx="506885" cy="457200"/>
            <a:chOff x="8303318" y="2587995"/>
            <a:chExt cx="506885" cy="457200"/>
          </a:xfrm>
        </p:grpSpPr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FC04AC78-30E5-618D-02F5-B9889C259462}"/>
                </a:ext>
              </a:extLst>
            </p:cNvPr>
            <p:cNvSpPr/>
            <p:nvPr/>
          </p:nvSpPr>
          <p:spPr>
            <a:xfrm>
              <a:off x="8303318" y="2587995"/>
              <a:ext cx="457200" cy="457200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endParaRPr>
            </a:p>
          </p:txBody>
        </p:sp>
        <p:sp>
          <p:nvSpPr>
            <p:cNvPr id="152" name="TextBox 151">
              <a:extLst>
                <a:ext uri="{FF2B5EF4-FFF2-40B4-BE49-F238E27FC236}">
                  <a16:creationId xmlns:a16="http://schemas.microsoft.com/office/drawing/2014/main" id="{34E56A31-FF38-D10A-2D3F-CFE43F112FD6}"/>
                </a:ext>
              </a:extLst>
            </p:cNvPr>
            <p:cNvSpPr txBox="1"/>
            <p:nvPr/>
          </p:nvSpPr>
          <p:spPr>
            <a:xfrm>
              <a:off x="8353862" y="2628565"/>
              <a:ext cx="45634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err="1">
                  <a:solidFill>
                    <a:schemeClr val="tx1"/>
                  </a:solidFill>
                  <a:latin typeface="Cambria Math" panose="02040503050406030204" pitchFamily="18" charset="0"/>
                  <a:ea typeface="Cambria Math" panose="02040503050406030204" pitchFamily="18" charset="0"/>
                </a:rPr>
                <a:t>N</a:t>
              </a:r>
              <a:r>
                <a:rPr lang="en-US" baseline="-25000" dirty="0" err="1">
                  <a:latin typeface="Cambria Math" panose="02040503050406030204" pitchFamily="18" charset="0"/>
                  <a:ea typeface="Cambria Math" panose="02040503050406030204" pitchFamily="18" charset="0"/>
                </a:rPr>
                <a:t>n</a:t>
              </a:r>
              <a:endParaRPr lang="en-US" dirty="0"/>
            </a:p>
          </p:txBody>
        </p:sp>
      </p:grpSp>
      <p:cxnSp>
        <p:nvCxnSpPr>
          <p:cNvPr id="185" name="Straight Arrow Connector 184">
            <a:extLst>
              <a:ext uri="{FF2B5EF4-FFF2-40B4-BE49-F238E27FC236}">
                <a16:creationId xmlns:a16="http://schemas.microsoft.com/office/drawing/2014/main" id="{046A6F2F-76A4-17D8-AC97-C3628ED111A3}"/>
              </a:ext>
            </a:extLst>
          </p:cNvPr>
          <p:cNvCxnSpPr>
            <a:cxnSpLocks/>
            <a:stCxn id="51" idx="5"/>
            <a:endCxn id="90" idx="0"/>
          </p:cNvCxnSpPr>
          <p:nvPr/>
        </p:nvCxnSpPr>
        <p:spPr>
          <a:xfrm>
            <a:off x="8380036" y="2848371"/>
            <a:ext cx="307616" cy="588750"/>
          </a:xfrm>
          <a:prstGeom prst="straightConnector1">
            <a:avLst/>
          </a:prstGeom>
          <a:ln w="22225">
            <a:solidFill>
              <a:schemeClr val="tx1">
                <a:lumMod val="50000"/>
                <a:lumOff val="50000"/>
              </a:schemeClr>
            </a:solidFill>
            <a:prstDash val="sysDash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DFD68328-CF08-B205-F2CC-52E07EAB7707}"/>
              </a:ext>
            </a:extLst>
          </p:cNvPr>
          <p:cNvCxnSpPr>
            <a:cxnSpLocks/>
            <a:stCxn id="52" idx="5"/>
            <a:endCxn id="90" idx="0"/>
          </p:cNvCxnSpPr>
          <p:nvPr/>
        </p:nvCxnSpPr>
        <p:spPr>
          <a:xfrm>
            <a:off x="7487978" y="2856993"/>
            <a:ext cx="1199674" cy="580128"/>
          </a:xfrm>
          <a:prstGeom prst="straightConnector1">
            <a:avLst/>
          </a:prstGeom>
          <a:ln w="22225">
            <a:solidFill>
              <a:schemeClr val="tx1">
                <a:lumMod val="50000"/>
                <a:lumOff val="50000"/>
              </a:schemeClr>
            </a:solidFill>
            <a:prstDash val="sysDash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560790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0" name="Straight Connector 169">
            <a:extLst>
              <a:ext uri="{FF2B5EF4-FFF2-40B4-BE49-F238E27FC236}">
                <a16:creationId xmlns:a16="http://schemas.microsoft.com/office/drawing/2014/main" id="{975430AC-63A4-3E84-379E-D046F220BB76}"/>
              </a:ext>
            </a:extLst>
          </p:cNvPr>
          <p:cNvCxnSpPr>
            <a:cxnSpLocks/>
          </p:cNvCxnSpPr>
          <p:nvPr/>
        </p:nvCxnSpPr>
        <p:spPr>
          <a:xfrm flipH="1" flipV="1">
            <a:off x="9004341" y="3360290"/>
            <a:ext cx="732780" cy="752147"/>
          </a:xfrm>
          <a:prstGeom prst="line">
            <a:avLst/>
          </a:prstGeom>
          <a:noFill/>
          <a:ln w="28575" cap="flat" cmpd="sng" algn="ctr">
            <a:solidFill>
              <a:schemeClr val="tx1"/>
            </a:solidFill>
            <a:prstDash val="solid"/>
            <a:headEnd type="none" w="med" len="med"/>
            <a:tailEnd type="none" w="med" len="med"/>
          </a:ln>
          <a:effectLst/>
        </p:spPr>
      </p:cxnSp>
      <p:cxnSp>
        <p:nvCxnSpPr>
          <p:cNvPr id="167" name="Straight Connector 166">
            <a:extLst>
              <a:ext uri="{FF2B5EF4-FFF2-40B4-BE49-F238E27FC236}">
                <a16:creationId xmlns:a16="http://schemas.microsoft.com/office/drawing/2014/main" id="{90E2CCDB-7F59-059B-BE7E-69B6C46CD944}"/>
              </a:ext>
            </a:extLst>
          </p:cNvPr>
          <p:cNvCxnSpPr>
            <a:cxnSpLocks/>
          </p:cNvCxnSpPr>
          <p:nvPr/>
        </p:nvCxnSpPr>
        <p:spPr>
          <a:xfrm flipH="1" flipV="1">
            <a:off x="2324696" y="3318109"/>
            <a:ext cx="732780" cy="752147"/>
          </a:xfrm>
          <a:prstGeom prst="line">
            <a:avLst/>
          </a:prstGeom>
          <a:noFill/>
          <a:ln w="28575" cap="flat" cmpd="sng" algn="ctr">
            <a:solidFill>
              <a:schemeClr val="tx1"/>
            </a:solidFill>
            <a:prstDash val="solid"/>
            <a:headEnd type="none" w="med" len="med"/>
            <a:tailEnd type="none" w="med" len="med"/>
          </a:ln>
          <a:effectLst/>
        </p:spPr>
      </p:cxn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070772F0-DCB2-AAA7-89E0-CF1A53C43E29}"/>
              </a:ext>
            </a:extLst>
          </p:cNvPr>
          <p:cNvCxnSpPr>
            <a:cxnSpLocks/>
          </p:cNvCxnSpPr>
          <p:nvPr/>
        </p:nvCxnSpPr>
        <p:spPr>
          <a:xfrm flipH="1">
            <a:off x="2877146" y="3106724"/>
            <a:ext cx="1612313" cy="954224"/>
          </a:xfrm>
          <a:prstGeom prst="line">
            <a:avLst/>
          </a:prstGeom>
          <a:noFill/>
          <a:ln w="28575" cap="flat" cmpd="sng" algn="ctr">
            <a:solidFill>
              <a:schemeClr val="tx1"/>
            </a:solidFill>
            <a:prstDash val="solid"/>
            <a:headEnd type="none" w="med" len="med"/>
            <a:tailEnd type="none" w="med" len="med"/>
          </a:ln>
          <a:effectLst/>
        </p:spPr>
      </p:cxn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9A632D6E-9EC4-149E-E7C1-1736A315A2DD}"/>
              </a:ext>
            </a:extLst>
          </p:cNvPr>
          <p:cNvCxnSpPr>
            <a:cxnSpLocks/>
          </p:cNvCxnSpPr>
          <p:nvPr/>
        </p:nvCxnSpPr>
        <p:spPr>
          <a:xfrm>
            <a:off x="785051" y="4027627"/>
            <a:ext cx="2273220" cy="10660"/>
          </a:xfrm>
          <a:prstGeom prst="line">
            <a:avLst/>
          </a:prstGeom>
          <a:noFill/>
          <a:ln w="28575" cap="flat" cmpd="sng" algn="ctr">
            <a:solidFill>
              <a:schemeClr val="tx1"/>
            </a:solidFill>
            <a:prstDash val="solid"/>
            <a:headEnd type="none" w="med" len="med"/>
            <a:tailEnd type="none" w="med" len="med"/>
          </a:ln>
          <a:effectLst/>
        </p:spPr>
      </p:cxnSp>
      <p:sp>
        <p:nvSpPr>
          <p:cNvPr id="5" name="Freeform 2">
            <a:extLst>
              <a:ext uri="{FF2B5EF4-FFF2-40B4-BE49-F238E27FC236}">
                <a16:creationId xmlns:a16="http://schemas.microsoft.com/office/drawing/2014/main" id="{E3452AA8-F9F5-A650-93A0-CFABCFACD6F9}"/>
              </a:ext>
            </a:extLst>
          </p:cNvPr>
          <p:cNvSpPr>
            <a:spLocks/>
          </p:cNvSpPr>
          <p:nvPr/>
        </p:nvSpPr>
        <p:spPr bwMode="auto">
          <a:xfrm>
            <a:off x="7652187" y="321354"/>
            <a:ext cx="4539813" cy="920424"/>
          </a:xfrm>
          <a:custGeom>
            <a:avLst/>
            <a:gdLst>
              <a:gd name="T0" fmla="*/ 2147483647 w 10001"/>
              <a:gd name="T1" fmla="*/ 2147483647 h 10125"/>
              <a:gd name="T2" fmla="*/ 2147483647 w 10001"/>
              <a:gd name="T3" fmla="*/ 2147483647 h 10125"/>
              <a:gd name="T4" fmla="*/ 2147483647 w 10001"/>
              <a:gd name="T5" fmla="*/ 2147483647 h 10125"/>
              <a:gd name="T6" fmla="*/ 2147483647 w 10001"/>
              <a:gd name="T7" fmla="*/ 0 h 10125"/>
              <a:gd name="T8" fmla="*/ 2147483647 w 10001"/>
              <a:gd name="T9" fmla="*/ 2147483647 h 10125"/>
              <a:gd name="T10" fmla="*/ 2147483647 w 10001"/>
              <a:gd name="T11" fmla="*/ 2147483647 h 10125"/>
              <a:gd name="T12" fmla="*/ 2147483647 w 10001"/>
              <a:gd name="T13" fmla="*/ 2147483647 h 10125"/>
              <a:gd name="T14" fmla="*/ 2147483647 w 10001"/>
              <a:gd name="T15" fmla="*/ 2147483647 h 10125"/>
              <a:gd name="T16" fmla="*/ 2147483647 w 10001"/>
              <a:gd name="T17" fmla="*/ 2147483647 h 10125"/>
              <a:gd name="T18" fmla="*/ 2147483647 w 10001"/>
              <a:gd name="T19" fmla="*/ 2147483647 h 10125"/>
              <a:gd name="T20" fmla="*/ 2147483647 w 10001"/>
              <a:gd name="T21" fmla="*/ 2147483647 h 10125"/>
              <a:gd name="T22" fmla="*/ 2147483647 w 10001"/>
              <a:gd name="T23" fmla="*/ 2147483647 h 10125"/>
              <a:gd name="T24" fmla="*/ 2147483647 w 10001"/>
              <a:gd name="T25" fmla="*/ 2147483647 h 10125"/>
              <a:gd name="T26" fmla="*/ 2147483647 w 10001"/>
              <a:gd name="T27" fmla="*/ 2147483647 h 10125"/>
              <a:gd name="T28" fmla="*/ 2147483647 w 10001"/>
              <a:gd name="T29" fmla="*/ 2147483647 h 10125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</a:gdLst>
            <a:ahLst/>
            <a:cxnLst>
              <a:cxn ang="T30">
                <a:pos x="T0" y="T1"/>
              </a:cxn>
              <a:cxn ang="T31">
                <a:pos x="T2" y="T3"/>
              </a:cxn>
              <a:cxn ang="T32">
                <a:pos x="T4" y="T5"/>
              </a:cxn>
              <a:cxn ang="T33">
                <a:pos x="T6" y="T7"/>
              </a:cxn>
              <a:cxn ang="T34">
                <a:pos x="T8" y="T9"/>
              </a:cxn>
              <a:cxn ang="T35">
                <a:pos x="T10" y="T11"/>
              </a:cxn>
              <a:cxn ang="T36">
                <a:pos x="T12" y="T13"/>
              </a:cxn>
              <a:cxn ang="T37">
                <a:pos x="T14" y="T15"/>
              </a:cxn>
              <a:cxn ang="T38">
                <a:pos x="T16" y="T17"/>
              </a:cxn>
              <a:cxn ang="T39">
                <a:pos x="T18" y="T19"/>
              </a:cxn>
              <a:cxn ang="T40">
                <a:pos x="T20" y="T21"/>
              </a:cxn>
              <a:cxn ang="T41">
                <a:pos x="T22" y="T23"/>
              </a:cxn>
              <a:cxn ang="T42">
                <a:pos x="T24" y="T25"/>
              </a:cxn>
              <a:cxn ang="T43">
                <a:pos x="T26" y="T27"/>
              </a:cxn>
              <a:cxn ang="T44">
                <a:pos x="T28" y="T29"/>
              </a:cxn>
            </a:cxnLst>
            <a:rect l="0" t="0" r="r" b="b"/>
            <a:pathLst>
              <a:path w="10001" h="10125">
                <a:moveTo>
                  <a:pt x="4" y="4039"/>
                </a:moveTo>
                <a:cubicBezTo>
                  <a:pt x="-29" y="2271"/>
                  <a:pt x="194" y="2100"/>
                  <a:pt x="715" y="1595"/>
                </a:cubicBezTo>
                <a:cubicBezTo>
                  <a:pt x="1236" y="1089"/>
                  <a:pt x="2417" y="1272"/>
                  <a:pt x="3130" y="1006"/>
                </a:cubicBezTo>
                <a:cubicBezTo>
                  <a:pt x="3843" y="740"/>
                  <a:pt x="4397" y="0"/>
                  <a:pt x="4995" y="0"/>
                </a:cubicBezTo>
                <a:cubicBezTo>
                  <a:pt x="5593" y="1"/>
                  <a:pt x="6206" y="926"/>
                  <a:pt x="6720" y="1009"/>
                </a:cubicBezTo>
                <a:cubicBezTo>
                  <a:pt x="7234" y="1092"/>
                  <a:pt x="7536" y="241"/>
                  <a:pt x="8082" y="497"/>
                </a:cubicBezTo>
                <a:cubicBezTo>
                  <a:pt x="8628" y="756"/>
                  <a:pt x="9854" y="442"/>
                  <a:pt x="9989" y="2989"/>
                </a:cubicBezTo>
                <a:cubicBezTo>
                  <a:pt x="10124" y="5536"/>
                  <a:pt x="9098" y="5742"/>
                  <a:pt x="8599" y="6797"/>
                </a:cubicBezTo>
                <a:cubicBezTo>
                  <a:pt x="8100" y="7852"/>
                  <a:pt x="7544" y="8981"/>
                  <a:pt x="6995" y="9322"/>
                </a:cubicBezTo>
                <a:cubicBezTo>
                  <a:pt x="6446" y="9663"/>
                  <a:pt x="5793" y="8957"/>
                  <a:pt x="5307" y="8843"/>
                </a:cubicBezTo>
                <a:cubicBezTo>
                  <a:pt x="4819" y="8726"/>
                  <a:pt x="4628" y="10048"/>
                  <a:pt x="4371" y="9912"/>
                </a:cubicBezTo>
                <a:cubicBezTo>
                  <a:pt x="4114" y="9775"/>
                  <a:pt x="3505" y="10355"/>
                  <a:pt x="3140" y="10019"/>
                </a:cubicBezTo>
                <a:cubicBezTo>
                  <a:pt x="2774" y="9683"/>
                  <a:pt x="2820" y="8138"/>
                  <a:pt x="2179" y="7895"/>
                </a:cubicBezTo>
                <a:cubicBezTo>
                  <a:pt x="1586" y="6800"/>
                  <a:pt x="1549" y="8137"/>
                  <a:pt x="1187" y="7495"/>
                </a:cubicBezTo>
                <a:cubicBezTo>
                  <a:pt x="825" y="6852"/>
                  <a:pt x="-7" y="6157"/>
                  <a:pt x="4" y="4039"/>
                </a:cubicBez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defRPr/>
            </a:pPr>
            <a:endParaRPr lang="en-US" sz="1800" kern="1200">
              <a:latin typeface="Helvetica" pitchFamily="2" charset="0"/>
              <a:ea typeface="ＭＳ Ｐゴシック" panose="020B0600070205080204" pitchFamily="34" charset="-128"/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5B0CCA83-BDB6-05E3-FE09-760F74DAD5FF}"/>
              </a:ext>
            </a:extLst>
          </p:cNvPr>
          <p:cNvCxnSpPr>
            <a:cxnSpLocks/>
          </p:cNvCxnSpPr>
          <p:nvPr/>
        </p:nvCxnSpPr>
        <p:spPr>
          <a:xfrm>
            <a:off x="690787" y="2750275"/>
            <a:ext cx="1674265" cy="555573"/>
          </a:xfrm>
          <a:prstGeom prst="line">
            <a:avLst/>
          </a:prstGeom>
          <a:noFill/>
          <a:ln w="28575" cap="flat" cmpd="sng" algn="ctr">
            <a:solidFill>
              <a:schemeClr val="tx1"/>
            </a:solidFill>
            <a:prstDash val="solid"/>
            <a:headEnd type="none" w="med" len="med"/>
            <a:tailEnd type="none" w="med" len="med"/>
          </a:ln>
          <a:effectLst/>
        </p:spPr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D27BD649-1B5E-26A1-8AEF-438D3B6F9D89}"/>
              </a:ext>
            </a:extLst>
          </p:cNvPr>
          <p:cNvCxnSpPr>
            <a:cxnSpLocks/>
          </p:cNvCxnSpPr>
          <p:nvPr/>
        </p:nvCxnSpPr>
        <p:spPr>
          <a:xfrm flipV="1">
            <a:off x="690786" y="3294069"/>
            <a:ext cx="1765080" cy="776187"/>
          </a:xfrm>
          <a:prstGeom prst="line">
            <a:avLst/>
          </a:prstGeom>
          <a:noFill/>
          <a:ln w="28575" cap="flat" cmpd="sng" algn="ctr">
            <a:solidFill>
              <a:schemeClr val="tx1"/>
            </a:solidFill>
            <a:prstDash val="solid"/>
            <a:headEnd type="none" w="med" len="med"/>
            <a:tailEnd type="none" w="med" len="med"/>
          </a:ln>
          <a:effectLst/>
        </p:spPr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4D0498C-4946-EE1E-BDDA-E6F8B79CD64F}"/>
              </a:ext>
            </a:extLst>
          </p:cNvPr>
          <p:cNvCxnSpPr>
            <a:cxnSpLocks/>
          </p:cNvCxnSpPr>
          <p:nvPr/>
        </p:nvCxnSpPr>
        <p:spPr>
          <a:xfrm flipH="1">
            <a:off x="690786" y="2750275"/>
            <a:ext cx="1" cy="1319981"/>
          </a:xfrm>
          <a:prstGeom prst="line">
            <a:avLst/>
          </a:prstGeom>
          <a:noFill/>
          <a:ln w="28575" cap="flat" cmpd="sng" algn="ctr">
            <a:solidFill>
              <a:schemeClr val="tx1"/>
            </a:solidFill>
            <a:prstDash val="solid"/>
            <a:headEnd type="none" w="med" len="med"/>
            <a:tailEnd type="none" w="med" len="med"/>
          </a:ln>
          <a:effectLst/>
        </p:spPr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15F3512-A1A4-56CD-7E3A-359926A7D358}"/>
              </a:ext>
            </a:extLst>
          </p:cNvPr>
          <p:cNvCxnSpPr>
            <a:cxnSpLocks/>
          </p:cNvCxnSpPr>
          <p:nvPr/>
        </p:nvCxnSpPr>
        <p:spPr>
          <a:xfrm flipV="1">
            <a:off x="2455866" y="3106724"/>
            <a:ext cx="2033593" cy="187345"/>
          </a:xfrm>
          <a:prstGeom prst="line">
            <a:avLst/>
          </a:prstGeom>
          <a:noFill/>
          <a:ln w="28575" cap="flat" cmpd="sng" algn="ctr">
            <a:solidFill>
              <a:schemeClr val="tx1"/>
            </a:solidFill>
            <a:prstDash val="solid"/>
            <a:headEnd type="none" w="med" len="med"/>
            <a:tailEnd type="none" w="med" len="med"/>
          </a:ln>
          <a:effectLst/>
        </p:spPr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5BFE8A2D-68DE-6EA8-C6FD-3BAA18A98FBB}"/>
              </a:ext>
            </a:extLst>
          </p:cNvPr>
          <p:cNvCxnSpPr>
            <a:cxnSpLocks/>
          </p:cNvCxnSpPr>
          <p:nvPr/>
        </p:nvCxnSpPr>
        <p:spPr>
          <a:xfrm flipV="1">
            <a:off x="821430" y="2407166"/>
            <a:ext cx="2236841" cy="311821"/>
          </a:xfrm>
          <a:prstGeom prst="line">
            <a:avLst/>
          </a:prstGeom>
          <a:noFill/>
          <a:ln w="28575" cap="flat" cmpd="sng" algn="ctr">
            <a:solidFill>
              <a:schemeClr val="tx1"/>
            </a:solidFill>
            <a:prstDash val="solid"/>
            <a:headEnd type="none" w="med" len="med"/>
            <a:tailEnd type="none" w="med" len="med"/>
          </a:ln>
          <a:effectLst/>
        </p:spPr>
      </p:cxn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119EDDC0-79FE-1917-DCA4-CD06604F952D}"/>
              </a:ext>
            </a:extLst>
          </p:cNvPr>
          <p:cNvCxnSpPr>
            <a:cxnSpLocks/>
          </p:cNvCxnSpPr>
          <p:nvPr/>
        </p:nvCxnSpPr>
        <p:spPr>
          <a:xfrm>
            <a:off x="2736377" y="2497362"/>
            <a:ext cx="1313066" cy="609111"/>
          </a:xfrm>
          <a:prstGeom prst="line">
            <a:avLst/>
          </a:prstGeom>
          <a:noFill/>
          <a:ln w="28575" cap="flat" cmpd="sng" algn="ctr">
            <a:solidFill>
              <a:schemeClr val="tx1"/>
            </a:solidFill>
            <a:prstDash val="solid"/>
            <a:headEnd type="none" w="med" len="med"/>
            <a:tailEnd type="none" w="med" len="med"/>
          </a:ln>
          <a:effectLst/>
        </p:spPr>
      </p:cxnSp>
      <p:pic>
        <p:nvPicPr>
          <p:cNvPr id="119" name="Picture 118">
            <a:extLst>
              <a:ext uri="{FF2B5EF4-FFF2-40B4-BE49-F238E27FC236}">
                <a16:creationId xmlns:a16="http://schemas.microsoft.com/office/drawing/2014/main" id="{C309E1CB-5000-9660-174E-ED994646A328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rgbClr val="D9C3A5">
                <a:tint val="50000"/>
                <a:satMod val="180000"/>
              </a:srgbClr>
            </a:duotone>
          </a:blip>
          <a:stretch>
            <a:fillRect/>
          </a:stretch>
        </p:blipFill>
        <p:spPr>
          <a:xfrm>
            <a:off x="3662760" y="2869252"/>
            <a:ext cx="1104900" cy="571500"/>
          </a:xfrm>
          <a:prstGeom prst="rect">
            <a:avLst/>
          </a:prstGeom>
        </p:spPr>
      </p:pic>
      <p:pic>
        <p:nvPicPr>
          <p:cNvPr id="120" name="Picture 119">
            <a:extLst>
              <a:ext uri="{FF2B5EF4-FFF2-40B4-BE49-F238E27FC236}">
                <a16:creationId xmlns:a16="http://schemas.microsoft.com/office/drawing/2014/main" id="{8EB967D1-A476-C973-6919-E208122D0E40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rgbClr val="D9C3A5">
                <a:tint val="50000"/>
                <a:satMod val="180000"/>
              </a:srgbClr>
            </a:duotone>
          </a:blip>
          <a:stretch>
            <a:fillRect/>
          </a:stretch>
        </p:blipFill>
        <p:spPr>
          <a:xfrm>
            <a:off x="2505821" y="3840633"/>
            <a:ext cx="1104900" cy="571500"/>
          </a:xfrm>
          <a:prstGeom prst="rect">
            <a:avLst/>
          </a:prstGeom>
        </p:spPr>
      </p:pic>
      <p:pic>
        <p:nvPicPr>
          <p:cNvPr id="121" name="Picture 120">
            <a:extLst>
              <a:ext uri="{FF2B5EF4-FFF2-40B4-BE49-F238E27FC236}">
                <a16:creationId xmlns:a16="http://schemas.microsoft.com/office/drawing/2014/main" id="{F7DEF593-65EA-2B5D-7BBE-A7F5CE561BD5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rgbClr val="D9C3A5">
                <a:tint val="50000"/>
                <a:satMod val="180000"/>
              </a:srgbClr>
            </a:duotone>
          </a:blip>
          <a:stretch>
            <a:fillRect/>
          </a:stretch>
        </p:blipFill>
        <p:spPr>
          <a:xfrm>
            <a:off x="65352" y="2397940"/>
            <a:ext cx="1104900" cy="571500"/>
          </a:xfrm>
          <a:prstGeom prst="rect">
            <a:avLst/>
          </a:prstGeom>
        </p:spPr>
      </p:pic>
      <p:pic>
        <p:nvPicPr>
          <p:cNvPr id="122" name="Picture 121">
            <a:extLst>
              <a:ext uri="{FF2B5EF4-FFF2-40B4-BE49-F238E27FC236}">
                <a16:creationId xmlns:a16="http://schemas.microsoft.com/office/drawing/2014/main" id="{A363CD00-E219-671E-D564-9F6FD664C42C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6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119711" y="3872220"/>
            <a:ext cx="1104900" cy="571500"/>
          </a:xfrm>
          <a:prstGeom prst="rect">
            <a:avLst/>
          </a:prstGeom>
        </p:spPr>
      </p:pic>
      <p:pic>
        <p:nvPicPr>
          <p:cNvPr id="123" name="Picture 122">
            <a:extLst>
              <a:ext uri="{FF2B5EF4-FFF2-40B4-BE49-F238E27FC236}">
                <a16:creationId xmlns:a16="http://schemas.microsoft.com/office/drawing/2014/main" id="{8E0014DE-5D90-D2CE-E649-CB2F92B0B1AD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6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1761488" y="3028061"/>
            <a:ext cx="1104900" cy="571500"/>
          </a:xfrm>
          <a:prstGeom prst="rect">
            <a:avLst/>
          </a:prstGeom>
        </p:spPr>
      </p:pic>
      <p:pic>
        <p:nvPicPr>
          <p:cNvPr id="124" name="Picture 123">
            <a:extLst>
              <a:ext uri="{FF2B5EF4-FFF2-40B4-BE49-F238E27FC236}">
                <a16:creationId xmlns:a16="http://schemas.microsoft.com/office/drawing/2014/main" id="{4CBBB88A-55A6-ED03-9E91-D64BC37CA2A4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6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2062326" y="2166514"/>
            <a:ext cx="1104900" cy="571500"/>
          </a:xfrm>
          <a:prstGeom prst="rect">
            <a:avLst/>
          </a:prstGeom>
        </p:spPr>
      </p:pic>
      <p:cxnSp>
        <p:nvCxnSpPr>
          <p:cNvPr id="136" name="Straight Connector 135">
            <a:extLst>
              <a:ext uri="{FF2B5EF4-FFF2-40B4-BE49-F238E27FC236}">
                <a16:creationId xmlns:a16="http://schemas.microsoft.com/office/drawing/2014/main" id="{D42462A2-E936-191D-FE29-C785DA9268CD}"/>
              </a:ext>
            </a:extLst>
          </p:cNvPr>
          <p:cNvCxnSpPr>
            <a:cxnSpLocks/>
          </p:cNvCxnSpPr>
          <p:nvPr/>
        </p:nvCxnSpPr>
        <p:spPr>
          <a:xfrm flipH="1">
            <a:off x="9516435" y="3106724"/>
            <a:ext cx="1612313" cy="954224"/>
          </a:xfrm>
          <a:prstGeom prst="line">
            <a:avLst/>
          </a:prstGeom>
          <a:noFill/>
          <a:ln w="28575" cap="flat" cmpd="sng" algn="ctr">
            <a:solidFill>
              <a:schemeClr val="tx1"/>
            </a:solidFill>
            <a:prstDash val="solid"/>
            <a:headEnd type="none" w="med" len="med"/>
            <a:tailEnd type="none" w="med" len="med"/>
          </a:ln>
          <a:effectLst/>
        </p:spPr>
      </p:cxnSp>
      <p:cxnSp>
        <p:nvCxnSpPr>
          <p:cNvPr id="137" name="Straight Connector 136">
            <a:extLst>
              <a:ext uri="{FF2B5EF4-FFF2-40B4-BE49-F238E27FC236}">
                <a16:creationId xmlns:a16="http://schemas.microsoft.com/office/drawing/2014/main" id="{6E01789B-63A7-DE0B-15D4-84E6A51E1F77}"/>
              </a:ext>
            </a:extLst>
          </p:cNvPr>
          <p:cNvCxnSpPr>
            <a:cxnSpLocks/>
          </p:cNvCxnSpPr>
          <p:nvPr/>
        </p:nvCxnSpPr>
        <p:spPr>
          <a:xfrm>
            <a:off x="7424340" y="4027627"/>
            <a:ext cx="2273220" cy="10660"/>
          </a:xfrm>
          <a:prstGeom prst="line">
            <a:avLst/>
          </a:prstGeom>
          <a:noFill/>
          <a:ln w="28575" cap="flat" cmpd="sng" algn="ctr">
            <a:solidFill>
              <a:schemeClr val="tx1"/>
            </a:solidFill>
            <a:prstDash val="solid"/>
            <a:headEnd type="none" w="med" len="med"/>
            <a:tailEnd type="none" w="med" len="med"/>
          </a:ln>
          <a:effectLst/>
        </p:spPr>
      </p:cxnSp>
      <p:cxnSp>
        <p:nvCxnSpPr>
          <p:cNvPr id="138" name="Straight Connector 137">
            <a:extLst>
              <a:ext uri="{FF2B5EF4-FFF2-40B4-BE49-F238E27FC236}">
                <a16:creationId xmlns:a16="http://schemas.microsoft.com/office/drawing/2014/main" id="{7E726D1A-09E3-358A-250A-4AB403CC4A9B}"/>
              </a:ext>
            </a:extLst>
          </p:cNvPr>
          <p:cNvCxnSpPr>
            <a:cxnSpLocks/>
          </p:cNvCxnSpPr>
          <p:nvPr/>
        </p:nvCxnSpPr>
        <p:spPr>
          <a:xfrm>
            <a:off x="7330076" y="2750275"/>
            <a:ext cx="1674265" cy="555573"/>
          </a:xfrm>
          <a:prstGeom prst="line">
            <a:avLst/>
          </a:prstGeom>
          <a:noFill/>
          <a:ln w="28575" cap="flat" cmpd="sng" algn="ctr">
            <a:solidFill>
              <a:schemeClr val="tx1"/>
            </a:solidFill>
            <a:prstDash val="solid"/>
            <a:headEnd type="none" w="med" len="med"/>
            <a:tailEnd type="none" w="med" len="med"/>
          </a:ln>
          <a:effectLst/>
        </p:spPr>
      </p:cxnSp>
      <p:cxnSp>
        <p:nvCxnSpPr>
          <p:cNvPr id="139" name="Straight Connector 138">
            <a:extLst>
              <a:ext uri="{FF2B5EF4-FFF2-40B4-BE49-F238E27FC236}">
                <a16:creationId xmlns:a16="http://schemas.microsoft.com/office/drawing/2014/main" id="{260AD3A0-1269-B5AC-4E56-BB4DBAE3A68A}"/>
              </a:ext>
            </a:extLst>
          </p:cNvPr>
          <p:cNvCxnSpPr>
            <a:cxnSpLocks/>
          </p:cNvCxnSpPr>
          <p:nvPr/>
        </p:nvCxnSpPr>
        <p:spPr>
          <a:xfrm flipV="1">
            <a:off x="7330075" y="3294069"/>
            <a:ext cx="1765080" cy="776187"/>
          </a:xfrm>
          <a:prstGeom prst="line">
            <a:avLst/>
          </a:prstGeom>
          <a:noFill/>
          <a:ln w="28575" cap="flat" cmpd="sng" algn="ctr">
            <a:solidFill>
              <a:schemeClr val="tx1"/>
            </a:solidFill>
            <a:prstDash val="solid"/>
            <a:headEnd type="none" w="med" len="med"/>
            <a:tailEnd type="none" w="med" len="med"/>
          </a:ln>
          <a:effectLst/>
        </p:spPr>
      </p:cxnSp>
      <p:cxnSp>
        <p:nvCxnSpPr>
          <p:cNvPr id="140" name="Straight Connector 139">
            <a:extLst>
              <a:ext uri="{FF2B5EF4-FFF2-40B4-BE49-F238E27FC236}">
                <a16:creationId xmlns:a16="http://schemas.microsoft.com/office/drawing/2014/main" id="{E6186FEE-D145-85C3-2FD8-18564D01C176}"/>
              </a:ext>
            </a:extLst>
          </p:cNvPr>
          <p:cNvCxnSpPr>
            <a:cxnSpLocks/>
          </p:cNvCxnSpPr>
          <p:nvPr/>
        </p:nvCxnSpPr>
        <p:spPr>
          <a:xfrm flipH="1">
            <a:off x="7330075" y="2750275"/>
            <a:ext cx="1" cy="1319981"/>
          </a:xfrm>
          <a:prstGeom prst="line">
            <a:avLst/>
          </a:prstGeom>
          <a:noFill/>
          <a:ln w="28575" cap="flat" cmpd="sng" algn="ctr">
            <a:solidFill>
              <a:schemeClr val="tx1"/>
            </a:solidFill>
            <a:prstDash val="solid"/>
            <a:headEnd type="none" w="med" len="med"/>
            <a:tailEnd type="none" w="med" len="med"/>
          </a:ln>
          <a:effectLst/>
        </p:spPr>
      </p:cxnSp>
      <p:cxnSp>
        <p:nvCxnSpPr>
          <p:cNvPr id="141" name="Straight Connector 140">
            <a:extLst>
              <a:ext uri="{FF2B5EF4-FFF2-40B4-BE49-F238E27FC236}">
                <a16:creationId xmlns:a16="http://schemas.microsoft.com/office/drawing/2014/main" id="{92DE2751-28F0-1B95-BE43-E195F3383A74}"/>
              </a:ext>
            </a:extLst>
          </p:cNvPr>
          <p:cNvCxnSpPr>
            <a:cxnSpLocks/>
          </p:cNvCxnSpPr>
          <p:nvPr/>
        </p:nvCxnSpPr>
        <p:spPr>
          <a:xfrm flipV="1">
            <a:off x="9095155" y="3106724"/>
            <a:ext cx="2033593" cy="187345"/>
          </a:xfrm>
          <a:prstGeom prst="line">
            <a:avLst/>
          </a:prstGeom>
          <a:noFill/>
          <a:ln w="28575" cap="flat" cmpd="sng" algn="ctr">
            <a:solidFill>
              <a:schemeClr val="tx1"/>
            </a:solidFill>
            <a:prstDash val="solid"/>
            <a:headEnd type="none" w="med" len="med"/>
            <a:tailEnd type="none" w="med" len="med"/>
          </a:ln>
          <a:effectLst/>
        </p:spPr>
      </p:cxnSp>
      <p:cxnSp>
        <p:nvCxnSpPr>
          <p:cNvPr id="142" name="Straight Connector 141">
            <a:extLst>
              <a:ext uri="{FF2B5EF4-FFF2-40B4-BE49-F238E27FC236}">
                <a16:creationId xmlns:a16="http://schemas.microsoft.com/office/drawing/2014/main" id="{0979CAD5-942D-2EE5-1999-C33BB72B0267}"/>
              </a:ext>
            </a:extLst>
          </p:cNvPr>
          <p:cNvCxnSpPr>
            <a:cxnSpLocks/>
          </p:cNvCxnSpPr>
          <p:nvPr/>
        </p:nvCxnSpPr>
        <p:spPr>
          <a:xfrm flipV="1">
            <a:off x="7460719" y="2407166"/>
            <a:ext cx="2236841" cy="311821"/>
          </a:xfrm>
          <a:prstGeom prst="line">
            <a:avLst/>
          </a:prstGeom>
          <a:noFill/>
          <a:ln w="28575" cap="flat" cmpd="sng" algn="ctr">
            <a:solidFill>
              <a:schemeClr val="tx1"/>
            </a:solidFill>
            <a:prstDash val="solid"/>
            <a:headEnd type="none" w="med" len="med"/>
            <a:tailEnd type="none" w="med" len="med"/>
          </a:ln>
          <a:effectLst/>
        </p:spPr>
      </p:cxnSp>
      <p:cxnSp>
        <p:nvCxnSpPr>
          <p:cNvPr id="143" name="Straight Connector 142">
            <a:extLst>
              <a:ext uri="{FF2B5EF4-FFF2-40B4-BE49-F238E27FC236}">
                <a16:creationId xmlns:a16="http://schemas.microsoft.com/office/drawing/2014/main" id="{FF4725DD-0DDB-D698-18B3-B7FA5950E0F9}"/>
              </a:ext>
            </a:extLst>
          </p:cNvPr>
          <p:cNvCxnSpPr>
            <a:cxnSpLocks/>
          </p:cNvCxnSpPr>
          <p:nvPr/>
        </p:nvCxnSpPr>
        <p:spPr>
          <a:xfrm>
            <a:off x="9375666" y="2497362"/>
            <a:ext cx="1313066" cy="609111"/>
          </a:xfrm>
          <a:prstGeom prst="line">
            <a:avLst/>
          </a:prstGeom>
          <a:noFill/>
          <a:ln w="28575" cap="flat" cmpd="sng" algn="ctr">
            <a:solidFill>
              <a:schemeClr val="tx1"/>
            </a:solidFill>
            <a:prstDash val="solid"/>
            <a:headEnd type="none" w="med" len="med"/>
            <a:tailEnd type="none" w="med" len="med"/>
          </a:ln>
          <a:effectLst/>
        </p:spPr>
      </p:cxnSp>
      <p:pic>
        <p:nvPicPr>
          <p:cNvPr id="144" name="Picture 143">
            <a:extLst>
              <a:ext uri="{FF2B5EF4-FFF2-40B4-BE49-F238E27FC236}">
                <a16:creationId xmlns:a16="http://schemas.microsoft.com/office/drawing/2014/main" id="{6D95C999-6611-1C27-3219-130C3CEFDB05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rgbClr val="D9C3A5">
                <a:tint val="50000"/>
                <a:satMod val="180000"/>
              </a:srgbClr>
            </a:duotone>
          </a:blip>
          <a:stretch>
            <a:fillRect/>
          </a:stretch>
        </p:blipFill>
        <p:spPr>
          <a:xfrm>
            <a:off x="10302049" y="2869252"/>
            <a:ext cx="1104900" cy="571500"/>
          </a:xfrm>
          <a:prstGeom prst="rect">
            <a:avLst/>
          </a:prstGeom>
        </p:spPr>
      </p:pic>
      <p:pic>
        <p:nvPicPr>
          <p:cNvPr id="145" name="Picture 144">
            <a:extLst>
              <a:ext uri="{FF2B5EF4-FFF2-40B4-BE49-F238E27FC236}">
                <a16:creationId xmlns:a16="http://schemas.microsoft.com/office/drawing/2014/main" id="{5696AA02-9F62-D47B-CCE3-FC7F0AD888CF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rgbClr val="D9C3A5">
                <a:tint val="50000"/>
                <a:satMod val="180000"/>
              </a:srgbClr>
            </a:duotone>
          </a:blip>
          <a:stretch>
            <a:fillRect/>
          </a:stretch>
        </p:blipFill>
        <p:spPr>
          <a:xfrm>
            <a:off x="9145110" y="3840633"/>
            <a:ext cx="1104900" cy="571500"/>
          </a:xfrm>
          <a:prstGeom prst="rect">
            <a:avLst/>
          </a:prstGeom>
        </p:spPr>
      </p:pic>
      <p:pic>
        <p:nvPicPr>
          <p:cNvPr id="146" name="Picture 145">
            <a:extLst>
              <a:ext uri="{FF2B5EF4-FFF2-40B4-BE49-F238E27FC236}">
                <a16:creationId xmlns:a16="http://schemas.microsoft.com/office/drawing/2014/main" id="{50B079E4-1F8F-638B-524F-0139C87FE13E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rgbClr val="D9C3A5">
                <a:tint val="50000"/>
                <a:satMod val="180000"/>
              </a:srgbClr>
            </a:duotone>
          </a:blip>
          <a:stretch>
            <a:fillRect/>
          </a:stretch>
        </p:blipFill>
        <p:spPr>
          <a:xfrm>
            <a:off x="6704641" y="2397940"/>
            <a:ext cx="1104900" cy="571500"/>
          </a:xfrm>
          <a:prstGeom prst="rect">
            <a:avLst/>
          </a:prstGeom>
        </p:spPr>
      </p:pic>
      <p:pic>
        <p:nvPicPr>
          <p:cNvPr id="147" name="Picture 146">
            <a:extLst>
              <a:ext uri="{FF2B5EF4-FFF2-40B4-BE49-F238E27FC236}">
                <a16:creationId xmlns:a16="http://schemas.microsoft.com/office/drawing/2014/main" id="{9D626D38-7CF2-82C7-522E-7DB74AA15D0A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6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6759000" y="3872220"/>
            <a:ext cx="1104900" cy="571500"/>
          </a:xfrm>
          <a:prstGeom prst="rect">
            <a:avLst/>
          </a:prstGeom>
        </p:spPr>
      </p:pic>
      <p:pic>
        <p:nvPicPr>
          <p:cNvPr id="148" name="Picture 147">
            <a:extLst>
              <a:ext uri="{FF2B5EF4-FFF2-40B4-BE49-F238E27FC236}">
                <a16:creationId xmlns:a16="http://schemas.microsoft.com/office/drawing/2014/main" id="{FA123C61-07A2-5561-7828-BA264A335B57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6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8400777" y="3028061"/>
            <a:ext cx="1104900" cy="571500"/>
          </a:xfrm>
          <a:prstGeom prst="rect">
            <a:avLst/>
          </a:prstGeom>
        </p:spPr>
      </p:pic>
      <p:pic>
        <p:nvPicPr>
          <p:cNvPr id="149" name="Picture 148">
            <a:extLst>
              <a:ext uri="{FF2B5EF4-FFF2-40B4-BE49-F238E27FC236}">
                <a16:creationId xmlns:a16="http://schemas.microsoft.com/office/drawing/2014/main" id="{65A7EF83-B9FD-E990-E617-79DA306E4917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6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8701615" y="2166514"/>
            <a:ext cx="1104900" cy="571500"/>
          </a:xfrm>
          <a:prstGeom prst="rect">
            <a:avLst/>
          </a:prstGeom>
        </p:spPr>
      </p:pic>
      <p:sp>
        <p:nvSpPr>
          <p:cNvPr id="150" name="TextBox 149">
            <a:extLst>
              <a:ext uri="{FF2B5EF4-FFF2-40B4-BE49-F238E27FC236}">
                <a16:creationId xmlns:a16="http://schemas.microsoft.com/office/drawing/2014/main" id="{5BF6B449-2E4B-4113-E484-DD0B8154C702}"/>
              </a:ext>
            </a:extLst>
          </p:cNvPr>
          <p:cNvSpPr txBox="1"/>
          <p:nvPr/>
        </p:nvSpPr>
        <p:spPr>
          <a:xfrm>
            <a:off x="2334201" y="1836825"/>
            <a:ext cx="7232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RPKI</a:t>
            </a:r>
          </a:p>
        </p:txBody>
      </p:sp>
      <p:sp>
        <p:nvSpPr>
          <p:cNvPr id="165" name="TextBox 164">
            <a:extLst>
              <a:ext uri="{FF2B5EF4-FFF2-40B4-BE49-F238E27FC236}">
                <a16:creationId xmlns:a16="http://schemas.microsoft.com/office/drawing/2014/main" id="{01F95E19-CC5A-538E-63D4-37105F4077A1}"/>
              </a:ext>
            </a:extLst>
          </p:cNvPr>
          <p:cNvSpPr txBox="1"/>
          <p:nvPr/>
        </p:nvSpPr>
        <p:spPr>
          <a:xfrm>
            <a:off x="1463920" y="2755596"/>
            <a:ext cx="7232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RPKI</a:t>
            </a:r>
          </a:p>
        </p:txBody>
      </p:sp>
      <p:sp>
        <p:nvSpPr>
          <p:cNvPr id="166" name="TextBox 165">
            <a:extLst>
              <a:ext uri="{FF2B5EF4-FFF2-40B4-BE49-F238E27FC236}">
                <a16:creationId xmlns:a16="http://schemas.microsoft.com/office/drawing/2014/main" id="{58427A6F-6843-06AD-AE95-C3EE538A2413}"/>
              </a:ext>
            </a:extLst>
          </p:cNvPr>
          <p:cNvSpPr txBox="1"/>
          <p:nvPr/>
        </p:nvSpPr>
        <p:spPr>
          <a:xfrm>
            <a:off x="4168526" y="4060948"/>
            <a:ext cx="7232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RPKI</a:t>
            </a:r>
          </a:p>
        </p:txBody>
      </p:sp>
    </p:spTree>
    <p:extLst>
      <p:ext uri="{BB962C8B-B14F-4D97-AF65-F5344CB8AC3E}">
        <p14:creationId xmlns:p14="http://schemas.microsoft.com/office/powerpoint/2010/main" val="19300604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6003EE-FF3D-7E77-ADFB-944D0E4BC3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Rectangle 114">
            <a:extLst>
              <a:ext uri="{FF2B5EF4-FFF2-40B4-BE49-F238E27FC236}">
                <a16:creationId xmlns:a16="http://schemas.microsoft.com/office/drawing/2014/main" id="{2569A19B-E501-DEF0-4B40-47BA291CC01A}"/>
              </a:ext>
            </a:extLst>
          </p:cNvPr>
          <p:cNvSpPr/>
          <p:nvPr/>
        </p:nvSpPr>
        <p:spPr>
          <a:xfrm>
            <a:off x="6308603" y="865731"/>
            <a:ext cx="4859399" cy="1488715"/>
          </a:xfrm>
          <a:prstGeom prst="rect">
            <a:avLst/>
          </a:prstGeom>
          <a:solidFill>
            <a:schemeClr val="accent6">
              <a:lumMod val="20000"/>
              <a:lumOff val="80000"/>
              <a:alpha val="23074"/>
            </a:schemeClr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0" name="Rectangle 189">
            <a:extLst>
              <a:ext uri="{FF2B5EF4-FFF2-40B4-BE49-F238E27FC236}">
                <a16:creationId xmlns:a16="http://schemas.microsoft.com/office/drawing/2014/main" id="{450436B8-B1DC-5C15-228E-0A14C1081766}"/>
              </a:ext>
            </a:extLst>
          </p:cNvPr>
          <p:cNvSpPr/>
          <p:nvPr/>
        </p:nvSpPr>
        <p:spPr>
          <a:xfrm>
            <a:off x="6289470" y="2527144"/>
            <a:ext cx="5097508" cy="666422"/>
          </a:xfrm>
          <a:prstGeom prst="rect">
            <a:avLst/>
          </a:prstGeom>
          <a:solidFill>
            <a:schemeClr val="bg2">
              <a:alpha val="72000"/>
            </a:schemeClr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A4EF30A1-DE66-3426-D500-94544AC91FC9}"/>
              </a:ext>
            </a:extLst>
          </p:cNvPr>
          <p:cNvSpPr/>
          <p:nvPr/>
        </p:nvSpPr>
        <p:spPr>
          <a:xfrm>
            <a:off x="257080" y="3981241"/>
            <a:ext cx="5046284" cy="967949"/>
          </a:xfrm>
          <a:prstGeom prst="rect">
            <a:avLst/>
          </a:prstGeom>
          <a:solidFill>
            <a:schemeClr val="bg2">
              <a:alpha val="72000"/>
            </a:schemeClr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0" name="Straight Connector 169">
            <a:extLst>
              <a:ext uri="{FF2B5EF4-FFF2-40B4-BE49-F238E27FC236}">
                <a16:creationId xmlns:a16="http://schemas.microsoft.com/office/drawing/2014/main" id="{C82C5479-9059-AB5E-1A21-EDAFD87C4115}"/>
              </a:ext>
            </a:extLst>
          </p:cNvPr>
          <p:cNvCxnSpPr>
            <a:cxnSpLocks/>
          </p:cNvCxnSpPr>
          <p:nvPr/>
        </p:nvCxnSpPr>
        <p:spPr>
          <a:xfrm flipV="1">
            <a:off x="2754049" y="2877853"/>
            <a:ext cx="0" cy="1405542"/>
          </a:xfrm>
          <a:prstGeom prst="line">
            <a:avLst/>
          </a:prstGeom>
          <a:noFill/>
          <a:ln w="19050" cap="flat" cmpd="sng" algn="ctr">
            <a:solidFill>
              <a:schemeClr val="tx1">
                <a:lumMod val="95000"/>
                <a:lumOff val="5000"/>
              </a:schemeClr>
            </a:solidFill>
            <a:prstDash val="solid"/>
            <a:headEnd type="none" w="med" len="med"/>
            <a:tailEnd type="none" w="med" len="med"/>
          </a:ln>
          <a:effectLst/>
        </p:spPr>
      </p:cxnSp>
      <p:cxnSp>
        <p:nvCxnSpPr>
          <p:cNvPr id="136" name="Straight Connector 135">
            <a:extLst>
              <a:ext uri="{FF2B5EF4-FFF2-40B4-BE49-F238E27FC236}">
                <a16:creationId xmlns:a16="http://schemas.microsoft.com/office/drawing/2014/main" id="{BB2C577A-D224-1505-7D3A-9A335E8DB6A2}"/>
              </a:ext>
            </a:extLst>
          </p:cNvPr>
          <p:cNvCxnSpPr>
            <a:cxnSpLocks/>
          </p:cNvCxnSpPr>
          <p:nvPr/>
        </p:nvCxnSpPr>
        <p:spPr>
          <a:xfrm flipH="1">
            <a:off x="4659806" y="2828764"/>
            <a:ext cx="5948" cy="1361171"/>
          </a:xfrm>
          <a:prstGeom prst="line">
            <a:avLst/>
          </a:prstGeom>
          <a:noFill/>
          <a:ln w="19050" cap="flat" cmpd="sng" algn="ctr">
            <a:solidFill>
              <a:schemeClr val="tx1">
                <a:lumMod val="95000"/>
                <a:lumOff val="5000"/>
              </a:schemeClr>
            </a:solidFill>
            <a:prstDash val="solid"/>
            <a:headEnd type="none" w="med" len="med"/>
            <a:tailEnd type="none" w="med" len="med"/>
          </a:ln>
          <a:effectLst/>
        </p:spPr>
      </p:cxnSp>
      <p:cxnSp>
        <p:nvCxnSpPr>
          <p:cNvPr id="137" name="Straight Connector 136">
            <a:extLst>
              <a:ext uri="{FF2B5EF4-FFF2-40B4-BE49-F238E27FC236}">
                <a16:creationId xmlns:a16="http://schemas.microsoft.com/office/drawing/2014/main" id="{3B978272-D55A-A6D9-335B-5467FCA3F1DE}"/>
              </a:ext>
            </a:extLst>
          </p:cNvPr>
          <p:cNvCxnSpPr>
            <a:cxnSpLocks/>
          </p:cNvCxnSpPr>
          <p:nvPr/>
        </p:nvCxnSpPr>
        <p:spPr>
          <a:xfrm flipH="1">
            <a:off x="2754049" y="2877853"/>
            <a:ext cx="1905757" cy="1405542"/>
          </a:xfrm>
          <a:prstGeom prst="line">
            <a:avLst/>
          </a:prstGeom>
          <a:noFill/>
          <a:ln w="19050" cap="flat" cmpd="sng" algn="ctr">
            <a:solidFill>
              <a:schemeClr val="tx1">
                <a:lumMod val="95000"/>
                <a:lumOff val="5000"/>
              </a:schemeClr>
            </a:solidFill>
            <a:prstDash val="solid"/>
            <a:headEnd type="none" w="med" len="med"/>
            <a:tailEnd type="none" w="med" len="med"/>
          </a:ln>
          <a:effectLst/>
        </p:spPr>
      </p:cxnSp>
      <p:cxnSp>
        <p:nvCxnSpPr>
          <p:cNvPr id="138" name="Straight Connector 137">
            <a:extLst>
              <a:ext uri="{FF2B5EF4-FFF2-40B4-BE49-F238E27FC236}">
                <a16:creationId xmlns:a16="http://schemas.microsoft.com/office/drawing/2014/main" id="{A54D97B0-B12C-1456-9BAA-47438EA8785C}"/>
              </a:ext>
            </a:extLst>
          </p:cNvPr>
          <p:cNvCxnSpPr>
            <a:cxnSpLocks/>
          </p:cNvCxnSpPr>
          <p:nvPr/>
        </p:nvCxnSpPr>
        <p:spPr>
          <a:xfrm>
            <a:off x="845845" y="2908488"/>
            <a:ext cx="1908204" cy="1374907"/>
          </a:xfrm>
          <a:prstGeom prst="line">
            <a:avLst/>
          </a:prstGeom>
          <a:noFill/>
          <a:ln w="19050" cap="flat" cmpd="sng" algn="ctr">
            <a:solidFill>
              <a:schemeClr val="tx1">
                <a:lumMod val="95000"/>
                <a:lumOff val="5000"/>
              </a:schemeClr>
            </a:solidFill>
            <a:prstDash val="solid"/>
            <a:headEnd type="none" w="med" len="med"/>
            <a:tailEnd type="none" w="med" len="med"/>
          </a:ln>
          <a:effectLst/>
        </p:spPr>
      </p:cxnSp>
      <p:cxnSp>
        <p:nvCxnSpPr>
          <p:cNvPr id="139" name="Straight Connector 138">
            <a:extLst>
              <a:ext uri="{FF2B5EF4-FFF2-40B4-BE49-F238E27FC236}">
                <a16:creationId xmlns:a16="http://schemas.microsoft.com/office/drawing/2014/main" id="{4C6DE1CA-13F9-7DCC-33B7-6662402259DA}"/>
              </a:ext>
            </a:extLst>
          </p:cNvPr>
          <p:cNvCxnSpPr>
            <a:cxnSpLocks/>
          </p:cNvCxnSpPr>
          <p:nvPr/>
        </p:nvCxnSpPr>
        <p:spPr>
          <a:xfrm>
            <a:off x="892237" y="2856593"/>
            <a:ext cx="1902638" cy="0"/>
          </a:xfrm>
          <a:prstGeom prst="line">
            <a:avLst/>
          </a:prstGeom>
          <a:noFill/>
          <a:ln w="19050" cap="flat" cmpd="sng" algn="ctr">
            <a:solidFill>
              <a:schemeClr val="tx1">
                <a:lumMod val="95000"/>
                <a:lumOff val="5000"/>
              </a:schemeClr>
            </a:solidFill>
            <a:prstDash val="solid"/>
            <a:headEnd type="none" w="med" len="med"/>
            <a:tailEnd type="none" w="med" len="med"/>
          </a:ln>
          <a:effectLst/>
        </p:spPr>
      </p:cxnSp>
      <p:cxnSp>
        <p:nvCxnSpPr>
          <p:cNvPr id="140" name="Straight Connector 139">
            <a:extLst>
              <a:ext uri="{FF2B5EF4-FFF2-40B4-BE49-F238E27FC236}">
                <a16:creationId xmlns:a16="http://schemas.microsoft.com/office/drawing/2014/main" id="{5FF6845D-A889-2B7D-ED97-97D3F2D77035}"/>
              </a:ext>
            </a:extLst>
          </p:cNvPr>
          <p:cNvCxnSpPr>
            <a:cxnSpLocks/>
          </p:cNvCxnSpPr>
          <p:nvPr/>
        </p:nvCxnSpPr>
        <p:spPr>
          <a:xfrm flipH="1">
            <a:off x="805019" y="2908488"/>
            <a:ext cx="1911705" cy="1374907"/>
          </a:xfrm>
          <a:prstGeom prst="line">
            <a:avLst/>
          </a:prstGeom>
          <a:noFill/>
          <a:ln w="19050" cap="flat" cmpd="sng" algn="ctr">
            <a:solidFill>
              <a:schemeClr val="tx1">
                <a:lumMod val="95000"/>
                <a:lumOff val="5000"/>
              </a:schemeClr>
            </a:solidFill>
            <a:prstDash val="solid"/>
            <a:headEnd type="none" w="med" len="med"/>
            <a:tailEnd type="none" w="med" len="med"/>
          </a:ln>
          <a:effectLst/>
        </p:spPr>
      </p:cxnSp>
      <p:cxnSp>
        <p:nvCxnSpPr>
          <p:cNvPr id="141" name="Straight Connector 140">
            <a:extLst>
              <a:ext uri="{FF2B5EF4-FFF2-40B4-BE49-F238E27FC236}">
                <a16:creationId xmlns:a16="http://schemas.microsoft.com/office/drawing/2014/main" id="{EEDE4AA7-7B1D-8590-C715-ABE5BDE38A25}"/>
              </a:ext>
            </a:extLst>
          </p:cNvPr>
          <p:cNvCxnSpPr>
            <a:cxnSpLocks/>
          </p:cNvCxnSpPr>
          <p:nvPr/>
        </p:nvCxnSpPr>
        <p:spPr>
          <a:xfrm>
            <a:off x="3065158" y="4189935"/>
            <a:ext cx="1361690" cy="0"/>
          </a:xfrm>
          <a:prstGeom prst="line">
            <a:avLst/>
          </a:prstGeom>
          <a:noFill/>
          <a:ln w="19050" cap="flat" cmpd="sng" algn="ctr">
            <a:solidFill>
              <a:schemeClr val="tx1">
                <a:lumMod val="95000"/>
                <a:lumOff val="5000"/>
              </a:schemeClr>
            </a:solidFill>
            <a:prstDash val="solid"/>
            <a:headEnd type="none" w="med" len="med"/>
            <a:tailEnd type="none" w="med" len="med"/>
          </a:ln>
          <a:effectLst/>
        </p:spPr>
      </p:cxnSp>
      <p:cxnSp>
        <p:nvCxnSpPr>
          <p:cNvPr id="142" name="Straight Connector 141">
            <a:extLst>
              <a:ext uri="{FF2B5EF4-FFF2-40B4-BE49-F238E27FC236}">
                <a16:creationId xmlns:a16="http://schemas.microsoft.com/office/drawing/2014/main" id="{71859C46-18A1-0C13-0898-151432455A76}"/>
              </a:ext>
            </a:extLst>
          </p:cNvPr>
          <p:cNvCxnSpPr>
            <a:cxnSpLocks/>
          </p:cNvCxnSpPr>
          <p:nvPr/>
        </p:nvCxnSpPr>
        <p:spPr>
          <a:xfrm>
            <a:off x="805019" y="2922224"/>
            <a:ext cx="0" cy="1405542"/>
          </a:xfrm>
          <a:prstGeom prst="line">
            <a:avLst/>
          </a:prstGeom>
          <a:noFill/>
          <a:ln w="19050" cap="flat" cmpd="sng" algn="ctr">
            <a:solidFill>
              <a:schemeClr val="tx1">
                <a:lumMod val="95000"/>
                <a:lumOff val="5000"/>
              </a:schemeClr>
            </a:solidFill>
            <a:prstDash val="solid"/>
            <a:headEnd type="none" w="med" len="med"/>
            <a:tailEnd type="none" w="med" len="med"/>
          </a:ln>
          <a:effectLst/>
        </p:spPr>
      </p:cxnSp>
      <p:cxnSp>
        <p:nvCxnSpPr>
          <p:cNvPr id="143" name="Straight Connector 142">
            <a:extLst>
              <a:ext uri="{FF2B5EF4-FFF2-40B4-BE49-F238E27FC236}">
                <a16:creationId xmlns:a16="http://schemas.microsoft.com/office/drawing/2014/main" id="{4E2B20D2-FA72-1339-20FB-6F8A220F825E}"/>
              </a:ext>
            </a:extLst>
          </p:cNvPr>
          <p:cNvCxnSpPr>
            <a:cxnSpLocks/>
          </p:cNvCxnSpPr>
          <p:nvPr/>
        </p:nvCxnSpPr>
        <p:spPr>
          <a:xfrm>
            <a:off x="2794875" y="2922224"/>
            <a:ext cx="1902256" cy="1267711"/>
          </a:xfrm>
          <a:prstGeom prst="line">
            <a:avLst/>
          </a:prstGeom>
          <a:noFill/>
          <a:ln w="19050" cap="flat" cmpd="sng" algn="ctr">
            <a:solidFill>
              <a:schemeClr val="tx1">
                <a:lumMod val="95000"/>
                <a:lumOff val="5000"/>
              </a:schemeClr>
            </a:solidFill>
            <a:prstDash val="solid"/>
            <a:headEnd type="none" w="med" len="med"/>
            <a:tailEnd type="none" w="med" len="med"/>
          </a:ln>
          <a:effectLst/>
        </p:spPr>
      </p:cxnSp>
      <p:pic>
        <p:nvPicPr>
          <p:cNvPr id="144" name="Picture 143">
            <a:extLst>
              <a:ext uri="{FF2B5EF4-FFF2-40B4-BE49-F238E27FC236}">
                <a16:creationId xmlns:a16="http://schemas.microsoft.com/office/drawing/2014/main" id="{080A4DF3-DDBC-7461-FA2E-CA3A5BBDB69A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rgbClr val="D9C3A5">
                <a:tint val="50000"/>
                <a:satMod val="180000"/>
              </a:srgbClr>
            </a:duotone>
          </a:blip>
          <a:stretch>
            <a:fillRect/>
          </a:stretch>
        </p:blipFill>
        <p:spPr>
          <a:xfrm>
            <a:off x="4148181" y="3997645"/>
            <a:ext cx="1104900" cy="571500"/>
          </a:xfrm>
          <a:prstGeom prst="rect">
            <a:avLst/>
          </a:prstGeom>
        </p:spPr>
      </p:pic>
      <p:pic>
        <p:nvPicPr>
          <p:cNvPr id="145" name="Picture 144">
            <a:extLst>
              <a:ext uri="{FF2B5EF4-FFF2-40B4-BE49-F238E27FC236}">
                <a16:creationId xmlns:a16="http://schemas.microsoft.com/office/drawing/2014/main" id="{65FF8249-DEA9-0421-2F0F-1C9098D40FFA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rgbClr val="D9C3A5">
                <a:tint val="50000"/>
                <a:satMod val="180000"/>
              </a:srgbClr>
            </a:duotone>
          </a:blip>
          <a:stretch>
            <a:fillRect/>
          </a:stretch>
        </p:blipFill>
        <p:spPr>
          <a:xfrm>
            <a:off x="2207547" y="3997645"/>
            <a:ext cx="1104900" cy="571500"/>
          </a:xfrm>
          <a:prstGeom prst="rect">
            <a:avLst/>
          </a:prstGeom>
        </p:spPr>
      </p:pic>
      <p:pic>
        <p:nvPicPr>
          <p:cNvPr id="146" name="Picture 145">
            <a:extLst>
              <a:ext uri="{FF2B5EF4-FFF2-40B4-BE49-F238E27FC236}">
                <a16:creationId xmlns:a16="http://schemas.microsoft.com/office/drawing/2014/main" id="{E1F92572-367D-F30A-3BA7-284993000504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rgbClr val="D9C3A5">
                <a:tint val="50000"/>
                <a:satMod val="180000"/>
              </a:srgbClr>
            </a:duotone>
          </a:blip>
          <a:stretch>
            <a:fillRect/>
          </a:stretch>
        </p:blipFill>
        <p:spPr>
          <a:xfrm>
            <a:off x="261509" y="3997645"/>
            <a:ext cx="1104900" cy="571500"/>
          </a:xfrm>
          <a:prstGeom prst="rect">
            <a:avLst/>
          </a:prstGeom>
        </p:spPr>
      </p:pic>
      <p:pic>
        <p:nvPicPr>
          <p:cNvPr id="147" name="Picture 146">
            <a:extLst>
              <a:ext uri="{FF2B5EF4-FFF2-40B4-BE49-F238E27FC236}">
                <a16:creationId xmlns:a16="http://schemas.microsoft.com/office/drawing/2014/main" id="{7FB0E8F0-795C-A965-295C-93CED3A3EB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1599" y="2568158"/>
            <a:ext cx="1104900" cy="571500"/>
          </a:xfrm>
          <a:prstGeom prst="rect">
            <a:avLst/>
          </a:prstGeom>
        </p:spPr>
      </p:pic>
      <p:pic>
        <p:nvPicPr>
          <p:cNvPr id="148" name="Picture 147">
            <a:extLst>
              <a:ext uri="{FF2B5EF4-FFF2-40B4-BE49-F238E27FC236}">
                <a16:creationId xmlns:a16="http://schemas.microsoft.com/office/drawing/2014/main" id="{EFA39E9F-179E-4B34-BBB6-91B15D2CF7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2569" y="2592103"/>
            <a:ext cx="1104900" cy="571500"/>
          </a:xfrm>
          <a:prstGeom prst="rect">
            <a:avLst/>
          </a:prstGeom>
        </p:spPr>
      </p:pic>
      <p:pic>
        <p:nvPicPr>
          <p:cNvPr id="149" name="Picture 148">
            <a:extLst>
              <a:ext uri="{FF2B5EF4-FFF2-40B4-BE49-F238E27FC236}">
                <a16:creationId xmlns:a16="http://schemas.microsoft.com/office/drawing/2014/main" id="{C736E1C0-9FB3-F0D7-5BA9-D74DB0F5D9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50629" y="2572330"/>
            <a:ext cx="1104900" cy="571500"/>
          </a:xfrm>
          <a:prstGeom prst="rect">
            <a:avLst/>
          </a:prstGeom>
        </p:spPr>
      </p:pic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81E9BF34-8855-8AB1-EE43-18C45947875E}"/>
              </a:ext>
            </a:extLst>
          </p:cNvPr>
          <p:cNvCxnSpPr>
            <a:cxnSpLocks/>
          </p:cNvCxnSpPr>
          <p:nvPr/>
        </p:nvCxnSpPr>
        <p:spPr>
          <a:xfrm flipV="1">
            <a:off x="8847122" y="2877853"/>
            <a:ext cx="0" cy="1405542"/>
          </a:xfrm>
          <a:prstGeom prst="line">
            <a:avLst/>
          </a:prstGeom>
          <a:noFill/>
          <a:ln w="19050" cap="flat" cmpd="sng" algn="ctr">
            <a:solidFill>
              <a:schemeClr val="tx1">
                <a:lumMod val="95000"/>
                <a:lumOff val="5000"/>
              </a:schemeClr>
            </a:solidFill>
            <a:prstDash val="solid"/>
            <a:headEnd type="none" w="med" len="med"/>
            <a:tailEnd type="none" w="med" len="med"/>
          </a:ln>
          <a:effectLst/>
        </p:spPr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F100BFDF-0C70-65EB-56AD-2C5935094855}"/>
              </a:ext>
            </a:extLst>
          </p:cNvPr>
          <p:cNvCxnSpPr>
            <a:cxnSpLocks/>
          </p:cNvCxnSpPr>
          <p:nvPr/>
        </p:nvCxnSpPr>
        <p:spPr>
          <a:xfrm flipH="1">
            <a:off x="10752879" y="2828764"/>
            <a:ext cx="5948" cy="1361171"/>
          </a:xfrm>
          <a:prstGeom prst="line">
            <a:avLst/>
          </a:prstGeom>
          <a:noFill/>
          <a:ln w="19050" cap="flat" cmpd="sng" algn="ctr">
            <a:solidFill>
              <a:schemeClr val="tx1">
                <a:lumMod val="95000"/>
                <a:lumOff val="5000"/>
              </a:schemeClr>
            </a:solidFill>
            <a:prstDash val="solid"/>
            <a:headEnd type="none" w="med" len="med"/>
            <a:tailEnd type="none" w="med" len="med"/>
          </a:ln>
          <a:effectLst/>
        </p:spPr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1C45F6DB-976F-DC0C-3DAF-62D54752799D}"/>
              </a:ext>
            </a:extLst>
          </p:cNvPr>
          <p:cNvCxnSpPr>
            <a:cxnSpLocks/>
          </p:cNvCxnSpPr>
          <p:nvPr/>
        </p:nvCxnSpPr>
        <p:spPr>
          <a:xfrm flipH="1">
            <a:off x="8847122" y="2877853"/>
            <a:ext cx="1905757" cy="1405542"/>
          </a:xfrm>
          <a:prstGeom prst="line">
            <a:avLst/>
          </a:prstGeom>
          <a:noFill/>
          <a:ln w="19050" cap="flat" cmpd="sng" algn="ctr">
            <a:solidFill>
              <a:schemeClr val="tx1">
                <a:lumMod val="95000"/>
                <a:lumOff val="5000"/>
              </a:schemeClr>
            </a:solidFill>
            <a:prstDash val="solid"/>
            <a:headEnd type="none" w="med" len="med"/>
            <a:tailEnd type="none" w="med" len="med"/>
          </a:ln>
          <a:effectLst/>
        </p:spPr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E65BDDDE-1FB0-EE92-56DB-A71F3B586A34}"/>
              </a:ext>
            </a:extLst>
          </p:cNvPr>
          <p:cNvCxnSpPr>
            <a:cxnSpLocks/>
          </p:cNvCxnSpPr>
          <p:nvPr/>
        </p:nvCxnSpPr>
        <p:spPr>
          <a:xfrm>
            <a:off x="6938918" y="2908488"/>
            <a:ext cx="1908204" cy="1374907"/>
          </a:xfrm>
          <a:prstGeom prst="line">
            <a:avLst/>
          </a:prstGeom>
          <a:noFill/>
          <a:ln w="19050" cap="flat" cmpd="sng" algn="ctr">
            <a:solidFill>
              <a:schemeClr val="tx1">
                <a:lumMod val="95000"/>
                <a:lumOff val="5000"/>
              </a:schemeClr>
            </a:solidFill>
            <a:prstDash val="solid"/>
            <a:headEnd type="none" w="med" len="med"/>
            <a:tailEnd type="none" w="med" len="med"/>
          </a:ln>
          <a:effectLst/>
        </p:spPr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89F40D6B-D381-0ACE-C2D0-F7DC8FCCF874}"/>
              </a:ext>
            </a:extLst>
          </p:cNvPr>
          <p:cNvCxnSpPr>
            <a:cxnSpLocks/>
          </p:cNvCxnSpPr>
          <p:nvPr/>
        </p:nvCxnSpPr>
        <p:spPr>
          <a:xfrm>
            <a:off x="6985310" y="2856593"/>
            <a:ext cx="1902638" cy="0"/>
          </a:xfrm>
          <a:prstGeom prst="line">
            <a:avLst/>
          </a:prstGeom>
          <a:noFill/>
          <a:ln w="19050" cap="flat" cmpd="sng" algn="ctr">
            <a:solidFill>
              <a:schemeClr val="tx1">
                <a:lumMod val="95000"/>
                <a:lumOff val="5000"/>
              </a:schemeClr>
            </a:solidFill>
            <a:prstDash val="solid"/>
            <a:headEnd type="none" w="med" len="med"/>
            <a:tailEnd type="none" w="med" len="med"/>
          </a:ln>
          <a:effectLst/>
        </p:spPr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A90A188E-9514-F250-BEF5-2A58FD7AAFF1}"/>
              </a:ext>
            </a:extLst>
          </p:cNvPr>
          <p:cNvCxnSpPr>
            <a:cxnSpLocks/>
          </p:cNvCxnSpPr>
          <p:nvPr/>
        </p:nvCxnSpPr>
        <p:spPr>
          <a:xfrm flipH="1">
            <a:off x="6898092" y="2908488"/>
            <a:ext cx="1911705" cy="1374907"/>
          </a:xfrm>
          <a:prstGeom prst="line">
            <a:avLst/>
          </a:prstGeom>
          <a:noFill/>
          <a:ln w="19050" cap="flat" cmpd="sng" algn="ctr">
            <a:solidFill>
              <a:schemeClr val="tx1">
                <a:lumMod val="95000"/>
                <a:lumOff val="5000"/>
              </a:schemeClr>
            </a:solidFill>
            <a:prstDash val="solid"/>
            <a:headEnd type="none" w="med" len="med"/>
            <a:tailEnd type="none" w="med" len="med"/>
          </a:ln>
          <a:effectLst/>
        </p:spPr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F50BC47C-E8C8-54E6-0F35-2331772EEAFF}"/>
              </a:ext>
            </a:extLst>
          </p:cNvPr>
          <p:cNvCxnSpPr>
            <a:cxnSpLocks/>
          </p:cNvCxnSpPr>
          <p:nvPr/>
        </p:nvCxnSpPr>
        <p:spPr>
          <a:xfrm>
            <a:off x="9158231" y="4189935"/>
            <a:ext cx="1361690" cy="0"/>
          </a:xfrm>
          <a:prstGeom prst="line">
            <a:avLst/>
          </a:prstGeom>
          <a:noFill/>
          <a:ln w="19050" cap="flat" cmpd="sng" algn="ctr">
            <a:solidFill>
              <a:schemeClr val="tx1">
                <a:lumMod val="95000"/>
                <a:lumOff val="5000"/>
              </a:schemeClr>
            </a:solidFill>
            <a:prstDash val="solid"/>
            <a:headEnd type="none" w="med" len="med"/>
            <a:tailEnd type="none" w="med" len="med"/>
          </a:ln>
          <a:effectLst/>
        </p:spPr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A230F815-04A7-7028-7F17-C528FBAC8ECF}"/>
              </a:ext>
            </a:extLst>
          </p:cNvPr>
          <p:cNvCxnSpPr>
            <a:cxnSpLocks/>
          </p:cNvCxnSpPr>
          <p:nvPr/>
        </p:nvCxnSpPr>
        <p:spPr>
          <a:xfrm>
            <a:off x="6898092" y="2922224"/>
            <a:ext cx="0" cy="1405542"/>
          </a:xfrm>
          <a:prstGeom prst="line">
            <a:avLst/>
          </a:prstGeom>
          <a:noFill/>
          <a:ln w="19050" cap="flat" cmpd="sng" algn="ctr">
            <a:solidFill>
              <a:schemeClr val="tx1">
                <a:lumMod val="95000"/>
                <a:lumOff val="5000"/>
              </a:schemeClr>
            </a:solidFill>
            <a:prstDash val="solid"/>
            <a:headEnd type="none" w="med" len="med"/>
            <a:tailEnd type="none" w="med" len="med"/>
          </a:ln>
          <a:effectLst/>
        </p:spPr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9413C24E-A62B-09E4-9B22-A04BC1AD6A4E}"/>
              </a:ext>
            </a:extLst>
          </p:cNvPr>
          <p:cNvCxnSpPr>
            <a:cxnSpLocks/>
          </p:cNvCxnSpPr>
          <p:nvPr/>
        </p:nvCxnSpPr>
        <p:spPr>
          <a:xfrm>
            <a:off x="8887948" y="2922224"/>
            <a:ext cx="1902256" cy="1267711"/>
          </a:xfrm>
          <a:prstGeom prst="line">
            <a:avLst/>
          </a:prstGeom>
          <a:noFill/>
          <a:ln w="19050" cap="flat" cmpd="sng" algn="ctr">
            <a:solidFill>
              <a:schemeClr val="tx1">
                <a:lumMod val="95000"/>
                <a:lumOff val="5000"/>
              </a:schemeClr>
            </a:solidFill>
            <a:prstDash val="solid"/>
            <a:headEnd type="none" w="med" len="med"/>
            <a:tailEnd type="none" w="med" len="med"/>
          </a:ln>
          <a:effectLst/>
        </p:spPr>
      </p:cxnSp>
      <p:pic>
        <p:nvPicPr>
          <p:cNvPr id="52" name="Picture 51">
            <a:extLst>
              <a:ext uri="{FF2B5EF4-FFF2-40B4-BE49-F238E27FC236}">
                <a16:creationId xmlns:a16="http://schemas.microsoft.com/office/drawing/2014/main" id="{578D7039-5AD0-87D4-51A5-89262314F8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2583" y="3997645"/>
            <a:ext cx="1104900" cy="571500"/>
          </a:xfrm>
          <a:prstGeom prst="rect">
            <a:avLst/>
          </a:prstGeom>
        </p:spPr>
      </p:pic>
      <p:pic>
        <p:nvPicPr>
          <p:cNvPr id="53" name="Picture 52">
            <a:extLst>
              <a:ext uri="{FF2B5EF4-FFF2-40B4-BE49-F238E27FC236}">
                <a16:creationId xmlns:a16="http://schemas.microsoft.com/office/drawing/2014/main" id="{D2E2411A-F7AA-90DE-FBBC-A6A5D6EC78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00620" y="3997645"/>
            <a:ext cx="1104900" cy="571500"/>
          </a:xfrm>
          <a:prstGeom prst="rect">
            <a:avLst/>
          </a:prstGeom>
        </p:spPr>
      </p:pic>
      <p:pic>
        <p:nvPicPr>
          <p:cNvPr id="54" name="Picture 53">
            <a:extLst>
              <a:ext uri="{FF2B5EF4-FFF2-40B4-BE49-F238E27FC236}">
                <a16:creationId xmlns:a16="http://schemas.microsoft.com/office/drawing/2014/main" id="{32FFB93A-1D5A-2A77-3E7C-B145E4F338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5642" y="3997645"/>
            <a:ext cx="1104900" cy="571500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8B3DFD66-B27C-04F6-CE55-07CA3C28EE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94672" y="2568158"/>
            <a:ext cx="1104900" cy="571500"/>
          </a:xfrm>
          <a:prstGeom prst="rect">
            <a:avLst/>
          </a:prstGeom>
        </p:spPr>
      </p:pic>
      <p:pic>
        <p:nvPicPr>
          <p:cNvPr id="56" name="Picture 55">
            <a:extLst>
              <a:ext uri="{FF2B5EF4-FFF2-40B4-BE49-F238E27FC236}">
                <a16:creationId xmlns:a16="http://schemas.microsoft.com/office/drawing/2014/main" id="{6EDC36F2-E878-357F-626F-A1DCE304FD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5642" y="2592103"/>
            <a:ext cx="1104900" cy="571500"/>
          </a:xfrm>
          <a:prstGeom prst="rect">
            <a:avLst/>
          </a:prstGeom>
        </p:spPr>
      </p:pic>
      <p:pic>
        <p:nvPicPr>
          <p:cNvPr id="57" name="Picture 56">
            <a:extLst>
              <a:ext uri="{FF2B5EF4-FFF2-40B4-BE49-F238E27FC236}">
                <a16:creationId xmlns:a16="http://schemas.microsoft.com/office/drawing/2014/main" id="{650FCE24-0755-198A-309F-A4CFD6C338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31245" y="2572434"/>
            <a:ext cx="1104900" cy="571500"/>
          </a:xfrm>
          <a:prstGeom prst="rect">
            <a:avLst/>
          </a:prstGeom>
        </p:spPr>
      </p:pic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C0080457-9914-6470-1E59-17298FCF870B}"/>
              </a:ext>
            </a:extLst>
          </p:cNvPr>
          <p:cNvCxnSpPr>
            <a:cxnSpLocks/>
          </p:cNvCxnSpPr>
          <p:nvPr/>
        </p:nvCxnSpPr>
        <p:spPr>
          <a:xfrm>
            <a:off x="5731071" y="1513680"/>
            <a:ext cx="0" cy="3318760"/>
          </a:xfrm>
          <a:prstGeom prst="line">
            <a:avLst/>
          </a:prstGeom>
          <a:ln w="44450" cmpd="dbl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TextBox 62">
            <a:extLst>
              <a:ext uri="{FF2B5EF4-FFF2-40B4-BE49-F238E27FC236}">
                <a16:creationId xmlns:a16="http://schemas.microsoft.com/office/drawing/2014/main" id="{9970975C-2456-422F-3669-0B5EE30DA7F1}"/>
              </a:ext>
            </a:extLst>
          </p:cNvPr>
          <p:cNvSpPr txBox="1"/>
          <p:nvPr/>
        </p:nvSpPr>
        <p:spPr>
          <a:xfrm>
            <a:off x="5009004" y="2406191"/>
            <a:ext cx="6623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RPKI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246FA5C4-D62F-9A69-83DF-81B76BFF0780}"/>
              </a:ext>
            </a:extLst>
          </p:cNvPr>
          <p:cNvSpPr txBox="1"/>
          <p:nvPr/>
        </p:nvSpPr>
        <p:spPr>
          <a:xfrm>
            <a:off x="1044991" y="2406191"/>
            <a:ext cx="6623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RPKI</a:t>
            </a:r>
          </a:p>
        </p:txBody>
      </p:sp>
      <p:grpSp>
        <p:nvGrpSpPr>
          <p:cNvPr id="91" name="Graphic 89" descr="Cube outline">
            <a:extLst>
              <a:ext uri="{FF2B5EF4-FFF2-40B4-BE49-F238E27FC236}">
                <a16:creationId xmlns:a16="http://schemas.microsoft.com/office/drawing/2014/main" id="{CD4A8CA3-D8C4-DE0C-E116-EB858DE36606}"/>
              </a:ext>
            </a:extLst>
          </p:cNvPr>
          <p:cNvGrpSpPr/>
          <p:nvPr/>
        </p:nvGrpSpPr>
        <p:grpSpPr>
          <a:xfrm>
            <a:off x="5121493" y="455693"/>
            <a:ext cx="172225" cy="247230"/>
            <a:chOff x="6716590" y="334818"/>
            <a:chExt cx="322921" cy="464275"/>
          </a:xfrm>
          <a:solidFill>
            <a:srgbClr val="00B0F0"/>
          </a:solidFill>
        </p:grpSpPr>
        <p:sp>
          <p:nvSpPr>
            <p:cNvPr id="94" name="Freeform 93">
              <a:extLst>
                <a:ext uri="{FF2B5EF4-FFF2-40B4-BE49-F238E27FC236}">
                  <a16:creationId xmlns:a16="http://schemas.microsoft.com/office/drawing/2014/main" id="{0A5972DF-130F-E6AA-652C-80D62007F5AF}"/>
                </a:ext>
              </a:extLst>
            </p:cNvPr>
            <p:cNvSpPr/>
            <p:nvPr/>
          </p:nvSpPr>
          <p:spPr>
            <a:xfrm>
              <a:off x="7020461" y="401493"/>
              <a:ext cx="19050" cy="38100"/>
            </a:xfrm>
            <a:custGeom>
              <a:avLst/>
              <a:gdLst>
                <a:gd name="csX0" fmla="*/ 0 w 19050"/>
                <a:gd name="csY0" fmla="*/ 0 h 38100"/>
                <a:gd name="csX1" fmla="*/ 19050 w 19050"/>
                <a:gd name="csY1" fmla="*/ 0 h 38100"/>
                <a:gd name="csX2" fmla="*/ 19050 w 19050"/>
                <a:gd name="csY2" fmla="*/ 38100 h 38100"/>
                <a:gd name="csX3" fmla="*/ 0 w 19050"/>
                <a:gd name="csY3" fmla="*/ 38100 h 381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9050" h="38100">
                  <a:moveTo>
                    <a:pt x="0" y="0"/>
                  </a:moveTo>
                  <a:lnTo>
                    <a:pt x="19050" y="0"/>
                  </a:lnTo>
                  <a:lnTo>
                    <a:pt x="19050" y="38100"/>
                  </a:lnTo>
                  <a:lnTo>
                    <a:pt x="0" y="38100"/>
                  </a:lnTo>
                  <a:close/>
                </a:path>
              </a:pathLst>
            </a:custGeom>
            <a:grpFill/>
            <a:ln w="3175" cap="flat">
              <a:solidFill>
                <a:schemeClr val="tx1">
                  <a:lumMod val="50000"/>
                  <a:lumOff val="50000"/>
                </a:schemeClr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6" name="Freeform 95">
              <a:extLst>
                <a:ext uri="{FF2B5EF4-FFF2-40B4-BE49-F238E27FC236}">
                  <a16:creationId xmlns:a16="http://schemas.microsoft.com/office/drawing/2014/main" id="{F0AA7903-4681-2756-27E6-44B0ACF1AFE2}"/>
                </a:ext>
              </a:extLst>
            </p:cNvPr>
            <p:cNvSpPr/>
            <p:nvPr/>
          </p:nvSpPr>
          <p:spPr>
            <a:xfrm>
              <a:off x="7020461" y="334818"/>
              <a:ext cx="19050" cy="38100"/>
            </a:xfrm>
            <a:custGeom>
              <a:avLst/>
              <a:gdLst>
                <a:gd name="csX0" fmla="*/ 0 w 19050"/>
                <a:gd name="csY0" fmla="*/ 0 h 38100"/>
                <a:gd name="csX1" fmla="*/ 19050 w 19050"/>
                <a:gd name="csY1" fmla="*/ 0 h 38100"/>
                <a:gd name="csX2" fmla="*/ 19050 w 19050"/>
                <a:gd name="csY2" fmla="*/ 38100 h 38100"/>
                <a:gd name="csX3" fmla="*/ 0 w 19050"/>
                <a:gd name="csY3" fmla="*/ 38100 h 381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9050" h="38100">
                  <a:moveTo>
                    <a:pt x="0" y="0"/>
                  </a:moveTo>
                  <a:lnTo>
                    <a:pt x="19050" y="0"/>
                  </a:lnTo>
                  <a:lnTo>
                    <a:pt x="19050" y="38100"/>
                  </a:lnTo>
                  <a:lnTo>
                    <a:pt x="0" y="38100"/>
                  </a:lnTo>
                  <a:close/>
                </a:path>
              </a:pathLst>
            </a:custGeom>
            <a:grpFill/>
            <a:ln w="3175" cap="flat">
              <a:solidFill>
                <a:schemeClr val="tx1">
                  <a:lumMod val="50000"/>
                  <a:lumOff val="50000"/>
                </a:schemeClr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0" name="Freeform 99">
              <a:extLst>
                <a:ext uri="{FF2B5EF4-FFF2-40B4-BE49-F238E27FC236}">
                  <a16:creationId xmlns:a16="http://schemas.microsoft.com/office/drawing/2014/main" id="{3D70F01E-0D04-8DF0-016F-7FD0F49BFBA1}"/>
                </a:ext>
              </a:extLst>
            </p:cNvPr>
            <p:cNvSpPr/>
            <p:nvPr/>
          </p:nvSpPr>
          <p:spPr>
            <a:xfrm rot="-737527">
              <a:off x="6716590" y="780043"/>
              <a:ext cx="38100" cy="19050"/>
            </a:xfrm>
            <a:custGeom>
              <a:avLst/>
              <a:gdLst>
                <a:gd name="csX0" fmla="*/ 0 w 38100"/>
                <a:gd name="csY0" fmla="*/ 0 h 19050"/>
                <a:gd name="csX1" fmla="*/ 38101 w 38100"/>
                <a:gd name="csY1" fmla="*/ 0 h 19050"/>
                <a:gd name="csX2" fmla="*/ 38101 w 38100"/>
                <a:gd name="csY2" fmla="*/ 19050 h 19050"/>
                <a:gd name="csX3" fmla="*/ 0 w 38100"/>
                <a:gd name="csY3" fmla="*/ 19050 h 1905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38100" h="19050">
                  <a:moveTo>
                    <a:pt x="0" y="0"/>
                  </a:moveTo>
                  <a:lnTo>
                    <a:pt x="38101" y="0"/>
                  </a:lnTo>
                  <a:lnTo>
                    <a:pt x="38101" y="19050"/>
                  </a:lnTo>
                  <a:lnTo>
                    <a:pt x="0" y="19050"/>
                  </a:lnTo>
                  <a:close/>
                </a:path>
              </a:pathLst>
            </a:custGeom>
            <a:grpFill/>
            <a:ln w="3175" cap="flat">
              <a:solidFill>
                <a:schemeClr val="tx1">
                  <a:lumMod val="50000"/>
                  <a:lumOff val="50000"/>
                </a:schemeClr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4" name="Freeform 103">
              <a:extLst>
                <a:ext uri="{FF2B5EF4-FFF2-40B4-BE49-F238E27FC236}">
                  <a16:creationId xmlns:a16="http://schemas.microsoft.com/office/drawing/2014/main" id="{ACFD134A-2732-93BD-0610-AD0F4A48E17A}"/>
                </a:ext>
              </a:extLst>
            </p:cNvPr>
            <p:cNvSpPr/>
            <p:nvPr/>
          </p:nvSpPr>
          <p:spPr>
            <a:xfrm rot="-737527">
              <a:off x="6781731" y="765831"/>
              <a:ext cx="38100" cy="19050"/>
            </a:xfrm>
            <a:custGeom>
              <a:avLst/>
              <a:gdLst>
                <a:gd name="csX0" fmla="*/ 0 w 38100"/>
                <a:gd name="csY0" fmla="*/ 0 h 19050"/>
                <a:gd name="csX1" fmla="*/ 38101 w 38100"/>
                <a:gd name="csY1" fmla="*/ 0 h 19050"/>
                <a:gd name="csX2" fmla="*/ 38101 w 38100"/>
                <a:gd name="csY2" fmla="*/ 19050 h 19050"/>
                <a:gd name="csX3" fmla="*/ 0 w 38100"/>
                <a:gd name="csY3" fmla="*/ 19050 h 1905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38100" h="19050">
                  <a:moveTo>
                    <a:pt x="0" y="0"/>
                  </a:moveTo>
                  <a:lnTo>
                    <a:pt x="38101" y="0"/>
                  </a:lnTo>
                  <a:lnTo>
                    <a:pt x="38101" y="19050"/>
                  </a:lnTo>
                  <a:lnTo>
                    <a:pt x="0" y="19050"/>
                  </a:lnTo>
                  <a:close/>
                </a:path>
              </a:pathLst>
            </a:custGeom>
            <a:grpFill/>
            <a:ln w="3175" cap="flat">
              <a:solidFill>
                <a:schemeClr val="tx1">
                  <a:lumMod val="50000"/>
                  <a:lumOff val="50000"/>
                </a:schemeClr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5" name="Freeform 104">
              <a:extLst>
                <a:ext uri="{FF2B5EF4-FFF2-40B4-BE49-F238E27FC236}">
                  <a16:creationId xmlns:a16="http://schemas.microsoft.com/office/drawing/2014/main" id="{65453FB0-240D-ED9C-A459-00958B913613}"/>
                </a:ext>
              </a:extLst>
            </p:cNvPr>
            <p:cNvSpPr/>
            <p:nvPr/>
          </p:nvSpPr>
          <p:spPr>
            <a:xfrm rot="-737527">
              <a:off x="6846872" y="751617"/>
              <a:ext cx="38100" cy="19050"/>
            </a:xfrm>
            <a:custGeom>
              <a:avLst/>
              <a:gdLst>
                <a:gd name="csX0" fmla="*/ 0 w 38100"/>
                <a:gd name="csY0" fmla="*/ 0 h 19050"/>
                <a:gd name="csX1" fmla="*/ 38101 w 38100"/>
                <a:gd name="csY1" fmla="*/ 0 h 19050"/>
                <a:gd name="csX2" fmla="*/ 38101 w 38100"/>
                <a:gd name="csY2" fmla="*/ 19050 h 19050"/>
                <a:gd name="csX3" fmla="*/ 0 w 38100"/>
                <a:gd name="csY3" fmla="*/ 19050 h 1905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38100" h="19050">
                  <a:moveTo>
                    <a:pt x="0" y="0"/>
                  </a:moveTo>
                  <a:lnTo>
                    <a:pt x="38101" y="0"/>
                  </a:lnTo>
                  <a:lnTo>
                    <a:pt x="38101" y="19050"/>
                  </a:lnTo>
                  <a:lnTo>
                    <a:pt x="0" y="19050"/>
                  </a:lnTo>
                  <a:close/>
                </a:path>
              </a:pathLst>
            </a:custGeom>
            <a:grpFill/>
            <a:ln w="3175" cap="flat">
              <a:solidFill>
                <a:schemeClr val="tx1">
                  <a:lumMod val="50000"/>
                  <a:lumOff val="50000"/>
                </a:schemeClr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07" name="TextBox 106">
            <a:extLst>
              <a:ext uri="{FF2B5EF4-FFF2-40B4-BE49-F238E27FC236}">
                <a16:creationId xmlns:a16="http://schemas.microsoft.com/office/drawing/2014/main" id="{416C455C-8C2B-DF24-ABDF-5150F7281FB2}"/>
              </a:ext>
            </a:extLst>
          </p:cNvPr>
          <p:cNvSpPr txBox="1"/>
          <p:nvPr/>
        </p:nvSpPr>
        <p:spPr>
          <a:xfrm>
            <a:off x="1468338" y="4558626"/>
            <a:ext cx="272702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Isolated world of non-RPKIs</a:t>
            </a:r>
          </a:p>
        </p:txBody>
      </p:sp>
      <p:grpSp>
        <p:nvGrpSpPr>
          <p:cNvPr id="108" name="Group 107">
            <a:extLst>
              <a:ext uri="{FF2B5EF4-FFF2-40B4-BE49-F238E27FC236}">
                <a16:creationId xmlns:a16="http://schemas.microsoft.com/office/drawing/2014/main" id="{731328B7-4E33-B5FA-1AB6-ED0BFDB3B874}"/>
              </a:ext>
            </a:extLst>
          </p:cNvPr>
          <p:cNvGrpSpPr/>
          <p:nvPr/>
        </p:nvGrpSpPr>
        <p:grpSpPr>
          <a:xfrm>
            <a:off x="615487" y="1054489"/>
            <a:ext cx="4637594" cy="627810"/>
            <a:chOff x="516100" y="1380908"/>
            <a:chExt cx="4637594" cy="627810"/>
          </a:xfrm>
        </p:grpSpPr>
        <p:sp>
          <p:nvSpPr>
            <p:cNvPr id="67" name="Rectangle 66">
              <a:extLst>
                <a:ext uri="{FF2B5EF4-FFF2-40B4-BE49-F238E27FC236}">
                  <a16:creationId xmlns:a16="http://schemas.microsoft.com/office/drawing/2014/main" id="{2FAE3AD7-FC96-C38C-F011-0C1FB9BADFE4}"/>
                </a:ext>
              </a:extLst>
            </p:cNvPr>
            <p:cNvSpPr/>
            <p:nvPr/>
          </p:nvSpPr>
          <p:spPr>
            <a:xfrm>
              <a:off x="516100" y="1385720"/>
              <a:ext cx="4637594" cy="622998"/>
            </a:xfrm>
            <a:prstGeom prst="rect">
              <a:avLst/>
            </a:prstGeom>
            <a:solidFill>
              <a:schemeClr val="accent2">
                <a:lumMod val="20000"/>
                <a:lumOff val="80000"/>
                <a:alpha val="42492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     Central RPKI Repository</a:t>
              </a:r>
            </a:p>
          </p:txBody>
        </p:sp>
        <p:pic>
          <p:nvPicPr>
            <p:cNvPr id="1028" name="Picture 4" descr="Data collection - Free electronics icons">
              <a:extLst>
                <a:ext uri="{FF2B5EF4-FFF2-40B4-BE49-F238E27FC236}">
                  <a16:creationId xmlns:a16="http://schemas.microsoft.com/office/drawing/2014/main" id="{2548A6FD-2A5A-6F3C-7632-D275B268720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65960" y="1380908"/>
              <a:ext cx="622998" cy="62299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110" name="Graphic 109" descr="Sort with solid fill">
            <a:extLst>
              <a:ext uri="{FF2B5EF4-FFF2-40B4-BE49-F238E27FC236}">
                <a16:creationId xmlns:a16="http://schemas.microsoft.com/office/drawing/2014/main" id="{042EE849-42D1-5868-D105-03752DC4C03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266459" y="1761126"/>
            <a:ext cx="528416" cy="537157"/>
          </a:xfrm>
          <a:prstGeom prst="rect">
            <a:avLst/>
          </a:prstGeom>
        </p:spPr>
      </p:pic>
      <p:sp>
        <p:nvSpPr>
          <p:cNvPr id="112" name="TextBox 111">
            <a:extLst>
              <a:ext uri="{FF2B5EF4-FFF2-40B4-BE49-F238E27FC236}">
                <a16:creationId xmlns:a16="http://schemas.microsoft.com/office/drawing/2014/main" id="{76932D50-A4EA-BE8B-6AD6-0BDF248B54A2}"/>
              </a:ext>
            </a:extLst>
          </p:cNvPr>
          <p:cNvSpPr txBox="1"/>
          <p:nvPr/>
        </p:nvSpPr>
        <p:spPr>
          <a:xfrm>
            <a:off x="2678403" y="1745016"/>
            <a:ext cx="153907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RPKI-only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algn="ctr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ROA validation</a:t>
            </a:r>
          </a:p>
        </p:txBody>
      </p:sp>
      <p:grpSp>
        <p:nvGrpSpPr>
          <p:cNvPr id="1040" name="Group 1039">
            <a:extLst>
              <a:ext uri="{FF2B5EF4-FFF2-40B4-BE49-F238E27FC236}">
                <a16:creationId xmlns:a16="http://schemas.microsoft.com/office/drawing/2014/main" id="{D4201AEC-6261-0FEC-39E8-59683F577B98}"/>
              </a:ext>
            </a:extLst>
          </p:cNvPr>
          <p:cNvGrpSpPr/>
          <p:nvPr/>
        </p:nvGrpSpPr>
        <p:grpSpPr>
          <a:xfrm>
            <a:off x="8484071" y="1043810"/>
            <a:ext cx="749598" cy="712020"/>
            <a:chOff x="8300620" y="899974"/>
            <a:chExt cx="749598" cy="712020"/>
          </a:xfrm>
        </p:grpSpPr>
        <p:pic>
          <p:nvPicPr>
            <p:cNvPr id="118" name="Graphic 117" descr="Clipboard with solid fill">
              <a:extLst>
                <a:ext uri="{FF2B5EF4-FFF2-40B4-BE49-F238E27FC236}">
                  <a16:creationId xmlns:a16="http://schemas.microsoft.com/office/drawing/2014/main" id="{EFDDC90D-2E82-087A-860A-2947E7F6040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8300620" y="1246234"/>
              <a:ext cx="365760" cy="365760"/>
            </a:xfrm>
            <a:prstGeom prst="rect">
              <a:avLst/>
            </a:prstGeom>
          </p:spPr>
        </p:pic>
        <p:pic>
          <p:nvPicPr>
            <p:cNvPr id="126" name="Graphic 125" descr="Fingerprint with solid fill">
              <a:extLst>
                <a:ext uri="{FF2B5EF4-FFF2-40B4-BE49-F238E27FC236}">
                  <a16:creationId xmlns:a16="http://schemas.microsoft.com/office/drawing/2014/main" id="{82EFAB4A-2451-DD96-4FAB-531842EB5F4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8410138" y="899974"/>
              <a:ext cx="640080" cy="640080"/>
            </a:xfrm>
            <a:prstGeom prst="rect">
              <a:avLst/>
            </a:prstGeom>
          </p:spPr>
        </p:pic>
      </p:grpSp>
      <p:pic>
        <p:nvPicPr>
          <p:cNvPr id="128" name="Graphic 127" descr="Badge Tick with solid fill">
            <a:extLst>
              <a:ext uri="{FF2B5EF4-FFF2-40B4-BE49-F238E27FC236}">
                <a16:creationId xmlns:a16="http://schemas.microsoft.com/office/drawing/2014/main" id="{334C1948-1852-08F7-FAB8-551ABBE1AA5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175392" y="1070620"/>
            <a:ext cx="640080" cy="640080"/>
          </a:xfrm>
          <a:prstGeom prst="rect">
            <a:avLst/>
          </a:prstGeom>
        </p:spPr>
      </p:pic>
      <p:sp>
        <p:nvSpPr>
          <p:cNvPr id="130" name="TextBox 129">
            <a:extLst>
              <a:ext uri="{FF2B5EF4-FFF2-40B4-BE49-F238E27FC236}">
                <a16:creationId xmlns:a16="http://schemas.microsoft.com/office/drawing/2014/main" id="{1A8DFA01-03CC-29DB-F329-B3E53CC75D81}"/>
              </a:ext>
            </a:extLst>
          </p:cNvPr>
          <p:cNvSpPr txBox="1"/>
          <p:nvPr/>
        </p:nvSpPr>
        <p:spPr>
          <a:xfrm>
            <a:off x="7154704" y="4570298"/>
            <a:ext cx="339868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Unified observability of BGP-Sentry</a:t>
            </a:r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BF863B58-6982-5765-EC83-1EC669923C39}"/>
              </a:ext>
            </a:extLst>
          </p:cNvPr>
          <p:cNvSpPr txBox="1"/>
          <p:nvPr/>
        </p:nvSpPr>
        <p:spPr>
          <a:xfrm>
            <a:off x="4985602" y="3247868"/>
            <a:ext cx="4833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8E322F71-0DA7-9835-3BA9-3E72E0B535A2}"/>
              </a:ext>
            </a:extLst>
          </p:cNvPr>
          <p:cNvSpPr txBox="1"/>
          <p:nvPr/>
        </p:nvSpPr>
        <p:spPr>
          <a:xfrm>
            <a:off x="102126" y="3232733"/>
            <a:ext cx="4833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</a:p>
        </p:txBody>
      </p:sp>
      <p:grpSp>
        <p:nvGrpSpPr>
          <p:cNvPr id="186" name="Group 185">
            <a:extLst>
              <a:ext uri="{FF2B5EF4-FFF2-40B4-BE49-F238E27FC236}">
                <a16:creationId xmlns:a16="http://schemas.microsoft.com/office/drawing/2014/main" id="{7C35ADCD-2804-CCCD-F467-F8137C56872E}"/>
              </a:ext>
            </a:extLst>
          </p:cNvPr>
          <p:cNvGrpSpPr/>
          <p:nvPr/>
        </p:nvGrpSpPr>
        <p:grpSpPr>
          <a:xfrm rot="2042788">
            <a:off x="2623298" y="5554945"/>
            <a:ext cx="1667405" cy="1548437"/>
            <a:chOff x="7343068" y="720415"/>
            <a:chExt cx="1667405" cy="1548437"/>
          </a:xfrm>
        </p:grpSpPr>
        <p:grpSp>
          <p:nvGrpSpPr>
            <p:cNvPr id="157" name="Group 156">
              <a:extLst>
                <a:ext uri="{FF2B5EF4-FFF2-40B4-BE49-F238E27FC236}">
                  <a16:creationId xmlns:a16="http://schemas.microsoft.com/office/drawing/2014/main" id="{65F6B639-0645-2AF8-021A-710E6CE81983}"/>
                </a:ext>
              </a:extLst>
            </p:cNvPr>
            <p:cNvGrpSpPr/>
            <p:nvPr/>
          </p:nvGrpSpPr>
          <p:grpSpPr>
            <a:xfrm>
              <a:off x="7343068" y="1323981"/>
              <a:ext cx="478291" cy="411480"/>
              <a:chOff x="8029412" y="417324"/>
              <a:chExt cx="478291" cy="411480"/>
            </a:xfrm>
          </p:grpSpPr>
          <p:sp>
            <p:nvSpPr>
              <p:cNvPr id="135" name="Freeform 134">
                <a:extLst>
                  <a:ext uri="{FF2B5EF4-FFF2-40B4-BE49-F238E27FC236}">
                    <a16:creationId xmlns:a16="http://schemas.microsoft.com/office/drawing/2014/main" id="{DF3B662A-509F-6080-EE7D-1760830BB0B8}"/>
                  </a:ext>
                </a:extLst>
              </p:cNvPr>
              <p:cNvSpPr/>
              <p:nvPr/>
            </p:nvSpPr>
            <p:spPr>
              <a:xfrm rot="19551126">
                <a:off x="8029412" y="417324"/>
                <a:ext cx="411480" cy="411480"/>
              </a:xfrm>
              <a:custGeom>
                <a:avLst/>
                <a:gdLst>
                  <a:gd name="csX0" fmla="*/ 685800 w 685800"/>
                  <a:gd name="csY0" fmla="*/ 141461 h 686864"/>
                  <a:gd name="csX1" fmla="*/ 677401 w 685800"/>
                  <a:gd name="csY1" fmla="*/ 137461 h 686864"/>
                  <a:gd name="csX2" fmla="*/ 388730 w 685800"/>
                  <a:gd name="csY2" fmla="*/ 0 h 686864"/>
                  <a:gd name="csX3" fmla="*/ 10940 w 685800"/>
                  <a:gd name="csY3" fmla="*/ 82427 h 686864"/>
                  <a:gd name="csX4" fmla="*/ 0 w 685800"/>
                  <a:gd name="csY4" fmla="*/ 84814 h 686864"/>
                  <a:gd name="csX5" fmla="*/ 0 w 685800"/>
                  <a:gd name="csY5" fmla="*/ 538090 h 686864"/>
                  <a:gd name="csX6" fmla="*/ 268076 w 685800"/>
                  <a:gd name="csY6" fmla="*/ 682441 h 686864"/>
                  <a:gd name="csX7" fmla="*/ 276293 w 685800"/>
                  <a:gd name="csY7" fmla="*/ 686865 h 686864"/>
                  <a:gd name="csX8" fmla="*/ 287126 w 685800"/>
                  <a:gd name="csY8" fmla="*/ 684249 h 686864"/>
                  <a:gd name="csX9" fmla="*/ 685800 w 685800"/>
                  <a:gd name="csY9" fmla="*/ 588017 h 686864"/>
                  <a:gd name="csX10" fmla="*/ 685800 w 685800"/>
                  <a:gd name="csY10" fmla="*/ 141461 h 686864"/>
                  <a:gd name="csX11" fmla="*/ 386423 w 685800"/>
                  <a:gd name="csY11" fmla="*/ 20003 h 686864"/>
                  <a:gd name="csX12" fmla="*/ 647021 w 685800"/>
                  <a:gd name="csY12" fmla="*/ 144098 h 686864"/>
                  <a:gd name="csX13" fmla="*/ 647001 w 685800"/>
                  <a:gd name="csY13" fmla="*/ 144277 h 686864"/>
                  <a:gd name="csX14" fmla="*/ 397097 w 685800"/>
                  <a:gd name="csY14" fmla="*/ 200287 h 686864"/>
                  <a:gd name="csX15" fmla="*/ 397097 w 685800"/>
                  <a:gd name="csY15" fmla="*/ 192743 h 686864"/>
                  <a:gd name="csX16" fmla="*/ 378047 w 685800"/>
                  <a:gd name="csY16" fmla="*/ 192743 h 686864"/>
                  <a:gd name="csX17" fmla="*/ 378047 w 685800"/>
                  <a:gd name="csY17" fmla="*/ 204554 h 686864"/>
                  <a:gd name="csX18" fmla="*/ 278987 w 685800"/>
                  <a:gd name="csY18" fmla="*/ 226757 h 686864"/>
                  <a:gd name="csX19" fmla="*/ 36934 w 685800"/>
                  <a:gd name="csY19" fmla="*/ 96425 h 686864"/>
                  <a:gd name="csX20" fmla="*/ 36959 w 685800"/>
                  <a:gd name="csY20" fmla="*/ 96248 h 686864"/>
                  <a:gd name="csX21" fmla="*/ 19050 w 685800"/>
                  <a:gd name="csY21" fmla="*/ 526713 h 686864"/>
                  <a:gd name="csX22" fmla="*/ 19050 w 685800"/>
                  <a:gd name="csY22" fmla="*/ 108592 h 686864"/>
                  <a:gd name="csX23" fmla="*/ 19145 w 685800"/>
                  <a:gd name="csY23" fmla="*/ 108496 h 686864"/>
                  <a:gd name="csX24" fmla="*/ 19190 w 685800"/>
                  <a:gd name="csY24" fmla="*/ 108508 h 686864"/>
                  <a:gd name="csX25" fmla="*/ 268078 w 685800"/>
                  <a:gd name="csY25" fmla="*/ 242525 h 686864"/>
                  <a:gd name="csX26" fmla="*/ 268078 w 685800"/>
                  <a:gd name="csY26" fmla="*/ 660644 h 686864"/>
                  <a:gd name="csX27" fmla="*/ 267983 w 685800"/>
                  <a:gd name="csY27" fmla="*/ 660739 h 686864"/>
                  <a:gd name="csX28" fmla="*/ 267938 w 685800"/>
                  <a:gd name="csY28" fmla="*/ 660727 h 686864"/>
                  <a:gd name="csX29" fmla="*/ 666750 w 685800"/>
                  <a:gd name="csY29" fmla="*/ 573024 h 686864"/>
                  <a:gd name="csX30" fmla="*/ 287126 w 685800"/>
                  <a:gd name="csY30" fmla="*/ 664655 h 686864"/>
                  <a:gd name="csX31" fmla="*/ 287126 w 685800"/>
                  <a:gd name="csY31" fmla="*/ 481584 h 686864"/>
                  <a:gd name="csX32" fmla="*/ 309302 w 685800"/>
                  <a:gd name="csY32" fmla="*/ 476744 h 686864"/>
                  <a:gd name="csX33" fmla="*/ 305247 w 685800"/>
                  <a:gd name="csY33" fmla="*/ 458132 h 686864"/>
                  <a:gd name="csX34" fmla="*/ 287126 w 685800"/>
                  <a:gd name="csY34" fmla="*/ 462086 h 686864"/>
                  <a:gd name="csX35" fmla="*/ 287126 w 685800"/>
                  <a:gd name="csY35" fmla="*/ 244461 h 686864"/>
                  <a:gd name="csX36" fmla="*/ 378051 w 685800"/>
                  <a:gd name="csY36" fmla="*/ 224078 h 686864"/>
                  <a:gd name="csX37" fmla="*/ 378051 w 685800"/>
                  <a:gd name="csY37" fmla="*/ 230840 h 686864"/>
                  <a:gd name="csX38" fmla="*/ 397101 w 685800"/>
                  <a:gd name="csY38" fmla="*/ 230840 h 686864"/>
                  <a:gd name="csX39" fmla="*/ 397101 w 685800"/>
                  <a:gd name="csY39" fmla="*/ 219811 h 686864"/>
                  <a:gd name="csX40" fmla="*/ 666750 w 685800"/>
                  <a:gd name="csY40" fmla="*/ 159373 h 68686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  <a:cxn ang="0">
                    <a:pos x="csX26" y="csY26"/>
                  </a:cxn>
                  <a:cxn ang="0">
                    <a:pos x="csX27" y="csY27"/>
                  </a:cxn>
                  <a:cxn ang="0">
                    <a:pos x="csX28" y="csY28"/>
                  </a:cxn>
                  <a:cxn ang="0">
                    <a:pos x="csX29" y="csY29"/>
                  </a:cxn>
                  <a:cxn ang="0">
                    <a:pos x="csX30" y="csY30"/>
                  </a:cxn>
                  <a:cxn ang="0">
                    <a:pos x="csX31" y="csY31"/>
                  </a:cxn>
                  <a:cxn ang="0">
                    <a:pos x="csX32" y="csY32"/>
                  </a:cxn>
                  <a:cxn ang="0">
                    <a:pos x="csX33" y="csY33"/>
                  </a:cxn>
                  <a:cxn ang="0">
                    <a:pos x="csX34" y="csY34"/>
                  </a:cxn>
                  <a:cxn ang="0">
                    <a:pos x="csX35" y="csY35"/>
                  </a:cxn>
                  <a:cxn ang="0">
                    <a:pos x="csX36" y="csY36"/>
                  </a:cxn>
                  <a:cxn ang="0">
                    <a:pos x="csX37" y="csY37"/>
                  </a:cxn>
                  <a:cxn ang="0">
                    <a:pos x="csX38" y="csY38"/>
                  </a:cxn>
                  <a:cxn ang="0">
                    <a:pos x="csX39" y="csY39"/>
                  </a:cxn>
                  <a:cxn ang="0">
                    <a:pos x="csX40" y="csY40"/>
                  </a:cxn>
                </a:cxnLst>
                <a:rect l="l" t="t" r="r" b="b"/>
                <a:pathLst>
                  <a:path w="685800" h="686864">
                    <a:moveTo>
                      <a:pt x="685800" y="141461"/>
                    </a:moveTo>
                    <a:lnTo>
                      <a:pt x="677401" y="137461"/>
                    </a:lnTo>
                    <a:lnTo>
                      <a:pt x="388730" y="0"/>
                    </a:lnTo>
                    <a:lnTo>
                      <a:pt x="10940" y="82427"/>
                    </a:lnTo>
                    <a:lnTo>
                      <a:pt x="0" y="84814"/>
                    </a:lnTo>
                    <a:lnTo>
                      <a:pt x="0" y="538090"/>
                    </a:lnTo>
                    <a:lnTo>
                      <a:pt x="268076" y="682441"/>
                    </a:lnTo>
                    <a:lnTo>
                      <a:pt x="276293" y="686865"/>
                    </a:lnTo>
                    <a:lnTo>
                      <a:pt x="287126" y="684249"/>
                    </a:lnTo>
                    <a:lnTo>
                      <a:pt x="685800" y="588017"/>
                    </a:lnTo>
                    <a:lnTo>
                      <a:pt x="685800" y="141461"/>
                    </a:lnTo>
                    <a:close/>
                    <a:moveTo>
                      <a:pt x="386423" y="20003"/>
                    </a:moveTo>
                    <a:lnTo>
                      <a:pt x="647021" y="144098"/>
                    </a:lnTo>
                    <a:cubicBezTo>
                      <a:pt x="647158" y="144163"/>
                      <a:pt x="647149" y="144244"/>
                      <a:pt x="647001" y="144277"/>
                    </a:cubicBezTo>
                    <a:lnTo>
                      <a:pt x="397097" y="200287"/>
                    </a:lnTo>
                    <a:lnTo>
                      <a:pt x="397097" y="192743"/>
                    </a:lnTo>
                    <a:lnTo>
                      <a:pt x="378047" y="192743"/>
                    </a:lnTo>
                    <a:lnTo>
                      <a:pt x="378047" y="204554"/>
                    </a:lnTo>
                    <a:lnTo>
                      <a:pt x="278987" y="226757"/>
                    </a:lnTo>
                    <a:lnTo>
                      <a:pt x="36934" y="96425"/>
                    </a:lnTo>
                    <a:cubicBezTo>
                      <a:pt x="36809" y="96358"/>
                      <a:pt x="36820" y="96279"/>
                      <a:pt x="36959" y="96248"/>
                    </a:cubicBezTo>
                    <a:close/>
                    <a:moveTo>
                      <a:pt x="19050" y="526713"/>
                    </a:moveTo>
                    <a:lnTo>
                      <a:pt x="19050" y="108592"/>
                    </a:lnTo>
                    <a:cubicBezTo>
                      <a:pt x="19050" y="108539"/>
                      <a:pt x="19093" y="108496"/>
                      <a:pt x="19145" y="108496"/>
                    </a:cubicBezTo>
                    <a:cubicBezTo>
                      <a:pt x="19161" y="108496"/>
                      <a:pt x="19177" y="108500"/>
                      <a:pt x="19190" y="108508"/>
                    </a:cubicBezTo>
                    <a:lnTo>
                      <a:pt x="268078" y="242525"/>
                    </a:lnTo>
                    <a:lnTo>
                      <a:pt x="268078" y="660644"/>
                    </a:lnTo>
                    <a:cubicBezTo>
                      <a:pt x="268078" y="660696"/>
                      <a:pt x="268035" y="660739"/>
                      <a:pt x="267983" y="660739"/>
                    </a:cubicBezTo>
                    <a:cubicBezTo>
                      <a:pt x="267967" y="660739"/>
                      <a:pt x="267952" y="660735"/>
                      <a:pt x="267938" y="660727"/>
                    </a:cubicBezTo>
                    <a:close/>
                    <a:moveTo>
                      <a:pt x="666750" y="573024"/>
                    </a:moveTo>
                    <a:lnTo>
                      <a:pt x="287126" y="664655"/>
                    </a:lnTo>
                    <a:lnTo>
                      <a:pt x="287126" y="481584"/>
                    </a:lnTo>
                    <a:lnTo>
                      <a:pt x="309302" y="476744"/>
                    </a:lnTo>
                    <a:lnTo>
                      <a:pt x="305247" y="458132"/>
                    </a:lnTo>
                    <a:lnTo>
                      <a:pt x="287126" y="462086"/>
                    </a:lnTo>
                    <a:lnTo>
                      <a:pt x="287126" y="244461"/>
                    </a:lnTo>
                    <a:lnTo>
                      <a:pt x="378051" y="224078"/>
                    </a:lnTo>
                    <a:lnTo>
                      <a:pt x="378051" y="230840"/>
                    </a:lnTo>
                    <a:lnTo>
                      <a:pt x="397101" y="230840"/>
                    </a:lnTo>
                    <a:lnTo>
                      <a:pt x="397101" y="219811"/>
                    </a:lnTo>
                    <a:lnTo>
                      <a:pt x="666750" y="159373"/>
                    </a:lnTo>
                    <a:close/>
                  </a:path>
                </a:pathLst>
              </a:custGeom>
              <a:solidFill>
                <a:srgbClr val="000000"/>
              </a:solidFill>
              <a:ln w="3175" cap="flat">
                <a:solidFill>
                  <a:schemeClr val="tx1">
                    <a:lumMod val="50000"/>
                    <a:lumOff val="50000"/>
                  </a:schemeClr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156" name="TextBox 155">
                <a:extLst>
                  <a:ext uri="{FF2B5EF4-FFF2-40B4-BE49-F238E27FC236}">
                    <a16:creationId xmlns:a16="http://schemas.microsoft.com/office/drawing/2014/main" id="{D6690678-6198-74FA-2F41-8F9DA23D4439}"/>
                  </a:ext>
                </a:extLst>
              </p:cNvPr>
              <p:cNvSpPr txBox="1"/>
              <p:nvPr/>
            </p:nvSpPr>
            <p:spPr>
              <a:xfrm rot="19310944">
                <a:off x="8135485" y="443867"/>
                <a:ext cx="37221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latin typeface="Arial" panose="020B0604020202020204" pitchFamily="34" charset="0"/>
                    <a:cs typeface="Arial" panose="020B0604020202020204" pitchFamily="34" charset="0"/>
                  </a:rPr>
                  <a:t>B</a:t>
                </a:r>
                <a:r>
                  <a:rPr lang="en-US" sz="1400" baseline="-25000" dirty="0">
                    <a:latin typeface="Arial" panose="020B0604020202020204" pitchFamily="34" charset="0"/>
                    <a:cs typeface="Arial" panose="020B0604020202020204" pitchFamily="34" charset="0"/>
                  </a:rPr>
                  <a:t>1</a:t>
                </a:r>
                <a:endParaRPr lang="en-US" sz="1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158" name="Group 157">
              <a:extLst>
                <a:ext uri="{FF2B5EF4-FFF2-40B4-BE49-F238E27FC236}">
                  <a16:creationId xmlns:a16="http://schemas.microsoft.com/office/drawing/2014/main" id="{C5A7E439-50BB-AA29-4BBC-0CFC595DD41A}"/>
                </a:ext>
              </a:extLst>
            </p:cNvPr>
            <p:cNvGrpSpPr/>
            <p:nvPr/>
          </p:nvGrpSpPr>
          <p:grpSpPr>
            <a:xfrm>
              <a:off x="7948659" y="1323981"/>
              <a:ext cx="470954" cy="411480"/>
              <a:chOff x="8029412" y="417324"/>
              <a:chExt cx="470954" cy="411480"/>
            </a:xfrm>
          </p:grpSpPr>
          <p:sp>
            <p:nvSpPr>
              <p:cNvPr id="159" name="Freeform 158">
                <a:extLst>
                  <a:ext uri="{FF2B5EF4-FFF2-40B4-BE49-F238E27FC236}">
                    <a16:creationId xmlns:a16="http://schemas.microsoft.com/office/drawing/2014/main" id="{BD7FF36F-6015-E41A-2C8F-DB07C35FC051}"/>
                  </a:ext>
                </a:extLst>
              </p:cNvPr>
              <p:cNvSpPr/>
              <p:nvPr/>
            </p:nvSpPr>
            <p:spPr>
              <a:xfrm rot="19310944">
                <a:off x="8029412" y="417324"/>
                <a:ext cx="411480" cy="411480"/>
              </a:xfrm>
              <a:custGeom>
                <a:avLst/>
                <a:gdLst>
                  <a:gd name="csX0" fmla="*/ 685800 w 685800"/>
                  <a:gd name="csY0" fmla="*/ 141461 h 686864"/>
                  <a:gd name="csX1" fmla="*/ 677401 w 685800"/>
                  <a:gd name="csY1" fmla="*/ 137461 h 686864"/>
                  <a:gd name="csX2" fmla="*/ 388730 w 685800"/>
                  <a:gd name="csY2" fmla="*/ 0 h 686864"/>
                  <a:gd name="csX3" fmla="*/ 10940 w 685800"/>
                  <a:gd name="csY3" fmla="*/ 82427 h 686864"/>
                  <a:gd name="csX4" fmla="*/ 0 w 685800"/>
                  <a:gd name="csY4" fmla="*/ 84814 h 686864"/>
                  <a:gd name="csX5" fmla="*/ 0 w 685800"/>
                  <a:gd name="csY5" fmla="*/ 538090 h 686864"/>
                  <a:gd name="csX6" fmla="*/ 268076 w 685800"/>
                  <a:gd name="csY6" fmla="*/ 682441 h 686864"/>
                  <a:gd name="csX7" fmla="*/ 276293 w 685800"/>
                  <a:gd name="csY7" fmla="*/ 686865 h 686864"/>
                  <a:gd name="csX8" fmla="*/ 287126 w 685800"/>
                  <a:gd name="csY8" fmla="*/ 684249 h 686864"/>
                  <a:gd name="csX9" fmla="*/ 685800 w 685800"/>
                  <a:gd name="csY9" fmla="*/ 588017 h 686864"/>
                  <a:gd name="csX10" fmla="*/ 685800 w 685800"/>
                  <a:gd name="csY10" fmla="*/ 141461 h 686864"/>
                  <a:gd name="csX11" fmla="*/ 386423 w 685800"/>
                  <a:gd name="csY11" fmla="*/ 20003 h 686864"/>
                  <a:gd name="csX12" fmla="*/ 647021 w 685800"/>
                  <a:gd name="csY12" fmla="*/ 144098 h 686864"/>
                  <a:gd name="csX13" fmla="*/ 647001 w 685800"/>
                  <a:gd name="csY13" fmla="*/ 144277 h 686864"/>
                  <a:gd name="csX14" fmla="*/ 397097 w 685800"/>
                  <a:gd name="csY14" fmla="*/ 200287 h 686864"/>
                  <a:gd name="csX15" fmla="*/ 397097 w 685800"/>
                  <a:gd name="csY15" fmla="*/ 192743 h 686864"/>
                  <a:gd name="csX16" fmla="*/ 378047 w 685800"/>
                  <a:gd name="csY16" fmla="*/ 192743 h 686864"/>
                  <a:gd name="csX17" fmla="*/ 378047 w 685800"/>
                  <a:gd name="csY17" fmla="*/ 204554 h 686864"/>
                  <a:gd name="csX18" fmla="*/ 278987 w 685800"/>
                  <a:gd name="csY18" fmla="*/ 226757 h 686864"/>
                  <a:gd name="csX19" fmla="*/ 36934 w 685800"/>
                  <a:gd name="csY19" fmla="*/ 96425 h 686864"/>
                  <a:gd name="csX20" fmla="*/ 36959 w 685800"/>
                  <a:gd name="csY20" fmla="*/ 96248 h 686864"/>
                  <a:gd name="csX21" fmla="*/ 19050 w 685800"/>
                  <a:gd name="csY21" fmla="*/ 526713 h 686864"/>
                  <a:gd name="csX22" fmla="*/ 19050 w 685800"/>
                  <a:gd name="csY22" fmla="*/ 108592 h 686864"/>
                  <a:gd name="csX23" fmla="*/ 19145 w 685800"/>
                  <a:gd name="csY23" fmla="*/ 108496 h 686864"/>
                  <a:gd name="csX24" fmla="*/ 19190 w 685800"/>
                  <a:gd name="csY24" fmla="*/ 108508 h 686864"/>
                  <a:gd name="csX25" fmla="*/ 268078 w 685800"/>
                  <a:gd name="csY25" fmla="*/ 242525 h 686864"/>
                  <a:gd name="csX26" fmla="*/ 268078 w 685800"/>
                  <a:gd name="csY26" fmla="*/ 660644 h 686864"/>
                  <a:gd name="csX27" fmla="*/ 267983 w 685800"/>
                  <a:gd name="csY27" fmla="*/ 660739 h 686864"/>
                  <a:gd name="csX28" fmla="*/ 267938 w 685800"/>
                  <a:gd name="csY28" fmla="*/ 660727 h 686864"/>
                  <a:gd name="csX29" fmla="*/ 666750 w 685800"/>
                  <a:gd name="csY29" fmla="*/ 573024 h 686864"/>
                  <a:gd name="csX30" fmla="*/ 287126 w 685800"/>
                  <a:gd name="csY30" fmla="*/ 664655 h 686864"/>
                  <a:gd name="csX31" fmla="*/ 287126 w 685800"/>
                  <a:gd name="csY31" fmla="*/ 481584 h 686864"/>
                  <a:gd name="csX32" fmla="*/ 309302 w 685800"/>
                  <a:gd name="csY32" fmla="*/ 476744 h 686864"/>
                  <a:gd name="csX33" fmla="*/ 305247 w 685800"/>
                  <a:gd name="csY33" fmla="*/ 458132 h 686864"/>
                  <a:gd name="csX34" fmla="*/ 287126 w 685800"/>
                  <a:gd name="csY34" fmla="*/ 462086 h 686864"/>
                  <a:gd name="csX35" fmla="*/ 287126 w 685800"/>
                  <a:gd name="csY35" fmla="*/ 244461 h 686864"/>
                  <a:gd name="csX36" fmla="*/ 378051 w 685800"/>
                  <a:gd name="csY36" fmla="*/ 224078 h 686864"/>
                  <a:gd name="csX37" fmla="*/ 378051 w 685800"/>
                  <a:gd name="csY37" fmla="*/ 230840 h 686864"/>
                  <a:gd name="csX38" fmla="*/ 397101 w 685800"/>
                  <a:gd name="csY38" fmla="*/ 230840 h 686864"/>
                  <a:gd name="csX39" fmla="*/ 397101 w 685800"/>
                  <a:gd name="csY39" fmla="*/ 219811 h 686864"/>
                  <a:gd name="csX40" fmla="*/ 666750 w 685800"/>
                  <a:gd name="csY40" fmla="*/ 159373 h 68686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  <a:cxn ang="0">
                    <a:pos x="csX26" y="csY26"/>
                  </a:cxn>
                  <a:cxn ang="0">
                    <a:pos x="csX27" y="csY27"/>
                  </a:cxn>
                  <a:cxn ang="0">
                    <a:pos x="csX28" y="csY28"/>
                  </a:cxn>
                  <a:cxn ang="0">
                    <a:pos x="csX29" y="csY29"/>
                  </a:cxn>
                  <a:cxn ang="0">
                    <a:pos x="csX30" y="csY30"/>
                  </a:cxn>
                  <a:cxn ang="0">
                    <a:pos x="csX31" y="csY31"/>
                  </a:cxn>
                  <a:cxn ang="0">
                    <a:pos x="csX32" y="csY32"/>
                  </a:cxn>
                  <a:cxn ang="0">
                    <a:pos x="csX33" y="csY33"/>
                  </a:cxn>
                  <a:cxn ang="0">
                    <a:pos x="csX34" y="csY34"/>
                  </a:cxn>
                  <a:cxn ang="0">
                    <a:pos x="csX35" y="csY35"/>
                  </a:cxn>
                  <a:cxn ang="0">
                    <a:pos x="csX36" y="csY36"/>
                  </a:cxn>
                  <a:cxn ang="0">
                    <a:pos x="csX37" y="csY37"/>
                  </a:cxn>
                  <a:cxn ang="0">
                    <a:pos x="csX38" y="csY38"/>
                  </a:cxn>
                  <a:cxn ang="0">
                    <a:pos x="csX39" y="csY39"/>
                  </a:cxn>
                  <a:cxn ang="0">
                    <a:pos x="csX40" y="csY40"/>
                  </a:cxn>
                </a:cxnLst>
                <a:rect l="l" t="t" r="r" b="b"/>
                <a:pathLst>
                  <a:path w="685800" h="686864">
                    <a:moveTo>
                      <a:pt x="685800" y="141461"/>
                    </a:moveTo>
                    <a:lnTo>
                      <a:pt x="677401" y="137461"/>
                    </a:lnTo>
                    <a:lnTo>
                      <a:pt x="388730" y="0"/>
                    </a:lnTo>
                    <a:lnTo>
                      <a:pt x="10940" y="82427"/>
                    </a:lnTo>
                    <a:lnTo>
                      <a:pt x="0" y="84814"/>
                    </a:lnTo>
                    <a:lnTo>
                      <a:pt x="0" y="538090"/>
                    </a:lnTo>
                    <a:lnTo>
                      <a:pt x="268076" y="682441"/>
                    </a:lnTo>
                    <a:lnTo>
                      <a:pt x="276293" y="686865"/>
                    </a:lnTo>
                    <a:lnTo>
                      <a:pt x="287126" y="684249"/>
                    </a:lnTo>
                    <a:lnTo>
                      <a:pt x="685800" y="588017"/>
                    </a:lnTo>
                    <a:lnTo>
                      <a:pt x="685800" y="141461"/>
                    </a:lnTo>
                    <a:close/>
                    <a:moveTo>
                      <a:pt x="386423" y="20003"/>
                    </a:moveTo>
                    <a:lnTo>
                      <a:pt x="647021" y="144098"/>
                    </a:lnTo>
                    <a:cubicBezTo>
                      <a:pt x="647158" y="144163"/>
                      <a:pt x="647149" y="144244"/>
                      <a:pt x="647001" y="144277"/>
                    </a:cubicBezTo>
                    <a:lnTo>
                      <a:pt x="397097" y="200287"/>
                    </a:lnTo>
                    <a:lnTo>
                      <a:pt x="397097" y="192743"/>
                    </a:lnTo>
                    <a:lnTo>
                      <a:pt x="378047" y="192743"/>
                    </a:lnTo>
                    <a:lnTo>
                      <a:pt x="378047" y="204554"/>
                    </a:lnTo>
                    <a:lnTo>
                      <a:pt x="278987" y="226757"/>
                    </a:lnTo>
                    <a:lnTo>
                      <a:pt x="36934" y="96425"/>
                    </a:lnTo>
                    <a:cubicBezTo>
                      <a:pt x="36809" y="96358"/>
                      <a:pt x="36820" y="96279"/>
                      <a:pt x="36959" y="96248"/>
                    </a:cubicBezTo>
                    <a:close/>
                    <a:moveTo>
                      <a:pt x="19050" y="526713"/>
                    </a:moveTo>
                    <a:lnTo>
                      <a:pt x="19050" y="108592"/>
                    </a:lnTo>
                    <a:cubicBezTo>
                      <a:pt x="19050" y="108539"/>
                      <a:pt x="19093" y="108496"/>
                      <a:pt x="19145" y="108496"/>
                    </a:cubicBezTo>
                    <a:cubicBezTo>
                      <a:pt x="19161" y="108496"/>
                      <a:pt x="19177" y="108500"/>
                      <a:pt x="19190" y="108508"/>
                    </a:cubicBezTo>
                    <a:lnTo>
                      <a:pt x="268078" y="242525"/>
                    </a:lnTo>
                    <a:lnTo>
                      <a:pt x="268078" y="660644"/>
                    </a:lnTo>
                    <a:cubicBezTo>
                      <a:pt x="268078" y="660696"/>
                      <a:pt x="268035" y="660739"/>
                      <a:pt x="267983" y="660739"/>
                    </a:cubicBezTo>
                    <a:cubicBezTo>
                      <a:pt x="267967" y="660739"/>
                      <a:pt x="267952" y="660735"/>
                      <a:pt x="267938" y="660727"/>
                    </a:cubicBezTo>
                    <a:close/>
                    <a:moveTo>
                      <a:pt x="666750" y="573024"/>
                    </a:moveTo>
                    <a:lnTo>
                      <a:pt x="287126" y="664655"/>
                    </a:lnTo>
                    <a:lnTo>
                      <a:pt x="287126" y="481584"/>
                    </a:lnTo>
                    <a:lnTo>
                      <a:pt x="309302" y="476744"/>
                    </a:lnTo>
                    <a:lnTo>
                      <a:pt x="305247" y="458132"/>
                    </a:lnTo>
                    <a:lnTo>
                      <a:pt x="287126" y="462086"/>
                    </a:lnTo>
                    <a:lnTo>
                      <a:pt x="287126" y="244461"/>
                    </a:lnTo>
                    <a:lnTo>
                      <a:pt x="378051" y="224078"/>
                    </a:lnTo>
                    <a:lnTo>
                      <a:pt x="378051" y="230840"/>
                    </a:lnTo>
                    <a:lnTo>
                      <a:pt x="397101" y="230840"/>
                    </a:lnTo>
                    <a:lnTo>
                      <a:pt x="397101" y="219811"/>
                    </a:lnTo>
                    <a:lnTo>
                      <a:pt x="666750" y="159373"/>
                    </a:lnTo>
                    <a:close/>
                  </a:path>
                </a:pathLst>
              </a:custGeom>
              <a:solidFill>
                <a:srgbClr val="000000"/>
              </a:solidFill>
              <a:ln w="3175" cap="flat">
                <a:solidFill>
                  <a:schemeClr val="tx1">
                    <a:lumMod val="50000"/>
                    <a:lumOff val="50000"/>
                  </a:schemeClr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160" name="TextBox 159">
                <a:extLst>
                  <a:ext uri="{FF2B5EF4-FFF2-40B4-BE49-F238E27FC236}">
                    <a16:creationId xmlns:a16="http://schemas.microsoft.com/office/drawing/2014/main" id="{8D529BEE-32D6-FF1E-A242-5A55BB913316}"/>
                  </a:ext>
                </a:extLst>
              </p:cNvPr>
              <p:cNvSpPr txBox="1"/>
              <p:nvPr/>
            </p:nvSpPr>
            <p:spPr>
              <a:xfrm rot="19310944">
                <a:off x="8128148" y="434531"/>
                <a:ext cx="37221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latin typeface="Arial" panose="020B0604020202020204" pitchFamily="34" charset="0"/>
                    <a:cs typeface="Arial" panose="020B0604020202020204" pitchFamily="34" charset="0"/>
                  </a:rPr>
                  <a:t>B</a:t>
                </a:r>
                <a:r>
                  <a:rPr lang="en-US" sz="1400" baseline="-25000" dirty="0">
                    <a:latin typeface="Arial" panose="020B0604020202020204" pitchFamily="34" charset="0"/>
                    <a:cs typeface="Arial" panose="020B0604020202020204" pitchFamily="34" charset="0"/>
                  </a:rPr>
                  <a:t>2</a:t>
                </a:r>
                <a:endParaRPr lang="en-US" sz="1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161" name="Group 160">
              <a:extLst>
                <a:ext uri="{FF2B5EF4-FFF2-40B4-BE49-F238E27FC236}">
                  <a16:creationId xmlns:a16="http://schemas.microsoft.com/office/drawing/2014/main" id="{5D847D57-3EEC-A91F-0261-8BC1EF5F09E8}"/>
                </a:ext>
              </a:extLst>
            </p:cNvPr>
            <p:cNvGrpSpPr/>
            <p:nvPr/>
          </p:nvGrpSpPr>
          <p:grpSpPr>
            <a:xfrm>
              <a:off x="8513062" y="1317377"/>
              <a:ext cx="494964" cy="411480"/>
              <a:chOff x="8029412" y="417324"/>
              <a:chExt cx="494964" cy="411480"/>
            </a:xfrm>
          </p:grpSpPr>
          <p:sp>
            <p:nvSpPr>
              <p:cNvPr id="162" name="Freeform 161">
                <a:extLst>
                  <a:ext uri="{FF2B5EF4-FFF2-40B4-BE49-F238E27FC236}">
                    <a16:creationId xmlns:a16="http://schemas.microsoft.com/office/drawing/2014/main" id="{919A2678-E56E-4469-8DC0-1BC0B0988962}"/>
                  </a:ext>
                </a:extLst>
              </p:cNvPr>
              <p:cNvSpPr/>
              <p:nvPr/>
            </p:nvSpPr>
            <p:spPr>
              <a:xfrm rot="19310944">
                <a:off x="8029412" y="417324"/>
                <a:ext cx="411480" cy="411480"/>
              </a:xfrm>
              <a:custGeom>
                <a:avLst/>
                <a:gdLst>
                  <a:gd name="csX0" fmla="*/ 685800 w 685800"/>
                  <a:gd name="csY0" fmla="*/ 141461 h 686864"/>
                  <a:gd name="csX1" fmla="*/ 677401 w 685800"/>
                  <a:gd name="csY1" fmla="*/ 137461 h 686864"/>
                  <a:gd name="csX2" fmla="*/ 388730 w 685800"/>
                  <a:gd name="csY2" fmla="*/ 0 h 686864"/>
                  <a:gd name="csX3" fmla="*/ 10940 w 685800"/>
                  <a:gd name="csY3" fmla="*/ 82427 h 686864"/>
                  <a:gd name="csX4" fmla="*/ 0 w 685800"/>
                  <a:gd name="csY4" fmla="*/ 84814 h 686864"/>
                  <a:gd name="csX5" fmla="*/ 0 w 685800"/>
                  <a:gd name="csY5" fmla="*/ 538090 h 686864"/>
                  <a:gd name="csX6" fmla="*/ 268076 w 685800"/>
                  <a:gd name="csY6" fmla="*/ 682441 h 686864"/>
                  <a:gd name="csX7" fmla="*/ 276293 w 685800"/>
                  <a:gd name="csY7" fmla="*/ 686865 h 686864"/>
                  <a:gd name="csX8" fmla="*/ 287126 w 685800"/>
                  <a:gd name="csY8" fmla="*/ 684249 h 686864"/>
                  <a:gd name="csX9" fmla="*/ 685800 w 685800"/>
                  <a:gd name="csY9" fmla="*/ 588017 h 686864"/>
                  <a:gd name="csX10" fmla="*/ 685800 w 685800"/>
                  <a:gd name="csY10" fmla="*/ 141461 h 686864"/>
                  <a:gd name="csX11" fmla="*/ 386423 w 685800"/>
                  <a:gd name="csY11" fmla="*/ 20003 h 686864"/>
                  <a:gd name="csX12" fmla="*/ 647021 w 685800"/>
                  <a:gd name="csY12" fmla="*/ 144098 h 686864"/>
                  <a:gd name="csX13" fmla="*/ 647001 w 685800"/>
                  <a:gd name="csY13" fmla="*/ 144277 h 686864"/>
                  <a:gd name="csX14" fmla="*/ 397097 w 685800"/>
                  <a:gd name="csY14" fmla="*/ 200287 h 686864"/>
                  <a:gd name="csX15" fmla="*/ 397097 w 685800"/>
                  <a:gd name="csY15" fmla="*/ 192743 h 686864"/>
                  <a:gd name="csX16" fmla="*/ 378047 w 685800"/>
                  <a:gd name="csY16" fmla="*/ 192743 h 686864"/>
                  <a:gd name="csX17" fmla="*/ 378047 w 685800"/>
                  <a:gd name="csY17" fmla="*/ 204554 h 686864"/>
                  <a:gd name="csX18" fmla="*/ 278987 w 685800"/>
                  <a:gd name="csY18" fmla="*/ 226757 h 686864"/>
                  <a:gd name="csX19" fmla="*/ 36934 w 685800"/>
                  <a:gd name="csY19" fmla="*/ 96425 h 686864"/>
                  <a:gd name="csX20" fmla="*/ 36959 w 685800"/>
                  <a:gd name="csY20" fmla="*/ 96248 h 686864"/>
                  <a:gd name="csX21" fmla="*/ 19050 w 685800"/>
                  <a:gd name="csY21" fmla="*/ 526713 h 686864"/>
                  <a:gd name="csX22" fmla="*/ 19050 w 685800"/>
                  <a:gd name="csY22" fmla="*/ 108592 h 686864"/>
                  <a:gd name="csX23" fmla="*/ 19145 w 685800"/>
                  <a:gd name="csY23" fmla="*/ 108496 h 686864"/>
                  <a:gd name="csX24" fmla="*/ 19190 w 685800"/>
                  <a:gd name="csY24" fmla="*/ 108508 h 686864"/>
                  <a:gd name="csX25" fmla="*/ 268078 w 685800"/>
                  <a:gd name="csY25" fmla="*/ 242525 h 686864"/>
                  <a:gd name="csX26" fmla="*/ 268078 w 685800"/>
                  <a:gd name="csY26" fmla="*/ 660644 h 686864"/>
                  <a:gd name="csX27" fmla="*/ 267983 w 685800"/>
                  <a:gd name="csY27" fmla="*/ 660739 h 686864"/>
                  <a:gd name="csX28" fmla="*/ 267938 w 685800"/>
                  <a:gd name="csY28" fmla="*/ 660727 h 686864"/>
                  <a:gd name="csX29" fmla="*/ 666750 w 685800"/>
                  <a:gd name="csY29" fmla="*/ 573024 h 686864"/>
                  <a:gd name="csX30" fmla="*/ 287126 w 685800"/>
                  <a:gd name="csY30" fmla="*/ 664655 h 686864"/>
                  <a:gd name="csX31" fmla="*/ 287126 w 685800"/>
                  <a:gd name="csY31" fmla="*/ 481584 h 686864"/>
                  <a:gd name="csX32" fmla="*/ 309302 w 685800"/>
                  <a:gd name="csY32" fmla="*/ 476744 h 686864"/>
                  <a:gd name="csX33" fmla="*/ 305247 w 685800"/>
                  <a:gd name="csY33" fmla="*/ 458132 h 686864"/>
                  <a:gd name="csX34" fmla="*/ 287126 w 685800"/>
                  <a:gd name="csY34" fmla="*/ 462086 h 686864"/>
                  <a:gd name="csX35" fmla="*/ 287126 w 685800"/>
                  <a:gd name="csY35" fmla="*/ 244461 h 686864"/>
                  <a:gd name="csX36" fmla="*/ 378051 w 685800"/>
                  <a:gd name="csY36" fmla="*/ 224078 h 686864"/>
                  <a:gd name="csX37" fmla="*/ 378051 w 685800"/>
                  <a:gd name="csY37" fmla="*/ 230840 h 686864"/>
                  <a:gd name="csX38" fmla="*/ 397101 w 685800"/>
                  <a:gd name="csY38" fmla="*/ 230840 h 686864"/>
                  <a:gd name="csX39" fmla="*/ 397101 w 685800"/>
                  <a:gd name="csY39" fmla="*/ 219811 h 686864"/>
                  <a:gd name="csX40" fmla="*/ 666750 w 685800"/>
                  <a:gd name="csY40" fmla="*/ 159373 h 68686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  <a:cxn ang="0">
                    <a:pos x="csX26" y="csY26"/>
                  </a:cxn>
                  <a:cxn ang="0">
                    <a:pos x="csX27" y="csY27"/>
                  </a:cxn>
                  <a:cxn ang="0">
                    <a:pos x="csX28" y="csY28"/>
                  </a:cxn>
                  <a:cxn ang="0">
                    <a:pos x="csX29" y="csY29"/>
                  </a:cxn>
                  <a:cxn ang="0">
                    <a:pos x="csX30" y="csY30"/>
                  </a:cxn>
                  <a:cxn ang="0">
                    <a:pos x="csX31" y="csY31"/>
                  </a:cxn>
                  <a:cxn ang="0">
                    <a:pos x="csX32" y="csY32"/>
                  </a:cxn>
                  <a:cxn ang="0">
                    <a:pos x="csX33" y="csY33"/>
                  </a:cxn>
                  <a:cxn ang="0">
                    <a:pos x="csX34" y="csY34"/>
                  </a:cxn>
                  <a:cxn ang="0">
                    <a:pos x="csX35" y="csY35"/>
                  </a:cxn>
                  <a:cxn ang="0">
                    <a:pos x="csX36" y="csY36"/>
                  </a:cxn>
                  <a:cxn ang="0">
                    <a:pos x="csX37" y="csY37"/>
                  </a:cxn>
                  <a:cxn ang="0">
                    <a:pos x="csX38" y="csY38"/>
                  </a:cxn>
                  <a:cxn ang="0">
                    <a:pos x="csX39" y="csY39"/>
                  </a:cxn>
                  <a:cxn ang="0">
                    <a:pos x="csX40" y="csY40"/>
                  </a:cxn>
                </a:cxnLst>
                <a:rect l="l" t="t" r="r" b="b"/>
                <a:pathLst>
                  <a:path w="685800" h="686864">
                    <a:moveTo>
                      <a:pt x="685800" y="141461"/>
                    </a:moveTo>
                    <a:lnTo>
                      <a:pt x="677401" y="137461"/>
                    </a:lnTo>
                    <a:lnTo>
                      <a:pt x="388730" y="0"/>
                    </a:lnTo>
                    <a:lnTo>
                      <a:pt x="10940" y="82427"/>
                    </a:lnTo>
                    <a:lnTo>
                      <a:pt x="0" y="84814"/>
                    </a:lnTo>
                    <a:lnTo>
                      <a:pt x="0" y="538090"/>
                    </a:lnTo>
                    <a:lnTo>
                      <a:pt x="268076" y="682441"/>
                    </a:lnTo>
                    <a:lnTo>
                      <a:pt x="276293" y="686865"/>
                    </a:lnTo>
                    <a:lnTo>
                      <a:pt x="287126" y="684249"/>
                    </a:lnTo>
                    <a:lnTo>
                      <a:pt x="685800" y="588017"/>
                    </a:lnTo>
                    <a:lnTo>
                      <a:pt x="685800" y="141461"/>
                    </a:lnTo>
                    <a:close/>
                    <a:moveTo>
                      <a:pt x="386423" y="20003"/>
                    </a:moveTo>
                    <a:lnTo>
                      <a:pt x="647021" y="144098"/>
                    </a:lnTo>
                    <a:cubicBezTo>
                      <a:pt x="647158" y="144163"/>
                      <a:pt x="647149" y="144244"/>
                      <a:pt x="647001" y="144277"/>
                    </a:cubicBezTo>
                    <a:lnTo>
                      <a:pt x="397097" y="200287"/>
                    </a:lnTo>
                    <a:lnTo>
                      <a:pt x="397097" y="192743"/>
                    </a:lnTo>
                    <a:lnTo>
                      <a:pt x="378047" y="192743"/>
                    </a:lnTo>
                    <a:lnTo>
                      <a:pt x="378047" y="204554"/>
                    </a:lnTo>
                    <a:lnTo>
                      <a:pt x="278987" y="226757"/>
                    </a:lnTo>
                    <a:lnTo>
                      <a:pt x="36934" y="96425"/>
                    </a:lnTo>
                    <a:cubicBezTo>
                      <a:pt x="36809" y="96358"/>
                      <a:pt x="36820" y="96279"/>
                      <a:pt x="36959" y="96248"/>
                    </a:cubicBezTo>
                    <a:close/>
                    <a:moveTo>
                      <a:pt x="19050" y="526713"/>
                    </a:moveTo>
                    <a:lnTo>
                      <a:pt x="19050" y="108592"/>
                    </a:lnTo>
                    <a:cubicBezTo>
                      <a:pt x="19050" y="108539"/>
                      <a:pt x="19093" y="108496"/>
                      <a:pt x="19145" y="108496"/>
                    </a:cubicBezTo>
                    <a:cubicBezTo>
                      <a:pt x="19161" y="108496"/>
                      <a:pt x="19177" y="108500"/>
                      <a:pt x="19190" y="108508"/>
                    </a:cubicBezTo>
                    <a:lnTo>
                      <a:pt x="268078" y="242525"/>
                    </a:lnTo>
                    <a:lnTo>
                      <a:pt x="268078" y="660644"/>
                    </a:lnTo>
                    <a:cubicBezTo>
                      <a:pt x="268078" y="660696"/>
                      <a:pt x="268035" y="660739"/>
                      <a:pt x="267983" y="660739"/>
                    </a:cubicBezTo>
                    <a:cubicBezTo>
                      <a:pt x="267967" y="660739"/>
                      <a:pt x="267952" y="660735"/>
                      <a:pt x="267938" y="660727"/>
                    </a:cubicBezTo>
                    <a:close/>
                    <a:moveTo>
                      <a:pt x="666750" y="573024"/>
                    </a:moveTo>
                    <a:lnTo>
                      <a:pt x="287126" y="664655"/>
                    </a:lnTo>
                    <a:lnTo>
                      <a:pt x="287126" y="481584"/>
                    </a:lnTo>
                    <a:lnTo>
                      <a:pt x="309302" y="476744"/>
                    </a:lnTo>
                    <a:lnTo>
                      <a:pt x="305247" y="458132"/>
                    </a:lnTo>
                    <a:lnTo>
                      <a:pt x="287126" y="462086"/>
                    </a:lnTo>
                    <a:lnTo>
                      <a:pt x="287126" y="244461"/>
                    </a:lnTo>
                    <a:lnTo>
                      <a:pt x="378051" y="224078"/>
                    </a:lnTo>
                    <a:lnTo>
                      <a:pt x="378051" y="230840"/>
                    </a:lnTo>
                    <a:lnTo>
                      <a:pt x="397101" y="230840"/>
                    </a:lnTo>
                    <a:lnTo>
                      <a:pt x="397101" y="219811"/>
                    </a:lnTo>
                    <a:lnTo>
                      <a:pt x="666750" y="159373"/>
                    </a:lnTo>
                    <a:close/>
                  </a:path>
                </a:pathLst>
              </a:custGeom>
              <a:solidFill>
                <a:srgbClr val="000000"/>
              </a:solidFill>
              <a:ln w="3175" cap="flat">
                <a:solidFill>
                  <a:schemeClr val="tx1">
                    <a:lumMod val="50000"/>
                    <a:lumOff val="50000"/>
                  </a:schemeClr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163" name="TextBox 162">
                <a:extLst>
                  <a:ext uri="{FF2B5EF4-FFF2-40B4-BE49-F238E27FC236}">
                    <a16:creationId xmlns:a16="http://schemas.microsoft.com/office/drawing/2014/main" id="{27CC660C-3B79-F4F7-9F0B-E23A22277753}"/>
                  </a:ext>
                </a:extLst>
              </p:cNvPr>
              <p:cNvSpPr txBox="1"/>
              <p:nvPr/>
            </p:nvSpPr>
            <p:spPr>
              <a:xfrm rot="19310944">
                <a:off x="8152158" y="445871"/>
                <a:ext cx="37221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latin typeface="Arial" panose="020B0604020202020204" pitchFamily="34" charset="0"/>
                    <a:cs typeface="Arial" panose="020B0604020202020204" pitchFamily="34" charset="0"/>
                  </a:rPr>
                  <a:t>B</a:t>
                </a:r>
                <a:r>
                  <a:rPr lang="en-US" sz="1400" baseline="-25000" dirty="0">
                    <a:latin typeface="Arial" panose="020B0604020202020204" pitchFamily="34" charset="0"/>
                    <a:cs typeface="Arial" panose="020B0604020202020204" pitchFamily="34" charset="0"/>
                  </a:rPr>
                  <a:t>3</a:t>
                </a:r>
                <a:endParaRPr lang="en-US" sz="1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164" name="Group 163">
              <a:extLst>
                <a:ext uri="{FF2B5EF4-FFF2-40B4-BE49-F238E27FC236}">
                  <a16:creationId xmlns:a16="http://schemas.microsoft.com/office/drawing/2014/main" id="{2256F396-4B02-DD7A-538B-C057D30BD229}"/>
                </a:ext>
              </a:extLst>
            </p:cNvPr>
            <p:cNvGrpSpPr/>
            <p:nvPr/>
          </p:nvGrpSpPr>
          <p:grpSpPr>
            <a:xfrm>
              <a:off x="7457013" y="1857372"/>
              <a:ext cx="485625" cy="411480"/>
              <a:chOff x="8029412" y="417324"/>
              <a:chExt cx="485625" cy="411480"/>
            </a:xfrm>
          </p:grpSpPr>
          <p:sp>
            <p:nvSpPr>
              <p:cNvPr id="168" name="Freeform 167">
                <a:extLst>
                  <a:ext uri="{FF2B5EF4-FFF2-40B4-BE49-F238E27FC236}">
                    <a16:creationId xmlns:a16="http://schemas.microsoft.com/office/drawing/2014/main" id="{B4AA1833-E4FC-1320-0CEE-7523BB694490}"/>
                  </a:ext>
                </a:extLst>
              </p:cNvPr>
              <p:cNvSpPr/>
              <p:nvPr/>
            </p:nvSpPr>
            <p:spPr>
              <a:xfrm rot="19606979">
                <a:off x="8029412" y="417324"/>
                <a:ext cx="411480" cy="411480"/>
              </a:xfrm>
              <a:custGeom>
                <a:avLst/>
                <a:gdLst>
                  <a:gd name="csX0" fmla="*/ 685800 w 685800"/>
                  <a:gd name="csY0" fmla="*/ 141461 h 686864"/>
                  <a:gd name="csX1" fmla="*/ 677401 w 685800"/>
                  <a:gd name="csY1" fmla="*/ 137461 h 686864"/>
                  <a:gd name="csX2" fmla="*/ 388730 w 685800"/>
                  <a:gd name="csY2" fmla="*/ 0 h 686864"/>
                  <a:gd name="csX3" fmla="*/ 10940 w 685800"/>
                  <a:gd name="csY3" fmla="*/ 82427 h 686864"/>
                  <a:gd name="csX4" fmla="*/ 0 w 685800"/>
                  <a:gd name="csY4" fmla="*/ 84814 h 686864"/>
                  <a:gd name="csX5" fmla="*/ 0 w 685800"/>
                  <a:gd name="csY5" fmla="*/ 538090 h 686864"/>
                  <a:gd name="csX6" fmla="*/ 268076 w 685800"/>
                  <a:gd name="csY6" fmla="*/ 682441 h 686864"/>
                  <a:gd name="csX7" fmla="*/ 276293 w 685800"/>
                  <a:gd name="csY7" fmla="*/ 686865 h 686864"/>
                  <a:gd name="csX8" fmla="*/ 287126 w 685800"/>
                  <a:gd name="csY8" fmla="*/ 684249 h 686864"/>
                  <a:gd name="csX9" fmla="*/ 685800 w 685800"/>
                  <a:gd name="csY9" fmla="*/ 588017 h 686864"/>
                  <a:gd name="csX10" fmla="*/ 685800 w 685800"/>
                  <a:gd name="csY10" fmla="*/ 141461 h 686864"/>
                  <a:gd name="csX11" fmla="*/ 386423 w 685800"/>
                  <a:gd name="csY11" fmla="*/ 20003 h 686864"/>
                  <a:gd name="csX12" fmla="*/ 647021 w 685800"/>
                  <a:gd name="csY12" fmla="*/ 144098 h 686864"/>
                  <a:gd name="csX13" fmla="*/ 647001 w 685800"/>
                  <a:gd name="csY13" fmla="*/ 144277 h 686864"/>
                  <a:gd name="csX14" fmla="*/ 397097 w 685800"/>
                  <a:gd name="csY14" fmla="*/ 200287 h 686864"/>
                  <a:gd name="csX15" fmla="*/ 397097 w 685800"/>
                  <a:gd name="csY15" fmla="*/ 192743 h 686864"/>
                  <a:gd name="csX16" fmla="*/ 378047 w 685800"/>
                  <a:gd name="csY16" fmla="*/ 192743 h 686864"/>
                  <a:gd name="csX17" fmla="*/ 378047 w 685800"/>
                  <a:gd name="csY17" fmla="*/ 204554 h 686864"/>
                  <a:gd name="csX18" fmla="*/ 278987 w 685800"/>
                  <a:gd name="csY18" fmla="*/ 226757 h 686864"/>
                  <a:gd name="csX19" fmla="*/ 36934 w 685800"/>
                  <a:gd name="csY19" fmla="*/ 96425 h 686864"/>
                  <a:gd name="csX20" fmla="*/ 36959 w 685800"/>
                  <a:gd name="csY20" fmla="*/ 96248 h 686864"/>
                  <a:gd name="csX21" fmla="*/ 19050 w 685800"/>
                  <a:gd name="csY21" fmla="*/ 526713 h 686864"/>
                  <a:gd name="csX22" fmla="*/ 19050 w 685800"/>
                  <a:gd name="csY22" fmla="*/ 108592 h 686864"/>
                  <a:gd name="csX23" fmla="*/ 19145 w 685800"/>
                  <a:gd name="csY23" fmla="*/ 108496 h 686864"/>
                  <a:gd name="csX24" fmla="*/ 19190 w 685800"/>
                  <a:gd name="csY24" fmla="*/ 108508 h 686864"/>
                  <a:gd name="csX25" fmla="*/ 268078 w 685800"/>
                  <a:gd name="csY25" fmla="*/ 242525 h 686864"/>
                  <a:gd name="csX26" fmla="*/ 268078 w 685800"/>
                  <a:gd name="csY26" fmla="*/ 660644 h 686864"/>
                  <a:gd name="csX27" fmla="*/ 267983 w 685800"/>
                  <a:gd name="csY27" fmla="*/ 660739 h 686864"/>
                  <a:gd name="csX28" fmla="*/ 267938 w 685800"/>
                  <a:gd name="csY28" fmla="*/ 660727 h 686864"/>
                  <a:gd name="csX29" fmla="*/ 666750 w 685800"/>
                  <a:gd name="csY29" fmla="*/ 573024 h 686864"/>
                  <a:gd name="csX30" fmla="*/ 287126 w 685800"/>
                  <a:gd name="csY30" fmla="*/ 664655 h 686864"/>
                  <a:gd name="csX31" fmla="*/ 287126 w 685800"/>
                  <a:gd name="csY31" fmla="*/ 481584 h 686864"/>
                  <a:gd name="csX32" fmla="*/ 309302 w 685800"/>
                  <a:gd name="csY32" fmla="*/ 476744 h 686864"/>
                  <a:gd name="csX33" fmla="*/ 305247 w 685800"/>
                  <a:gd name="csY33" fmla="*/ 458132 h 686864"/>
                  <a:gd name="csX34" fmla="*/ 287126 w 685800"/>
                  <a:gd name="csY34" fmla="*/ 462086 h 686864"/>
                  <a:gd name="csX35" fmla="*/ 287126 w 685800"/>
                  <a:gd name="csY35" fmla="*/ 244461 h 686864"/>
                  <a:gd name="csX36" fmla="*/ 378051 w 685800"/>
                  <a:gd name="csY36" fmla="*/ 224078 h 686864"/>
                  <a:gd name="csX37" fmla="*/ 378051 w 685800"/>
                  <a:gd name="csY37" fmla="*/ 230840 h 686864"/>
                  <a:gd name="csX38" fmla="*/ 397101 w 685800"/>
                  <a:gd name="csY38" fmla="*/ 230840 h 686864"/>
                  <a:gd name="csX39" fmla="*/ 397101 w 685800"/>
                  <a:gd name="csY39" fmla="*/ 219811 h 686864"/>
                  <a:gd name="csX40" fmla="*/ 666750 w 685800"/>
                  <a:gd name="csY40" fmla="*/ 159373 h 68686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  <a:cxn ang="0">
                    <a:pos x="csX26" y="csY26"/>
                  </a:cxn>
                  <a:cxn ang="0">
                    <a:pos x="csX27" y="csY27"/>
                  </a:cxn>
                  <a:cxn ang="0">
                    <a:pos x="csX28" y="csY28"/>
                  </a:cxn>
                  <a:cxn ang="0">
                    <a:pos x="csX29" y="csY29"/>
                  </a:cxn>
                  <a:cxn ang="0">
                    <a:pos x="csX30" y="csY30"/>
                  </a:cxn>
                  <a:cxn ang="0">
                    <a:pos x="csX31" y="csY31"/>
                  </a:cxn>
                  <a:cxn ang="0">
                    <a:pos x="csX32" y="csY32"/>
                  </a:cxn>
                  <a:cxn ang="0">
                    <a:pos x="csX33" y="csY33"/>
                  </a:cxn>
                  <a:cxn ang="0">
                    <a:pos x="csX34" y="csY34"/>
                  </a:cxn>
                  <a:cxn ang="0">
                    <a:pos x="csX35" y="csY35"/>
                  </a:cxn>
                  <a:cxn ang="0">
                    <a:pos x="csX36" y="csY36"/>
                  </a:cxn>
                  <a:cxn ang="0">
                    <a:pos x="csX37" y="csY37"/>
                  </a:cxn>
                  <a:cxn ang="0">
                    <a:pos x="csX38" y="csY38"/>
                  </a:cxn>
                  <a:cxn ang="0">
                    <a:pos x="csX39" y="csY39"/>
                  </a:cxn>
                  <a:cxn ang="0">
                    <a:pos x="csX40" y="csY40"/>
                  </a:cxn>
                </a:cxnLst>
                <a:rect l="l" t="t" r="r" b="b"/>
                <a:pathLst>
                  <a:path w="685800" h="686864">
                    <a:moveTo>
                      <a:pt x="685800" y="141461"/>
                    </a:moveTo>
                    <a:lnTo>
                      <a:pt x="677401" y="137461"/>
                    </a:lnTo>
                    <a:lnTo>
                      <a:pt x="388730" y="0"/>
                    </a:lnTo>
                    <a:lnTo>
                      <a:pt x="10940" y="82427"/>
                    </a:lnTo>
                    <a:lnTo>
                      <a:pt x="0" y="84814"/>
                    </a:lnTo>
                    <a:lnTo>
                      <a:pt x="0" y="538090"/>
                    </a:lnTo>
                    <a:lnTo>
                      <a:pt x="268076" y="682441"/>
                    </a:lnTo>
                    <a:lnTo>
                      <a:pt x="276293" y="686865"/>
                    </a:lnTo>
                    <a:lnTo>
                      <a:pt x="287126" y="684249"/>
                    </a:lnTo>
                    <a:lnTo>
                      <a:pt x="685800" y="588017"/>
                    </a:lnTo>
                    <a:lnTo>
                      <a:pt x="685800" y="141461"/>
                    </a:lnTo>
                    <a:close/>
                    <a:moveTo>
                      <a:pt x="386423" y="20003"/>
                    </a:moveTo>
                    <a:lnTo>
                      <a:pt x="647021" y="144098"/>
                    </a:lnTo>
                    <a:cubicBezTo>
                      <a:pt x="647158" y="144163"/>
                      <a:pt x="647149" y="144244"/>
                      <a:pt x="647001" y="144277"/>
                    </a:cubicBezTo>
                    <a:lnTo>
                      <a:pt x="397097" y="200287"/>
                    </a:lnTo>
                    <a:lnTo>
                      <a:pt x="397097" y="192743"/>
                    </a:lnTo>
                    <a:lnTo>
                      <a:pt x="378047" y="192743"/>
                    </a:lnTo>
                    <a:lnTo>
                      <a:pt x="378047" y="204554"/>
                    </a:lnTo>
                    <a:lnTo>
                      <a:pt x="278987" y="226757"/>
                    </a:lnTo>
                    <a:lnTo>
                      <a:pt x="36934" y="96425"/>
                    </a:lnTo>
                    <a:cubicBezTo>
                      <a:pt x="36809" y="96358"/>
                      <a:pt x="36820" y="96279"/>
                      <a:pt x="36959" y="96248"/>
                    </a:cubicBezTo>
                    <a:close/>
                    <a:moveTo>
                      <a:pt x="19050" y="526713"/>
                    </a:moveTo>
                    <a:lnTo>
                      <a:pt x="19050" y="108592"/>
                    </a:lnTo>
                    <a:cubicBezTo>
                      <a:pt x="19050" y="108539"/>
                      <a:pt x="19093" y="108496"/>
                      <a:pt x="19145" y="108496"/>
                    </a:cubicBezTo>
                    <a:cubicBezTo>
                      <a:pt x="19161" y="108496"/>
                      <a:pt x="19177" y="108500"/>
                      <a:pt x="19190" y="108508"/>
                    </a:cubicBezTo>
                    <a:lnTo>
                      <a:pt x="268078" y="242525"/>
                    </a:lnTo>
                    <a:lnTo>
                      <a:pt x="268078" y="660644"/>
                    </a:lnTo>
                    <a:cubicBezTo>
                      <a:pt x="268078" y="660696"/>
                      <a:pt x="268035" y="660739"/>
                      <a:pt x="267983" y="660739"/>
                    </a:cubicBezTo>
                    <a:cubicBezTo>
                      <a:pt x="267967" y="660739"/>
                      <a:pt x="267952" y="660735"/>
                      <a:pt x="267938" y="660727"/>
                    </a:cubicBezTo>
                    <a:close/>
                    <a:moveTo>
                      <a:pt x="666750" y="573024"/>
                    </a:moveTo>
                    <a:lnTo>
                      <a:pt x="287126" y="664655"/>
                    </a:lnTo>
                    <a:lnTo>
                      <a:pt x="287126" y="481584"/>
                    </a:lnTo>
                    <a:lnTo>
                      <a:pt x="309302" y="476744"/>
                    </a:lnTo>
                    <a:lnTo>
                      <a:pt x="305247" y="458132"/>
                    </a:lnTo>
                    <a:lnTo>
                      <a:pt x="287126" y="462086"/>
                    </a:lnTo>
                    <a:lnTo>
                      <a:pt x="287126" y="244461"/>
                    </a:lnTo>
                    <a:lnTo>
                      <a:pt x="378051" y="224078"/>
                    </a:lnTo>
                    <a:lnTo>
                      <a:pt x="378051" y="230840"/>
                    </a:lnTo>
                    <a:lnTo>
                      <a:pt x="397101" y="230840"/>
                    </a:lnTo>
                    <a:lnTo>
                      <a:pt x="397101" y="219811"/>
                    </a:lnTo>
                    <a:lnTo>
                      <a:pt x="666750" y="159373"/>
                    </a:lnTo>
                    <a:close/>
                  </a:path>
                </a:pathLst>
              </a:custGeom>
              <a:solidFill>
                <a:srgbClr val="000000"/>
              </a:solidFill>
              <a:ln w="3175" cap="flat">
                <a:solidFill>
                  <a:schemeClr val="tx1">
                    <a:lumMod val="50000"/>
                    <a:lumOff val="50000"/>
                  </a:schemeClr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169" name="TextBox 168">
                <a:extLst>
                  <a:ext uri="{FF2B5EF4-FFF2-40B4-BE49-F238E27FC236}">
                    <a16:creationId xmlns:a16="http://schemas.microsoft.com/office/drawing/2014/main" id="{7B4AAE4A-4EBB-7ACF-17B6-FAEB5191B525}"/>
                  </a:ext>
                </a:extLst>
              </p:cNvPr>
              <p:cNvSpPr txBox="1"/>
              <p:nvPr/>
            </p:nvSpPr>
            <p:spPr>
              <a:xfrm rot="19310944">
                <a:off x="8142819" y="453207"/>
                <a:ext cx="37221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latin typeface="Arial" panose="020B0604020202020204" pitchFamily="34" charset="0"/>
                    <a:cs typeface="Arial" panose="020B0604020202020204" pitchFamily="34" charset="0"/>
                  </a:rPr>
                  <a:t>B</a:t>
                </a:r>
                <a:r>
                  <a:rPr lang="en-US" sz="1400" baseline="-25000" dirty="0">
                    <a:latin typeface="Arial" panose="020B0604020202020204" pitchFamily="34" charset="0"/>
                    <a:cs typeface="Arial" panose="020B0604020202020204" pitchFamily="34" charset="0"/>
                  </a:rPr>
                  <a:t>n</a:t>
                </a:r>
                <a:endParaRPr lang="en-US" sz="1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171" name="Group 170">
              <a:extLst>
                <a:ext uri="{FF2B5EF4-FFF2-40B4-BE49-F238E27FC236}">
                  <a16:creationId xmlns:a16="http://schemas.microsoft.com/office/drawing/2014/main" id="{472C0DD8-AA9A-0C61-E71C-C3108F1A58D7}"/>
                </a:ext>
              </a:extLst>
            </p:cNvPr>
            <p:cNvGrpSpPr/>
            <p:nvPr/>
          </p:nvGrpSpPr>
          <p:grpSpPr>
            <a:xfrm>
              <a:off x="8532866" y="720415"/>
              <a:ext cx="477607" cy="411480"/>
              <a:chOff x="8029411" y="417325"/>
              <a:chExt cx="477607" cy="411480"/>
            </a:xfrm>
          </p:grpSpPr>
          <p:sp>
            <p:nvSpPr>
              <p:cNvPr id="172" name="Freeform 171">
                <a:extLst>
                  <a:ext uri="{FF2B5EF4-FFF2-40B4-BE49-F238E27FC236}">
                    <a16:creationId xmlns:a16="http://schemas.microsoft.com/office/drawing/2014/main" id="{4DD12A48-0F7F-0E65-E3B3-89A078019427}"/>
                  </a:ext>
                </a:extLst>
              </p:cNvPr>
              <p:cNvSpPr/>
              <p:nvPr/>
            </p:nvSpPr>
            <p:spPr>
              <a:xfrm rot="19310944">
                <a:off x="8029411" y="417325"/>
                <a:ext cx="411480" cy="411480"/>
              </a:xfrm>
              <a:custGeom>
                <a:avLst/>
                <a:gdLst>
                  <a:gd name="csX0" fmla="*/ 685800 w 685800"/>
                  <a:gd name="csY0" fmla="*/ 141461 h 686864"/>
                  <a:gd name="csX1" fmla="*/ 677401 w 685800"/>
                  <a:gd name="csY1" fmla="*/ 137461 h 686864"/>
                  <a:gd name="csX2" fmla="*/ 388730 w 685800"/>
                  <a:gd name="csY2" fmla="*/ 0 h 686864"/>
                  <a:gd name="csX3" fmla="*/ 10940 w 685800"/>
                  <a:gd name="csY3" fmla="*/ 82427 h 686864"/>
                  <a:gd name="csX4" fmla="*/ 0 w 685800"/>
                  <a:gd name="csY4" fmla="*/ 84814 h 686864"/>
                  <a:gd name="csX5" fmla="*/ 0 w 685800"/>
                  <a:gd name="csY5" fmla="*/ 538090 h 686864"/>
                  <a:gd name="csX6" fmla="*/ 268076 w 685800"/>
                  <a:gd name="csY6" fmla="*/ 682441 h 686864"/>
                  <a:gd name="csX7" fmla="*/ 276293 w 685800"/>
                  <a:gd name="csY7" fmla="*/ 686865 h 686864"/>
                  <a:gd name="csX8" fmla="*/ 287126 w 685800"/>
                  <a:gd name="csY8" fmla="*/ 684249 h 686864"/>
                  <a:gd name="csX9" fmla="*/ 685800 w 685800"/>
                  <a:gd name="csY9" fmla="*/ 588017 h 686864"/>
                  <a:gd name="csX10" fmla="*/ 685800 w 685800"/>
                  <a:gd name="csY10" fmla="*/ 141461 h 686864"/>
                  <a:gd name="csX11" fmla="*/ 386423 w 685800"/>
                  <a:gd name="csY11" fmla="*/ 20003 h 686864"/>
                  <a:gd name="csX12" fmla="*/ 647021 w 685800"/>
                  <a:gd name="csY12" fmla="*/ 144098 h 686864"/>
                  <a:gd name="csX13" fmla="*/ 647001 w 685800"/>
                  <a:gd name="csY13" fmla="*/ 144277 h 686864"/>
                  <a:gd name="csX14" fmla="*/ 397097 w 685800"/>
                  <a:gd name="csY14" fmla="*/ 200287 h 686864"/>
                  <a:gd name="csX15" fmla="*/ 397097 w 685800"/>
                  <a:gd name="csY15" fmla="*/ 192743 h 686864"/>
                  <a:gd name="csX16" fmla="*/ 378047 w 685800"/>
                  <a:gd name="csY16" fmla="*/ 192743 h 686864"/>
                  <a:gd name="csX17" fmla="*/ 378047 w 685800"/>
                  <a:gd name="csY17" fmla="*/ 204554 h 686864"/>
                  <a:gd name="csX18" fmla="*/ 278987 w 685800"/>
                  <a:gd name="csY18" fmla="*/ 226757 h 686864"/>
                  <a:gd name="csX19" fmla="*/ 36934 w 685800"/>
                  <a:gd name="csY19" fmla="*/ 96425 h 686864"/>
                  <a:gd name="csX20" fmla="*/ 36959 w 685800"/>
                  <a:gd name="csY20" fmla="*/ 96248 h 686864"/>
                  <a:gd name="csX21" fmla="*/ 19050 w 685800"/>
                  <a:gd name="csY21" fmla="*/ 526713 h 686864"/>
                  <a:gd name="csX22" fmla="*/ 19050 w 685800"/>
                  <a:gd name="csY22" fmla="*/ 108592 h 686864"/>
                  <a:gd name="csX23" fmla="*/ 19145 w 685800"/>
                  <a:gd name="csY23" fmla="*/ 108496 h 686864"/>
                  <a:gd name="csX24" fmla="*/ 19190 w 685800"/>
                  <a:gd name="csY24" fmla="*/ 108508 h 686864"/>
                  <a:gd name="csX25" fmla="*/ 268078 w 685800"/>
                  <a:gd name="csY25" fmla="*/ 242525 h 686864"/>
                  <a:gd name="csX26" fmla="*/ 268078 w 685800"/>
                  <a:gd name="csY26" fmla="*/ 660644 h 686864"/>
                  <a:gd name="csX27" fmla="*/ 267983 w 685800"/>
                  <a:gd name="csY27" fmla="*/ 660739 h 686864"/>
                  <a:gd name="csX28" fmla="*/ 267938 w 685800"/>
                  <a:gd name="csY28" fmla="*/ 660727 h 686864"/>
                  <a:gd name="csX29" fmla="*/ 666750 w 685800"/>
                  <a:gd name="csY29" fmla="*/ 573024 h 686864"/>
                  <a:gd name="csX30" fmla="*/ 287126 w 685800"/>
                  <a:gd name="csY30" fmla="*/ 664655 h 686864"/>
                  <a:gd name="csX31" fmla="*/ 287126 w 685800"/>
                  <a:gd name="csY31" fmla="*/ 481584 h 686864"/>
                  <a:gd name="csX32" fmla="*/ 309302 w 685800"/>
                  <a:gd name="csY32" fmla="*/ 476744 h 686864"/>
                  <a:gd name="csX33" fmla="*/ 305247 w 685800"/>
                  <a:gd name="csY33" fmla="*/ 458132 h 686864"/>
                  <a:gd name="csX34" fmla="*/ 287126 w 685800"/>
                  <a:gd name="csY34" fmla="*/ 462086 h 686864"/>
                  <a:gd name="csX35" fmla="*/ 287126 w 685800"/>
                  <a:gd name="csY35" fmla="*/ 244461 h 686864"/>
                  <a:gd name="csX36" fmla="*/ 378051 w 685800"/>
                  <a:gd name="csY36" fmla="*/ 224078 h 686864"/>
                  <a:gd name="csX37" fmla="*/ 378051 w 685800"/>
                  <a:gd name="csY37" fmla="*/ 230840 h 686864"/>
                  <a:gd name="csX38" fmla="*/ 397101 w 685800"/>
                  <a:gd name="csY38" fmla="*/ 230840 h 686864"/>
                  <a:gd name="csX39" fmla="*/ 397101 w 685800"/>
                  <a:gd name="csY39" fmla="*/ 219811 h 686864"/>
                  <a:gd name="csX40" fmla="*/ 666750 w 685800"/>
                  <a:gd name="csY40" fmla="*/ 159373 h 68686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  <a:cxn ang="0">
                    <a:pos x="csX26" y="csY26"/>
                  </a:cxn>
                  <a:cxn ang="0">
                    <a:pos x="csX27" y="csY27"/>
                  </a:cxn>
                  <a:cxn ang="0">
                    <a:pos x="csX28" y="csY28"/>
                  </a:cxn>
                  <a:cxn ang="0">
                    <a:pos x="csX29" y="csY29"/>
                  </a:cxn>
                  <a:cxn ang="0">
                    <a:pos x="csX30" y="csY30"/>
                  </a:cxn>
                  <a:cxn ang="0">
                    <a:pos x="csX31" y="csY31"/>
                  </a:cxn>
                  <a:cxn ang="0">
                    <a:pos x="csX32" y="csY32"/>
                  </a:cxn>
                  <a:cxn ang="0">
                    <a:pos x="csX33" y="csY33"/>
                  </a:cxn>
                  <a:cxn ang="0">
                    <a:pos x="csX34" y="csY34"/>
                  </a:cxn>
                  <a:cxn ang="0">
                    <a:pos x="csX35" y="csY35"/>
                  </a:cxn>
                  <a:cxn ang="0">
                    <a:pos x="csX36" y="csY36"/>
                  </a:cxn>
                  <a:cxn ang="0">
                    <a:pos x="csX37" y="csY37"/>
                  </a:cxn>
                  <a:cxn ang="0">
                    <a:pos x="csX38" y="csY38"/>
                  </a:cxn>
                  <a:cxn ang="0">
                    <a:pos x="csX39" y="csY39"/>
                  </a:cxn>
                  <a:cxn ang="0">
                    <a:pos x="csX40" y="csY40"/>
                  </a:cxn>
                </a:cxnLst>
                <a:rect l="l" t="t" r="r" b="b"/>
                <a:pathLst>
                  <a:path w="685800" h="686864">
                    <a:moveTo>
                      <a:pt x="685800" y="141461"/>
                    </a:moveTo>
                    <a:lnTo>
                      <a:pt x="677401" y="137461"/>
                    </a:lnTo>
                    <a:lnTo>
                      <a:pt x="388730" y="0"/>
                    </a:lnTo>
                    <a:lnTo>
                      <a:pt x="10940" y="82427"/>
                    </a:lnTo>
                    <a:lnTo>
                      <a:pt x="0" y="84814"/>
                    </a:lnTo>
                    <a:lnTo>
                      <a:pt x="0" y="538090"/>
                    </a:lnTo>
                    <a:lnTo>
                      <a:pt x="268076" y="682441"/>
                    </a:lnTo>
                    <a:lnTo>
                      <a:pt x="276293" y="686865"/>
                    </a:lnTo>
                    <a:lnTo>
                      <a:pt x="287126" y="684249"/>
                    </a:lnTo>
                    <a:lnTo>
                      <a:pt x="685800" y="588017"/>
                    </a:lnTo>
                    <a:lnTo>
                      <a:pt x="685800" y="141461"/>
                    </a:lnTo>
                    <a:close/>
                    <a:moveTo>
                      <a:pt x="386423" y="20003"/>
                    </a:moveTo>
                    <a:lnTo>
                      <a:pt x="647021" y="144098"/>
                    </a:lnTo>
                    <a:cubicBezTo>
                      <a:pt x="647158" y="144163"/>
                      <a:pt x="647149" y="144244"/>
                      <a:pt x="647001" y="144277"/>
                    </a:cubicBezTo>
                    <a:lnTo>
                      <a:pt x="397097" y="200287"/>
                    </a:lnTo>
                    <a:lnTo>
                      <a:pt x="397097" y="192743"/>
                    </a:lnTo>
                    <a:lnTo>
                      <a:pt x="378047" y="192743"/>
                    </a:lnTo>
                    <a:lnTo>
                      <a:pt x="378047" y="204554"/>
                    </a:lnTo>
                    <a:lnTo>
                      <a:pt x="278987" y="226757"/>
                    </a:lnTo>
                    <a:lnTo>
                      <a:pt x="36934" y="96425"/>
                    </a:lnTo>
                    <a:cubicBezTo>
                      <a:pt x="36809" y="96358"/>
                      <a:pt x="36820" y="96279"/>
                      <a:pt x="36959" y="96248"/>
                    </a:cubicBezTo>
                    <a:close/>
                    <a:moveTo>
                      <a:pt x="19050" y="526713"/>
                    </a:moveTo>
                    <a:lnTo>
                      <a:pt x="19050" y="108592"/>
                    </a:lnTo>
                    <a:cubicBezTo>
                      <a:pt x="19050" y="108539"/>
                      <a:pt x="19093" y="108496"/>
                      <a:pt x="19145" y="108496"/>
                    </a:cubicBezTo>
                    <a:cubicBezTo>
                      <a:pt x="19161" y="108496"/>
                      <a:pt x="19177" y="108500"/>
                      <a:pt x="19190" y="108508"/>
                    </a:cubicBezTo>
                    <a:lnTo>
                      <a:pt x="268078" y="242525"/>
                    </a:lnTo>
                    <a:lnTo>
                      <a:pt x="268078" y="660644"/>
                    </a:lnTo>
                    <a:cubicBezTo>
                      <a:pt x="268078" y="660696"/>
                      <a:pt x="268035" y="660739"/>
                      <a:pt x="267983" y="660739"/>
                    </a:cubicBezTo>
                    <a:cubicBezTo>
                      <a:pt x="267967" y="660739"/>
                      <a:pt x="267952" y="660735"/>
                      <a:pt x="267938" y="660727"/>
                    </a:cubicBezTo>
                    <a:close/>
                    <a:moveTo>
                      <a:pt x="666750" y="573024"/>
                    </a:moveTo>
                    <a:lnTo>
                      <a:pt x="287126" y="664655"/>
                    </a:lnTo>
                    <a:lnTo>
                      <a:pt x="287126" y="481584"/>
                    </a:lnTo>
                    <a:lnTo>
                      <a:pt x="309302" y="476744"/>
                    </a:lnTo>
                    <a:lnTo>
                      <a:pt x="305247" y="458132"/>
                    </a:lnTo>
                    <a:lnTo>
                      <a:pt x="287126" y="462086"/>
                    </a:lnTo>
                    <a:lnTo>
                      <a:pt x="287126" y="244461"/>
                    </a:lnTo>
                    <a:lnTo>
                      <a:pt x="378051" y="224078"/>
                    </a:lnTo>
                    <a:lnTo>
                      <a:pt x="378051" y="230840"/>
                    </a:lnTo>
                    <a:lnTo>
                      <a:pt x="397101" y="230840"/>
                    </a:lnTo>
                    <a:lnTo>
                      <a:pt x="397101" y="219811"/>
                    </a:lnTo>
                    <a:lnTo>
                      <a:pt x="666750" y="159373"/>
                    </a:lnTo>
                    <a:close/>
                  </a:path>
                </a:pathLst>
              </a:custGeom>
              <a:solidFill>
                <a:srgbClr val="000000"/>
              </a:solidFill>
              <a:ln w="3175" cap="flat">
                <a:solidFill>
                  <a:schemeClr val="tx1">
                    <a:lumMod val="50000"/>
                    <a:lumOff val="50000"/>
                  </a:schemeClr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173" name="TextBox 172">
                <a:extLst>
                  <a:ext uri="{FF2B5EF4-FFF2-40B4-BE49-F238E27FC236}">
                    <a16:creationId xmlns:a16="http://schemas.microsoft.com/office/drawing/2014/main" id="{E28B3E2F-3106-431A-6670-722268B5067D}"/>
                  </a:ext>
                </a:extLst>
              </p:cNvPr>
              <p:cNvSpPr txBox="1"/>
              <p:nvPr/>
            </p:nvSpPr>
            <p:spPr>
              <a:xfrm rot="19310944">
                <a:off x="8142816" y="453204"/>
                <a:ext cx="36420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latin typeface="Arial" panose="020B0604020202020204" pitchFamily="34" charset="0"/>
                    <a:cs typeface="Arial" panose="020B0604020202020204" pitchFamily="34" charset="0"/>
                  </a:rPr>
                  <a:t>B</a:t>
                </a:r>
                <a:r>
                  <a:rPr lang="en-US" sz="1400" baseline="-25000" dirty="0">
                    <a:latin typeface="Arial" panose="020B0604020202020204" pitchFamily="34" charset="0"/>
                    <a:cs typeface="Arial" panose="020B0604020202020204" pitchFamily="34" charset="0"/>
                  </a:rPr>
                  <a:t>x</a:t>
                </a:r>
                <a:endParaRPr lang="en-US" sz="1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174" name="TextBox 173">
              <a:extLst>
                <a:ext uri="{FF2B5EF4-FFF2-40B4-BE49-F238E27FC236}">
                  <a16:creationId xmlns:a16="http://schemas.microsoft.com/office/drawing/2014/main" id="{801922C4-38A3-FD28-70DC-EA748059303C}"/>
                </a:ext>
              </a:extLst>
            </p:cNvPr>
            <p:cNvSpPr txBox="1"/>
            <p:nvPr/>
          </p:nvSpPr>
          <p:spPr>
            <a:xfrm>
              <a:off x="7776794" y="1276923"/>
              <a:ext cx="133600" cy="36933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sz="2400" b="1" dirty="0">
                  <a:solidFill>
                    <a:srgbClr val="002060"/>
                  </a:solidFill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rPr>
                <a:t>.</a:t>
              </a:r>
            </a:p>
          </p:txBody>
        </p:sp>
        <p:sp>
          <p:nvSpPr>
            <p:cNvPr id="175" name="TextBox 174">
              <a:extLst>
                <a:ext uri="{FF2B5EF4-FFF2-40B4-BE49-F238E27FC236}">
                  <a16:creationId xmlns:a16="http://schemas.microsoft.com/office/drawing/2014/main" id="{13840947-0EB9-2EDC-A446-6A9904541BE6}"/>
                </a:ext>
              </a:extLst>
            </p:cNvPr>
            <p:cNvSpPr txBox="1"/>
            <p:nvPr/>
          </p:nvSpPr>
          <p:spPr>
            <a:xfrm>
              <a:off x="8378032" y="1342370"/>
              <a:ext cx="133600" cy="36933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sz="2400" b="1" dirty="0">
                  <a:solidFill>
                    <a:srgbClr val="002060"/>
                  </a:solidFill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rPr>
                <a:t>.</a:t>
              </a:r>
            </a:p>
          </p:txBody>
        </p:sp>
        <p:sp>
          <p:nvSpPr>
            <p:cNvPr id="176" name="TextBox 175">
              <a:extLst>
                <a:ext uri="{FF2B5EF4-FFF2-40B4-BE49-F238E27FC236}">
                  <a16:creationId xmlns:a16="http://schemas.microsoft.com/office/drawing/2014/main" id="{BD6996F5-0394-B887-28AA-EE0210513E39}"/>
                </a:ext>
              </a:extLst>
            </p:cNvPr>
            <p:cNvSpPr txBox="1"/>
            <p:nvPr/>
          </p:nvSpPr>
          <p:spPr>
            <a:xfrm>
              <a:off x="8205029" y="1019918"/>
              <a:ext cx="133600" cy="36933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sz="2400" b="1" dirty="0">
                  <a:solidFill>
                    <a:srgbClr val="002060"/>
                  </a:solidFill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rPr>
                <a:t>.</a:t>
              </a:r>
            </a:p>
          </p:txBody>
        </p:sp>
        <p:sp>
          <p:nvSpPr>
            <p:cNvPr id="177" name="TextBox 176">
              <a:extLst>
                <a:ext uri="{FF2B5EF4-FFF2-40B4-BE49-F238E27FC236}">
                  <a16:creationId xmlns:a16="http://schemas.microsoft.com/office/drawing/2014/main" id="{D2742A0B-7627-DADC-B387-2CBC49781C90}"/>
                </a:ext>
              </a:extLst>
            </p:cNvPr>
            <p:cNvSpPr txBox="1"/>
            <p:nvPr/>
          </p:nvSpPr>
          <p:spPr>
            <a:xfrm>
              <a:off x="8265264" y="926565"/>
              <a:ext cx="133600" cy="36933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sz="2400" b="1" dirty="0">
                  <a:solidFill>
                    <a:srgbClr val="002060"/>
                  </a:solidFill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rPr>
                <a:t>.</a:t>
              </a:r>
            </a:p>
          </p:txBody>
        </p:sp>
        <p:sp>
          <p:nvSpPr>
            <p:cNvPr id="178" name="TextBox 177">
              <a:extLst>
                <a:ext uri="{FF2B5EF4-FFF2-40B4-BE49-F238E27FC236}">
                  <a16:creationId xmlns:a16="http://schemas.microsoft.com/office/drawing/2014/main" id="{942F4D26-C79C-E649-5183-7930CF9DAB64}"/>
                </a:ext>
              </a:extLst>
            </p:cNvPr>
            <p:cNvSpPr txBox="1"/>
            <p:nvPr/>
          </p:nvSpPr>
          <p:spPr>
            <a:xfrm>
              <a:off x="8357418" y="839352"/>
              <a:ext cx="133600" cy="36933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sz="2400" b="1" dirty="0">
                  <a:solidFill>
                    <a:srgbClr val="002060"/>
                  </a:solidFill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rPr>
                <a:t>.</a:t>
              </a:r>
            </a:p>
          </p:txBody>
        </p:sp>
        <p:sp>
          <p:nvSpPr>
            <p:cNvPr id="179" name="TextBox 178">
              <a:extLst>
                <a:ext uri="{FF2B5EF4-FFF2-40B4-BE49-F238E27FC236}">
                  <a16:creationId xmlns:a16="http://schemas.microsoft.com/office/drawing/2014/main" id="{ADDB9493-7927-C668-CC8C-17696A02C90B}"/>
                </a:ext>
              </a:extLst>
            </p:cNvPr>
            <p:cNvSpPr txBox="1"/>
            <p:nvPr/>
          </p:nvSpPr>
          <p:spPr>
            <a:xfrm>
              <a:off x="8446261" y="789853"/>
              <a:ext cx="133600" cy="36933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sz="2400" b="1" dirty="0">
                  <a:solidFill>
                    <a:srgbClr val="002060"/>
                  </a:solidFill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rPr>
                <a:t>.</a:t>
              </a:r>
            </a:p>
          </p:txBody>
        </p:sp>
        <p:sp>
          <p:nvSpPr>
            <p:cNvPr id="180" name="TextBox 179">
              <a:extLst>
                <a:ext uri="{FF2B5EF4-FFF2-40B4-BE49-F238E27FC236}">
                  <a16:creationId xmlns:a16="http://schemas.microsoft.com/office/drawing/2014/main" id="{D4021B34-BC76-C11B-7836-8AC4E726B35F}"/>
                </a:ext>
              </a:extLst>
            </p:cNvPr>
            <p:cNvSpPr txBox="1"/>
            <p:nvPr/>
          </p:nvSpPr>
          <p:spPr>
            <a:xfrm>
              <a:off x="8709813" y="898255"/>
              <a:ext cx="133600" cy="36933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sz="2400" b="1" dirty="0">
                  <a:solidFill>
                    <a:srgbClr val="002060"/>
                  </a:solidFill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rPr>
                <a:t>.</a:t>
              </a:r>
            </a:p>
          </p:txBody>
        </p:sp>
        <p:sp>
          <p:nvSpPr>
            <p:cNvPr id="181" name="TextBox 180">
              <a:extLst>
                <a:ext uri="{FF2B5EF4-FFF2-40B4-BE49-F238E27FC236}">
                  <a16:creationId xmlns:a16="http://schemas.microsoft.com/office/drawing/2014/main" id="{4B8CFF9A-9D70-B25F-1BC1-9DE28952F87E}"/>
                </a:ext>
              </a:extLst>
            </p:cNvPr>
            <p:cNvSpPr txBox="1"/>
            <p:nvPr/>
          </p:nvSpPr>
          <p:spPr>
            <a:xfrm>
              <a:off x="8704165" y="995763"/>
              <a:ext cx="133600" cy="36933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sz="2400" b="1" dirty="0">
                  <a:solidFill>
                    <a:srgbClr val="002060"/>
                  </a:solidFill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rPr>
                <a:t>.</a:t>
              </a:r>
            </a:p>
          </p:txBody>
        </p:sp>
        <p:sp>
          <p:nvSpPr>
            <p:cNvPr id="182" name="TextBox 181">
              <a:extLst>
                <a:ext uri="{FF2B5EF4-FFF2-40B4-BE49-F238E27FC236}">
                  <a16:creationId xmlns:a16="http://schemas.microsoft.com/office/drawing/2014/main" id="{596AD318-4832-4180-DBC7-DA1E91FA20E6}"/>
                </a:ext>
              </a:extLst>
            </p:cNvPr>
            <p:cNvSpPr txBox="1"/>
            <p:nvPr/>
          </p:nvSpPr>
          <p:spPr>
            <a:xfrm>
              <a:off x="7942050" y="1484936"/>
              <a:ext cx="133600" cy="36933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sz="2400" b="1" dirty="0">
                  <a:solidFill>
                    <a:srgbClr val="002060"/>
                  </a:solidFill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rPr>
                <a:t>.</a:t>
              </a:r>
            </a:p>
          </p:txBody>
        </p:sp>
        <p:sp>
          <p:nvSpPr>
            <p:cNvPr id="183" name="TextBox 182">
              <a:extLst>
                <a:ext uri="{FF2B5EF4-FFF2-40B4-BE49-F238E27FC236}">
                  <a16:creationId xmlns:a16="http://schemas.microsoft.com/office/drawing/2014/main" id="{10E0ADBF-3520-4ABF-624E-09C2E4EBC567}"/>
                </a:ext>
              </a:extLst>
            </p:cNvPr>
            <p:cNvSpPr txBox="1"/>
            <p:nvPr/>
          </p:nvSpPr>
          <p:spPr>
            <a:xfrm>
              <a:off x="7893087" y="1584821"/>
              <a:ext cx="133600" cy="36933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sz="2400" b="1" dirty="0">
                  <a:solidFill>
                    <a:srgbClr val="002060"/>
                  </a:solidFill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rPr>
                <a:t>.</a:t>
              </a:r>
            </a:p>
          </p:txBody>
        </p:sp>
        <p:sp>
          <p:nvSpPr>
            <p:cNvPr id="184" name="TextBox 183">
              <a:extLst>
                <a:ext uri="{FF2B5EF4-FFF2-40B4-BE49-F238E27FC236}">
                  <a16:creationId xmlns:a16="http://schemas.microsoft.com/office/drawing/2014/main" id="{723C1B32-6079-4B7E-039D-B075C7E61720}"/>
                </a:ext>
              </a:extLst>
            </p:cNvPr>
            <p:cNvSpPr txBox="1"/>
            <p:nvPr/>
          </p:nvSpPr>
          <p:spPr>
            <a:xfrm>
              <a:off x="7779681" y="1623737"/>
              <a:ext cx="133600" cy="36933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sz="2400" b="1" dirty="0">
                  <a:solidFill>
                    <a:srgbClr val="002060"/>
                  </a:solidFill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rPr>
                <a:t>.</a:t>
              </a:r>
            </a:p>
          </p:txBody>
        </p:sp>
        <p:sp>
          <p:nvSpPr>
            <p:cNvPr id="185" name="TextBox 184">
              <a:extLst>
                <a:ext uri="{FF2B5EF4-FFF2-40B4-BE49-F238E27FC236}">
                  <a16:creationId xmlns:a16="http://schemas.microsoft.com/office/drawing/2014/main" id="{E2FEC9BD-FF17-22DA-E1BA-1D64BD0D33DF}"/>
                </a:ext>
              </a:extLst>
            </p:cNvPr>
            <p:cNvSpPr txBox="1"/>
            <p:nvPr/>
          </p:nvSpPr>
          <p:spPr>
            <a:xfrm>
              <a:off x="7460196" y="1541163"/>
              <a:ext cx="133600" cy="36933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sz="2400" b="1" dirty="0">
                  <a:solidFill>
                    <a:srgbClr val="002060"/>
                  </a:solidFill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rPr>
                <a:t>.</a:t>
              </a:r>
            </a:p>
          </p:txBody>
        </p:sp>
      </p:grpSp>
      <p:sp>
        <p:nvSpPr>
          <p:cNvPr id="187" name="TextBox 186">
            <a:extLst>
              <a:ext uri="{FF2B5EF4-FFF2-40B4-BE49-F238E27FC236}">
                <a16:creationId xmlns:a16="http://schemas.microsoft.com/office/drawing/2014/main" id="{D6A865D2-D721-ACA1-3839-1C271679A0FE}"/>
              </a:ext>
            </a:extLst>
          </p:cNvPr>
          <p:cNvSpPr txBox="1"/>
          <p:nvPr/>
        </p:nvSpPr>
        <p:spPr>
          <a:xfrm>
            <a:off x="6148021" y="3248197"/>
            <a:ext cx="4833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</a:p>
        </p:txBody>
      </p:sp>
      <p:sp>
        <p:nvSpPr>
          <p:cNvPr id="188" name="TextBox 187">
            <a:extLst>
              <a:ext uri="{FF2B5EF4-FFF2-40B4-BE49-F238E27FC236}">
                <a16:creationId xmlns:a16="http://schemas.microsoft.com/office/drawing/2014/main" id="{CCFCDEC8-AA71-17A9-CF0C-ED6F63D191EF}"/>
              </a:ext>
            </a:extLst>
          </p:cNvPr>
          <p:cNvSpPr txBox="1"/>
          <p:nvPr/>
        </p:nvSpPr>
        <p:spPr>
          <a:xfrm>
            <a:off x="11051489" y="3196273"/>
            <a:ext cx="4833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</a:p>
        </p:txBody>
      </p:sp>
      <p:sp>
        <p:nvSpPr>
          <p:cNvPr id="189" name="TextBox 188">
            <a:extLst>
              <a:ext uri="{FF2B5EF4-FFF2-40B4-BE49-F238E27FC236}">
                <a16:creationId xmlns:a16="http://schemas.microsoft.com/office/drawing/2014/main" id="{FD5C266E-EAD3-7B4F-5BFB-BB21B6D07353}"/>
              </a:ext>
            </a:extLst>
          </p:cNvPr>
          <p:cNvSpPr txBox="1"/>
          <p:nvPr/>
        </p:nvSpPr>
        <p:spPr>
          <a:xfrm>
            <a:off x="3170557" y="2445839"/>
            <a:ext cx="6623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RPKI</a:t>
            </a:r>
          </a:p>
        </p:txBody>
      </p:sp>
      <p:sp>
        <p:nvSpPr>
          <p:cNvPr id="1024" name="TextBox 1023">
            <a:extLst>
              <a:ext uri="{FF2B5EF4-FFF2-40B4-BE49-F238E27FC236}">
                <a16:creationId xmlns:a16="http://schemas.microsoft.com/office/drawing/2014/main" id="{E810B09E-EB32-DFE0-DD43-5C6E6BF1EB0D}"/>
              </a:ext>
            </a:extLst>
          </p:cNvPr>
          <p:cNvSpPr txBox="1"/>
          <p:nvPr/>
        </p:nvSpPr>
        <p:spPr>
          <a:xfrm>
            <a:off x="6994856" y="2557892"/>
            <a:ext cx="160117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RPKI Trust Proxies</a:t>
            </a:r>
          </a:p>
        </p:txBody>
      </p:sp>
      <p:sp>
        <p:nvSpPr>
          <p:cNvPr id="1025" name="TextBox 1024">
            <a:extLst>
              <a:ext uri="{FF2B5EF4-FFF2-40B4-BE49-F238E27FC236}">
                <a16:creationId xmlns:a16="http://schemas.microsoft.com/office/drawing/2014/main" id="{7C864ED2-A511-5E50-C0A5-235C29C43F3B}"/>
              </a:ext>
            </a:extLst>
          </p:cNvPr>
          <p:cNvSpPr txBox="1"/>
          <p:nvPr/>
        </p:nvSpPr>
        <p:spPr>
          <a:xfrm>
            <a:off x="9034661" y="2545577"/>
            <a:ext cx="160117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RPKI Trust Proxies</a:t>
            </a:r>
          </a:p>
        </p:txBody>
      </p:sp>
      <p:sp>
        <p:nvSpPr>
          <p:cNvPr id="1027" name="TextBox 1026">
            <a:extLst>
              <a:ext uri="{FF2B5EF4-FFF2-40B4-BE49-F238E27FC236}">
                <a16:creationId xmlns:a16="http://schemas.microsoft.com/office/drawing/2014/main" id="{AC8892BF-B0E6-7A3D-C194-0329E219DD01}"/>
              </a:ext>
            </a:extLst>
          </p:cNvPr>
          <p:cNvSpPr txBox="1"/>
          <p:nvPr/>
        </p:nvSpPr>
        <p:spPr>
          <a:xfrm>
            <a:off x="5064417" y="6021943"/>
            <a:ext cx="121389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RPKI Trust Proxies</a:t>
            </a:r>
          </a:p>
        </p:txBody>
      </p:sp>
      <p:sp>
        <p:nvSpPr>
          <p:cNvPr id="1029" name="Oval 1028">
            <a:extLst>
              <a:ext uri="{FF2B5EF4-FFF2-40B4-BE49-F238E27FC236}">
                <a16:creationId xmlns:a16="http://schemas.microsoft.com/office/drawing/2014/main" id="{76DF16D6-98A3-53C4-A74D-91BAEB4A5B1D}"/>
              </a:ext>
            </a:extLst>
          </p:cNvPr>
          <p:cNvSpPr/>
          <p:nvPr/>
        </p:nvSpPr>
        <p:spPr>
          <a:xfrm>
            <a:off x="5954211" y="2686094"/>
            <a:ext cx="274320" cy="27432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1030" name="Oval 1029">
            <a:extLst>
              <a:ext uri="{FF2B5EF4-FFF2-40B4-BE49-F238E27FC236}">
                <a16:creationId xmlns:a16="http://schemas.microsoft.com/office/drawing/2014/main" id="{F7C1EF55-FF8F-8075-A2AB-8D5D5AFBA608}"/>
              </a:ext>
            </a:extLst>
          </p:cNvPr>
          <p:cNvSpPr/>
          <p:nvPr/>
        </p:nvSpPr>
        <p:spPr>
          <a:xfrm>
            <a:off x="6345642" y="895914"/>
            <a:ext cx="274320" cy="27432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</p:txBody>
      </p:sp>
      <p:sp>
        <p:nvSpPr>
          <p:cNvPr id="1031" name="TextBox 1030">
            <a:extLst>
              <a:ext uri="{FF2B5EF4-FFF2-40B4-BE49-F238E27FC236}">
                <a16:creationId xmlns:a16="http://schemas.microsoft.com/office/drawing/2014/main" id="{191E75FF-2E6E-1C95-F865-91B7BE12F26E}"/>
              </a:ext>
            </a:extLst>
          </p:cNvPr>
          <p:cNvSpPr txBox="1"/>
          <p:nvPr/>
        </p:nvSpPr>
        <p:spPr>
          <a:xfrm>
            <a:off x="6392334" y="1775310"/>
            <a:ext cx="128686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PoP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Ledger Commit</a:t>
            </a:r>
          </a:p>
        </p:txBody>
      </p:sp>
      <p:sp>
        <p:nvSpPr>
          <p:cNvPr id="1032" name="TextBox 1031">
            <a:extLst>
              <a:ext uri="{FF2B5EF4-FFF2-40B4-BE49-F238E27FC236}">
                <a16:creationId xmlns:a16="http://schemas.microsoft.com/office/drawing/2014/main" id="{BC4861E9-18A5-D7E6-E0B7-0F9686F4B18C}"/>
              </a:ext>
            </a:extLst>
          </p:cNvPr>
          <p:cNvSpPr txBox="1"/>
          <p:nvPr/>
        </p:nvSpPr>
        <p:spPr>
          <a:xfrm>
            <a:off x="8021526" y="1729726"/>
            <a:ext cx="155803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Forensic </a:t>
            </a:r>
          </a:p>
          <a:p>
            <a:pPr algn="ctr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Audit Trail</a:t>
            </a:r>
          </a:p>
        </p:txBody>
      </p:sp>
      <p:sp>
        <p:nvSpPr>
          <p:cNvPr id="1033" name="TextBox 1032">
            <a:extLst>
              <a:ext uri="{FF2B5EF4-FFF2-40B4-BE49-F238E27FC236}">
                <a16:creationId xmlns:a16="http://schemas.microsoft.com/office/drawing/2014/main" id="{4F8FBDA8-6D02-0EA3-99AA-82810AAA2D16}"/>
              </a:ext>
            </a:extLst>
          </p:cNvPr>
          <p:cNvSpPr txBox="1"/>
          <p:nvPr/>
        </p:nvSpPr>
        <p:spPr>
          <a:xfrm>
            <a:off x="9716413" y="1736572"/>
            <a:ext cx="155803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Trust Quantification</a:t>
            </a:r>
          </a:p>
        </p:txBody>
      </p:sp>
      <p:grpSp>
        <p:nvGrpSpPr>
          <p:cNvPr id="1044" name="Group 1043">
            <a:extLst>
              <a:ext uri="{FF2B5EF4-FFF2-40B4-BE49-F238E27FC236}">
                <a16:creationId xmlns:a16="http://schemas.microsoft.com/office/drawing/2014/main" id="{6C58FBB2-046D-AC94-BE79-0091D6CA151E}"/>
              </a:ext>
            </a:extLst>
          </p:cNvPr>
          <p:cNvGrpSpPr/>
          <p:nvPr/>
        </p:nvGrpSpPr>
        <p:grpSpPr>
          <a:xfrm>
            <a:off x="6505711" y="883377"/>
            <a:ext cx="1036637" cy="887025"/>
            <a:chOff x="6711191" y="883377"/>
            <a:chExt cx="1036637" cy="887025"/>
          </a:xfrm>
        </p:grpSpPr>
        <p:pic>
          <p:nvPicPr>
            <p:cNvPr id="1026" name="Picture 2" descr="blockchain Vector Icons free download in SVG, PNG Format">
              <a:extLst>
                <a:ext uri="{FF2B5EF4-FFF2-40B4-BE49-F238E27FC236}">
                  <a16:creationId xmlns:a16="http://schemas.microsoft.com/office/drawing/2014/main" id="{0A0E0208-E7D7-7B5C-2A03-DD78BC200C0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711191" y="883377"/>
              <a:ext cx="887025" cy="88702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36" name="Picture 10" descr="Population Icon Vector Isolated On White Stock Vector (Royalty Free)  1178239927 | Shutterstock">
              <a:extLst>
                <a:ext uri="{FF2B5EF4-FFF2-40B4-BE49-F238E27FC236}">
                  <a16:creationId xmlns:a16="http://schemas.microsoft.com/office/drawing/2014/main" id="{F0ACEC54-F61C-145C-1242-D6F4F866A8FC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0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3421" t="20616" r="11520" b="44789"/>
            <a:stretch>
              <a:fillRect/>
            </a:stretch>
          </p:blipFill>
          <p:spPr bwMode="auto">
            <a:xfrm>
              <a:off x="7222819" y="1411242"/>
              <a:ext cx="525009" cy="33855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037" name="Oval 1036">
            <a:extLst>
              <a:ext uri="{FF2B5EF4-FFF2-40B4-BE49-F238E27FC236}">
                <a16:creationId xmlns:a16="http://schemas.microsoft.com/office/drawing/2014/main" id="{5DA156AF-362C-CB0B-EC28-CAE44AE76784}"/>
              </a:ext>
            </a:extLst>
          </p:cNvPr>
          <p:cNvSpPr/>
          <p:nvPr/>
        </p:nvSpPr>
        <p:spPr>
          <a:xfrm>
            <a:off x="8359891" y="900391"/>
            <a:ext cx="274320" cy="27432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</a:p>
        </p:txBody>
      </p:sp>
      <p:sp>
        <p:nvSpPr>
          <p:cNvPr id="1038" name="Oval 1037">
            <a:extLst>
              <a:ext uri="{FF2B5EF4-FFF2-40B4-BE49-F238E27FC236}">
                <a16:creationId xmlns:a16="http://schemas.microsoft.com/office/drawing/2014/main" id="{D6A80579-63B0-CFA4-6C96-0F691FD79168}"/>
              </a:ext>
            </a:extLst>
          </p:cNvPr>
          <p:cNvSpPr/>
          <p:nvPr/>
        </p:nvSpPr>
        <p:spPr>
          <a:xfrm>
            <a:off x="9956925" y="889672"/>
            <a:ext cx="274320" cy="27432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</p:txBody>
      </p:sp>
      <p:sp>
        <p:nvSpPr>
          <p:cNvPr id="1039" name="Rectangle 1038">
            <a:extLst>
              <a:ext uri="{FF2B5EF4-FFF2-40B4-BE49-F238E27FC236}">
                <a16:creationId xmlns:a16="http://schemas.microsoft.com/office/drawing/2014/main" id="{6A7D7A8E-B605-DE00-4D17-74F7EEC43671}"/>
              </a:ext>
            </a:extLst>
          </p:cNvPr>
          <p:cNvSpPr/>
          <p:nvPr/>
        </p:nvSpPr>
        <p:spPr>
          <a:xfrm>
            <a:off x="5461325" y="1932078"/>
            <a:ext cx="539491" cy="17373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760B8493-55EC-B4CA-54FF-14A2090F7661}"/>
              </a:ext>
            </a:extLst>
          </p:cNvPr>
          <p:cNvCxnSpPr>
            <a:cxnSpLocks/>
          </p:cNvCxnSpPr>
          <p:nvPr/>
        </p:nvCxnSpPr>
        <p:spPr>
          <a:xfrm>
            <a:off x="5507929" y="2016855"/>
            <a:ext cx="446282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3" name="Straight Arrow Connector 1042">
            <a:extLst>
              <a:ext uri="{FF2B5EF4-FFF2-40B4-BE49-F238E27FC236}">
                <a16:creationId xmlns:a16="http://schemas.microsoft.com/office/drawing/2014/main" id="{BF3D4852-E315-641B-8A94-6D9E2CB29F2C}"/>
              </a:ext>
            </a:extLst>
          </p:cNvPr>
          <p:cNvCxnSpPr>
            <a:cxnSpLocks/>
          </p:cNvCxnSpPr>
          <p:nvPr/>
        </p:nvCxnSpPr>
        <p:spPr>
          <a:xfrm>
            <a:off x="9442404" y="1411242"/>
            <a:ext cx="365760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6" name="Straight Arrow Connector 1045">
            <a:extLst>
              <a:ext uri="{FF2B5EF4-FFF2-40B4-BE49-F238E27FC236}">
                <a16:creationId xmlns:a16="http://schemas.microsoft.com/office/drawing/2014/main" id="{25BDA21D-2D15-19D9-C938-2EB520DA749E}"/>
              </a:ext>
            </a:extLst>
          </p:cNvPr>
          <p:cNvCxnSpPr>
            <a:cxnSpLocks/>
          </p:cNvCxnSpPr>
          <p:nvPr/>
        </p:nvCxnSpPr>
        <p:spPr>
          <a:xfrm>
            <a:off x="7719612" y="1392630"/>
            <a:ext cx="365760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47" name="Graphic 1046" descr="Sort with solid fill">
            <a:extLst>
              <a:ext uri="{FF2B5EF4-FFF2-40B4-BE49-F238E27FC236}">
                <a16:creationId xmlns:a16="http://schemas.microsoft.com/office/drawing/2014/main" id="{8DEB8831-42F4-741F-6988-3E3CD6477A2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370953" y="2088067"/>
            <a:ext cx="528416" cy="537157"/>
          </a:xfrm>
          <a:prstGeom prst="rect">
            <a:avLst/>
          </a:prstGeom>
        </p:spPr>
      </p:pic>
      <p:pic>
        <p:nvPicPr>
          <p:cNvPr id="1048" name="Graphic 1047" descr="Sort with solid fill">
            <a:extLst>
              <a:ext uri="{FF2B5EF4-FFF2-40B4-BE49-F238E27FC236}">
                <a16:creationId xmlns:a16="http://schemas.microsoft.com/office/drawing/2014/main" id="{76255319-619E-E71C-8554-B6E8CFB057D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600935" y="2111815"/>
            <a:ext cx="528416" cy="537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61694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A5C098-6FA4-74DD-B930-31C6ADD335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Rectangle 114">
            <a:extLst>
              <a:ext uri="{FF2B5EF4-FFF2-40B4-BE49-F238E27FC236}">
                <a16:creationId xmlns:a16="http://schemas.microsoft.com/office/drawing/2014/main" id="{3C5A16A5-20EA-4D98-1F30-79BF1D3F0990}"/>
              </a:ext>
            </a:extLst>
          </p:cNvPr>
          <p:cNvSpPr/>
          <p:nvPr/>
        </p:nvSpPr>
        <p:spPr>
          <a:xfrm>
            <a:off x="6086420" y="539695"/>
            <a:ext cx="5034151" cy="1548545"/>
          </a:xfrm>
          <a:prstGeom prst="rect">
            <a:avLst/>
          </a:prstGeom>
          <a:solidFill>
            <a:schemeClr val="accent6">
              <a:lumMod val="20000"/>
              <a:lumOff val="80000"/>
              <a:alpha val="23074"/>
            </a:schemeClr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0" name="Rectangle 189">
            <a:extLst>
              <a:ext uri="{FF2B5EF4-FFF2-40B4-BE49-F238E27FC236}">
                <a16:creationId xmlns:a16="http://schemas.microsoft.com/office/drawing/2014/main" id="{20968BB6-1160-A7CE-E03D-272D9CC0FAE8}"/>
              </a:ext>
            </a:extLst>
          </p:cNvPr>
          <p:cNvSpPr/>
          <p:nvPr/>
        </p:nvSpPr>
        <p:spPr>
          <a:xfrm>
            <a:off x="5940488" y="2751043"/>
            <a:ext cx="5227711" cy="651632"/>
          </a:xfrm>
          <a:prstGeom prst="rect">
            <a:avLst/>
          </a:prstGeom>
          <a:solidFill>
            <a:schemeClr val="bg2">
              <a:alpha val="72000"/>
            </a:schemeClr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80AFDDFE-1E74-9293-8DE8-EB14980470E5}"/>
              </a:ext>
            </a:extLst>
          </p:cNvPr>
          <p:cNvSpPr/>
          <p:nvPr/>
        </p:nvSpPr>
        <p:spPr>
          <a:xfrm>
            <a:off x="252569" y="3684220"/>
            <a:ext cx="4877275" cy="774342"/>
          </a:xfrm>
          <a:prstGeom prst="rect">
            <a:avLst/>
          </a:prstGeom>
          <a:solidFill>
            <a:schemeClr val="bg2">
              <a:alpha val="72000"/>
            </a:schemeClr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0" name="Straight Connector 169">
            <a:extLst>
              <a:ext uri="{FF2B5EF4-FFF2-40B4-BE49-F238E27FC236}">
                <a16:creationId xmlns:a16="http://schemas.microsoft.com/office/drawing/2014/main" id="{6C65EAD8-AF81-AEC1-100F-582E3A80D9BC}"/>
              </a:ext>
            </a:extLst>
          </p:cNvPr>
          <p:cNvCxnSpPr>
            <a:cxnSpLocks/>
          </p:cNvCxnSpPr>
          <p:nvPr/>
        </p:nvCxnSpPr>
        <p:spPr>
          <a:xfrm flipV="1">
            <a:off x="2754049" y="2955127"/>
            <a:ext cx="0" cy="982095"/>
          </a:xfrm>
          <a:prstGeom prst="line">
            <a:avLst/>
          </a:prstGeom>
          <a:noFill/>
          <a:ln w="12700" cap="flat" cmpd="sng" algn="ctr">
            <a:solidFill>
              <a:schemeClr val="tx1">
                <a:lumMod val="95000"/>
                <a:lumOff val="5000"/>
              </a:schemeClr>
            </a:solidFill>
            <a:prstDash val="solid"/>
            <a:headEnd type="none" w="med" len="med"/>
            <a:tailEnd type="none" w="med" len="med"/>
          </a:ln>
          <a:effectLst/>
        </p:spPr>
      </p:cxnSp>
      <p:cxnSp>
        <p:nvCxnSpPr>
          <p:cNvPr id="136" name="Straight Connector 135">
            <a:extLst>
              <a:ext uri="{FF2B5EF4-FFF2-40B4-BE49-F238E27FC236}">
                <a16:creationId xmlns:a16="http://schemas.microsoft.com/office/drawing/2014/main" id="{67222302-9D1F-B931-7AF4-539F4BF37F7E}"/>
              </a:ext>
            </a:extLst>
          </p:cNvPr>
          <p:cNvCxnSpPr>
            <a:cxnSpLocks/>
          </p:cNvCxnSpPr>
          <p:nvPr/>
        </p:nvCxnSpPr>
        <p:spPr>
          <a:xfrm>
            <a:off x="4665754" y="2906038"/>
            <a:ext cx="0" cy="1031184"/>
          </a:xfrm>
          <a:prstGeom prst="line">
            <a:avLst/>
          </a:prstGeom>
          <a:noFill/>
          <a:ln w="12700" cap="flat" cmpd="sng" algn="ctr">
            <a:solidFill>
              <a:schemeClr val="tx1">
                <a:lumMod val="95000"/>
                <a:lumOff val="5000"/>
              </a:schemeClr>
            </a:solidFill>
            <a:prstDash val="solid"/>
            <a:headEnd type="none" w="med" len="med"/>
            <a:tailEnd type="none" w="med" len="med"/>
          </a:ln>
          <a:effectLst/>
        </p:spPr>
      </p:cxnSp>
      <p:cxnSp>
        <p:nvCxnSpPr>
          <p:cNvPr id="137" name="Straight Connector 136">
            <a:extLst>
              <a:ext uri="{FF2B5EF4-FFF2-40B4-BE49-F238E27FC236}">
                <a16:creationId xmlns:a16="http://schemas.microsoft.com/office/drawing/2014/main" id="{0D1D115F-E522-5A4B-4F91-4DC9BBE4E4B5}"/>
              </a:ext>
            </a:extLst>
          </p:cNvPr>
          <p:cNvCxnSpPr>
            <a:cxnSpLocks/>
          </p:cNvCxnSpPr>
          <p:nvPr/>
        </p:nvCxnSpPr>
        <p:spPr>
          <a:xfrm flipH="1">
            <a:off x="2727414" y="2955127"/>
            <a:ext cx="1932392" cy="982095"/>
          </a:xfrm>
          <a:prstGeom prst="line">
            <a:avLst/>
          </a:prstGeom>
          <a:noFill/>
          <a:ln w="12700" cap="flat" cmpd="sng" algn="ctr">
            <a:solidFill>
              <a:schemeClr val="tx1">
                <a:lumMod val="95000"/>
                <a:lumOff val="5000"/>
              </a:schemeClr>
            </a:solidFill>
            <a:prstDash val="solid"/>
            <a:headEnd type="none" w="med" len="med"/>
            <a:tailEnd type="none" w="med" len="med"/>
          </a:ln>
          <a:effectLst/>
        </p:spPr>
      </p:cxnSp>
      <p:cxnSp>
        <p:nvCxnSpPr>
          <p:cNvPr id="138" name="Straight Connector 137">
            <a:extLst>
              <a:ext uri="{FF2B5EF4-FFF2-40B4-BE49-F238E27FC236}">
                <a16:creationId xmlns:a16="http://schemas.microsoft.com/office/drawing/2014/main" id="{3662AC27-4B44-743E-0EF1-214F14CB359E}"/>
              </a:ext>
            </a:extLst>
          </p:cNvPr>
          <p:cNvCxnSpPr>
            <a:cxnSpLocks/>
          </p:cNvCxnSpPr>
          <p:nvPr/>
        </p:nvCxnSpPr>
        <p:spPr>
          <a:xfrm>
            <a:off x="845845" y="2985762"/>
            <a:ext cx="1855181" cy="1007124"/>
          </a:xfrm>
          <a:prstGeom prst="line">
            <a:avLst/>
          </a:prstGeom>
          <a:noFill/>
          <a:ln w="12700" cap="flat" cmpd="sng" algn="ctr">
            <a:solidFill>
              <a:schemeClr val="tx1">
                <a:lumMod val="95000"/>
                <a:lumOff val="5000"/>
              </a:schemeClr>
            </a:solidFill>
            <a:prstDash val="solid"/>
            <a:headEnd type="none" w="med" len="med"/>
            <a:tailEnd type="none" w="med" len="med"/>
          </a:ln>
          <a:effectLst/>
        </p:spPr>
      </p:cxnSp>
      <p:cxnSp>
        <p:nvCxnSpPr>
          <p:cNvPr id="139" name="Straight Connector 138">
            <a:extLst>
              <a:ext uri="{FF2B5EF4-FFF2-40B4-BE49-F238E27FC236}">
                <a16:creationId xmlns:a16="http://schemas.microsoft.com/office/drawing/2014/main" id="{DF52D80D-4D73-D053-A2DD-6D8AAFD87E56}"/>
              </a:ext>
            </a:extLst>
          </p:cNvPr>
          <p:cNvCxnSpPr>
            <a:cxnSpLocks/>
          </p:cNvCxnSpPr>
          <p:nvPr/>
        </p:nvCxnSpPr>
        <p:spPr>
          <a:xfrm>
            <a:off x="892237" y="2933867"/>
            <a:ext cx="1902638" cy="0"/>
          </a:xfrm>
          <a:prstGeom prst="line">
            <a:avLst/>
          </a:prstGeom>
          <a:noFill/>
          <a:ln w="12700" cap="flat" cmpd="sng" algn="ctr">
            <a:solidFill>
              <a:schemeClr val="tx1">
                <a:lumMod val="95000"/>
                <a:lumOff val="5000"/>
              </a:schemeClr>
            </a:solidFill>
            <a:prstDash val="solid"/>
            <a:headEnd type="none" w="med" len="med"/>
            <a:tailEnd type="none" w="med" len="med"/>
          </a:ln>
          <a:effectLst/>
        </p:spPr>
      </p:cxnSp>
      <p:cxnSp>
        <p:nvCxnSpPr>
          <p:cNvPr id="140" name="Straight Connector 139">
            <a:extLst>
              <a:ext uri="{FF2B5EF4-FFF2-40B4-BE49-F238E27FC236}">
                <a16:creationId xmlns:a16="http://schemas.microsoft.com/office/drawing/2014/main" id="{5C5CF2C4-8DAC-FAF5-F3C1-580DBAE529ED}"/>
              </a:ext>
            </a:extLst>
          </p:cNvPr>
          <p:cNvCxnSpPr>
            <a:cxnSpLocks/>
          </p:cNvCxnSpPr>
          <p:nvPr/>
        </p:nvCxnSpPr>
        <p:spPr>
          <a:xfrm flipH="1">
            <a:off x="790207" y="2985762"/>
            <a:ext cx="1926517" cy="899818"/>
          </a:xfrm>
          <a:prstGeom prst="line">
            <a:avLst/>
          </a:prstGeom>
          <a:noFill/>
          <a:ln w="12700" cap="flat" cmpd="sng" algn="ctr">
            <a:solidFill>
              <a:schemeClr val="tx1">
                <a:lumMod val="95000"/>
                <a:lumOff val="5000"/>
              </a:schemeClr>
            </a:solidFill>
            <a:prstDash val="solid"/>
            <a:headEnd type="none" w="med" len="med"/>
            <a:tailEnd type="none" w="med" len="med"/>
          </a:ln>
          <a:effectLst/>
        </p:spPr>
      </p:cxnSp>
      <p:cxnSp>
        <p:nvCxnSpPr>
          <p:cNvPr id="141" name="Straight Connector 140">
            <a:extLst>
              <a:ext uri="{FF2B5EF4-FFF2-40B4-BE49-F238E27FC236}">
                <a16:creationId xmlns:a16="http://schemas.microsoft.com/office/drawing/2014/main" id="{6A4CA125-8ACF-97A7-83B9-7E09DD4EB4EF}"/>
              </a:ext>
            </a:extLst>
          </p:cNvPr>
          <p:cNvCxnSpPr>
            <a:cxnSpLocks/>
          </p:cNvCxnSpPr>
          <p:nvPr/>
        </p:nvCxnSpPr>
        <p:spPr>
          <a:xfrm>
            <a:off x="2933331" y="3955099"/>
            <a:ext cx="1361690" cy="0"/>
          </a:xfrm>
          <a:prstGeom prst="line">
            <a:avLst/>
          </a:prstGeom>
          <a:noFill/>
          <a:ln w="12700" cap="flat" cmpd="sng" algn="ctr">
            <a:solidFill>
              <a:schemeClr val="tx1">
                <a:lumMod val="95000"/>
                <a:lumOff val="5000"/>
              </a:schemeClr>
            </a:solidFill>
            <a:prstDash val="solid"/>
            <a:headEnd type="none" w="med" len="med"/>
            <a:tailEnd type="none" w="med" len="med"/>
          </a:ln>
          <a:effectLst/>
        </p:spPr>
      </p:cxnSp>
      <p:cxnSp>
        <p:nvCxnSpPr>
          <p:cNvPr id="142" name="Straight Connector 141">
            <a:extLst>
              <a:ext uri="{FF2B5EF4-FFF2-40B4-BE49-F238E27FC236}">
                <a16:creationId xmlns:a16="http://schemas.microsoft.com/office/drawing/2014/main" id="{2E414BFC-B9DB-98EB-0DD0-B977C2DCA288}"/>
              </a:ext>
            </a:extLst>
          </p:cNvPr>
          <p:cNvCxnSpPr>
            <a:cxnSpLocks/>
          </p:cNvCxnSpPr>
          <p:nvPr/>
        </p:nvCxnSpPr>
        <p:spPr>
          <a:xfrm>
            <a:off x="805019" y="2999498"/>
            <a:ext cx="0" cy="947288"/>
          </a:xfrm>
          <a:prstGeom prst="line">
            <a:avLst/>
          </a:prstGeom>
          <a:noFill/>
          <a:ln w="12700" cap="flat" cmpd="sng" algn="ctr">
            <a:solidFill>
              <a:schemeClr val="tx1">
                <a:lumMod val="95000"/>
                <a:lumOff val="5000"/>
              </a:schemeClr>
            </a:solidFill>
            <a:prstDash val="solid"/>
            <a:headEnd type="none" w="med" len="med"/>
            <a:tailEnd type="none" w="med" len="med"/>
          </a:ln>
          <a:effectLst/>
        </p:spPr>
      </p:cxnSp>
      <p:cxnSp>
        <p:nvCxnSpPr>
          <p:cNvPr id="143" name="Straight Connector 142">
            <a:extLst>
              <a:ext uri="{FF2B5EF4-FFF2-40B4-BE49-F238E27FC236}">
                <a16:creationId xmlns:a16="http://schemas.microsoft.com/office/drawing/2014/main" id="{3ED2FF02-F8B8-1406-8DF5-3B90CDEBA3DF}"/>
              </a:ext>
            </a:extLst>
          </p:cNvPr>
          <p:cNvCxnSpPr>
            <a:cxnSpLocks/>
          </p:cNvCxnSpPr>
          <p:nvPr/>
        </p:nvCxnSpPr>
        <p:spPr>
          <a:xfrm>
            <a:off x="2794875" y="2999498"/>
            <a:ext cx="1855837" cy="986813"/>
          </a:xfrm>
          <a:prstGeom prst="line">
            <a:avLst/>
          </a:prstGeom>
          <a:noFill/>
          <a:ln w="12700" cap="flat" cmpd="sng" algn="ctr">
            <a:solidFill>
              <a:schemeClr val="tx1">
                <a:lumMod val="95000"/>
                <a:lumOff val="5000"/>
              </a:schemeClr>
            </a:solidFill>
            <a:prstDash val="solid"/>
            <a:headEnd type="none" w="med" len="med"/>
            <a:tailEnd type="none" w="med" len="med"/>
          </a:ln>
          <a:effectLst/>
        </p:spPr>
      </p:cxnSp>
      <p:pic>
        <p:nvPicPr>
          <p:cNvPr id="144" name="Picture 143">
            <a:extLst>
              <a:ext uri="{FF2B5EF4-FFF2-40B4-BE49-F238E27FC236}">
                <a16:creationId xmlns:a16="http://schemas.microsoft.com/office/drawing/2014/main" id="{C03BC0B8-EF21-49EC-F1BC-4626A87AC7DC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rgbClr val="D9C3A5">
                <a:tint val="50000"/>
                <a:satMod val="180000"/>
              </a:srgbClr>
            </a:duotone>
          </a:blip>
          <a:stretch>
            <a:fillRect/>
          </a:stretch>
        </p:blipFill>
        <p:spPr>
          <a:xfrm>
            <a:off x="4147191" y="3708622"/>
            <a:ext cx="883920" cy="457200"/>
          </a:xfrm>
          <a:prstGeom prst="rect">
            <a:avLst/>
          </a:prstGeom>
        </p:spPr>
      </p:pic>
      <p:pic>
        <p:nvPicPr>
          <p:cNvPr id="145" name="Picture 144">
            <a:extLst>
              <a:ext uri="{FF2B5EF4-FFF2-40B4-BE49-F238E27FC236}">
                <a16:creationId xmlns:a16="http://schemas.microsoft.com/office/drawing/2014/main" id="{33B876CF-3CA7-277A-A1DD-1FAC42D4AAF3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rgbClr val="D9C3A5">
                <a:tint val="50000"/>
                <a:satMod val="180000"/>
              </a:srgbClr>
            </a:duotone>
          </a:blip>
          <a:stretch>
            <a:fillRect/>
          </a:stretch>
        </p:blipFill>
        <p:spPr>
          <a:xfrm>
            <a:off x="2207516" y="3718186"/>
            <a:ext cx="883920" cy="457200"/>
          </a:xfrm>
          <a:prstGeom prst="rect">
            <a:avLst/>
          </a:prstGeom>
        </p:spPr>
      </p:pic>
      <p:pic>
        <p:nvPicPr>
          <p:cNvPr id="146" name="Picture 145">
            <a:extLst>
              <a:ext uri="{FF2B5EF4-FFF2-40B4-BE49-F238E27FC236}">
                <a16:creationId xmlns:a16="http://schemas.microsoft.com/office/drawing/2014/main" id="{03DEF112-5115-AA02-EE68-1499D082EBA4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rgbClr val="D9C3A5">
                <a:tint val="50000"/>
                <a:satMod val="180000"/>
              </a:srgbClr>
            </a:duotone>
          </a:blip>
          <a:stretch>
            <a:fillRect/>
          </a:stretch>
        </p:blipFill>
        <p:spPr>
          <a:xfrm>
            <a:off x="259064" y="3712090"/>
            <a:ext cx="883920" cy="457200"/>
          </a:xfrm>
          <a:prstGeom prst="rect">
            <a:avLst/>
          </a:prstGeom>
        </p:spPr>
      </p:pic>
      <p:pic>
        <p:nvPicPr>
          <p:cNvPr id="147" name="Picture 146">
            <a:extLst>
              <a:ext uri="{FF2B5EF4-FFF2-40B4-BE49-F238E27FC236}">
                <a16:creationId xmlns:a16="http://schemas.microsoft.com/office/drawing/2014/main" id="{D1C57E70-325E-21FC-F8A0-71583C1EF5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1599" y="2645432"/>
            <a:ext cx="883920" cy="457200"/>
          </a:xfrm>
          <a:prstGeom prst="rect">
            <a:avLst/>
          </a:prstGeom>
        </p:spPr>
      </p:pic>
      <p:pic>
        <p:nvPicPr>
          <p:cNvPr id="148" name="Picture 147">
            <a:extLst>
              <a:ext uri="{FF2B5EF4-FFF2-40B4-BE49-F238E27FC236}">
                <a16:creationId xmlns:a16="http://schemas.microsoft.com/office/drawing/2014/main" id="{036FFA4A-3801-9A97-A8AA-106506F1B9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2569" y="2669377"/>
            <a:ext cx="883920" cy="457200"/>
          </a:xfrm>
          <a:prstGeom prst="rect">
            <a:avLst/>
          </a:prstGeom>
        </p:spPr>
      </p:pic>
      <p:pic>
        <p:nvPicPr>
          <p:cNvPr id="149" name="Picture 148">
            <a:extLst>
              <a:ext uri="{FF2B5EF4-FFF2-40B4-BE49-F238E27FC236}">
                <a16:creationId xmlns:a16="http://schemas.microsoft.com/office/drawing/2014/main" id="{916DB8ED-9316-74EE-6DD9-4AD0FC6F2D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50629" y="2649604"/>
            <a:ext cx="883920" cy="457200"/>
          </a:xfrm>
          <a:prstGeom prst="rect">
            <a:avLst/>
          </a:prstGeom>
        </p:spPr>
      </p:pic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9F78F789-B565-7023-6F0D-1827A11E485C}"/>
              </a:ext>
            </a:extLst>
          </p:cNvPr>
          <p:cNvCxnSpPr>
            <a:cxnSpLocks/>
          </p:cNvCxnSpPr>
          <p:nvPr/>
        </p:nvCxnSpPr>
        <p:spPr>
          <a:xfrm flipV="1">
            <a:off x="8880372" y="3130506"/>
            <a:ext cx="0" cy="1037759"/>
          </a:xfrm>
          <a:prstGeom prst="line">
            <a:avLst/>
          </a:prstGeom>
          <a:noFill/>
          <a:ln w="12700" cap="flat" cmpd="sng" algn="ctr">
            <a:solidFill>
              <a:schemeClr val="tx1">
                <a:lumMod val="95000"/>
                <a:lumOff val="5000"/>
              </a:schemeClr>
            </a:solidFill>
            <a:prstDash val="solid"/>
            <a:headEnd type="none" w="med" len="med"/>
            <a:tailEnd type="none" w="med" len="med"/>
          </a:ln>
          <a:effectLst/>
        </p:spPr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0441E1A0-0096-5CCF-2EC4-28EF27CCC553}"/>
              </a:ext>
            </a:extLst>
          </p:cNvPr>
          <p:cNvCxnSpPr>
            <a:cxnSpLocks/>
          </p:cNvCxnSpPr>
          <p:nvPr/>
        </p:nvCxnSpPr>
        <p:spPr>
          <a:xfrm>
            <a:off x="10792077" y="3081417"/>
            <a:ext cx="2673" cy="1040630"/>
          </a:xfrm>
          <a:prstGeom prst="line">
            <a:avLst/>
          </a:prstGeom>
          <a:noFill/>
          <a:ln w="12700" cap="flat" cmpd="sng" algn="ctr">
            <a:solidFill>
              <a:schemeClr val="tx1">
                <a:lumMod val="95000"/>
                <a:lumOff val="5000"/>
              </a:schemeClr>
            </a:solidFill>
            <a:prstDash val="solid"/>
            <a:headEnd type="none" w="med" len="med"/>
            <a:tailEnd type="none" w="med" len="med"/>
          </a:ln>
          <a:effectLst/>
        </p:spPr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C6C79A23-5208-EC6A-2310-1E93CFF40D6F}"/>
              </a:ext>
            </a:extLst>
          </p:cNvPr>
          <p:cNvCxnSpPr>
            <a:cxnSpLocks/>
          </p:cNvCxnSpPr>
          <p:nvPr/>
        </p:nvCxnSpPr>
        <p:spPr>
          <a:xfrm flipH="1">
            <a:off x="8898798" y="3130506"/>
            <a:ext cx="1887331" cy="928900"/>
          </a:xfrm>
          <a:prstGeom prst="line">
            <a:avLst/>
          </a:prstGeom>
          <a:noFill/>
          <a:ln w="12700" cap="flat" cmpd="sng" algn="ctr">
            <a:solidFill>
              <a:schemeClr val="tx1">
                <a:lumMod val="95000"/>
                <a:lumOff val="5000"/>
              </a:schemeClr>
            </a:solidFill>
            <a:prstDash val="solid"/>
            <a:headEnd type="none" w="med" len="med"/>
            <a:tailEnd type="none" w="med" len="med"/>
          </a:ln>
          <a:effectLst/>
        </p:spPr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02DF8DF9-D542-02DD-1B92-815170E7BE96}"/>
              </a:ext>
            </a:extLst>
          </p:cNvPr>
          <p:cNvCxnSpPr>
            <a:cxnSpLocks/>
          </p:cNvCxnSpPr>
          <p:nvPr/>
        </p:nvCxnSpPr>
        <p:spPr>
          <a:xfrm>
            <a:off x="6972168" y="3161141"/>
            <a:ext cx="1852453" cy="986568"/>
          </a:xfrm>
          <a:prstGeom prst="line">
            <a:avLst/>
          </a:prstGeom>
          <a:noFill/>
          <a:ln w="12700" cap="flat" cmpd="sng" algn="ctr">
            <a:solidFill>
              <a:schemeClr val="tx1">
                <a:lumMod val="95000"/>
                <a:lumOff val="5000"/>
              </a:schemeClr>
            </a:solidFill>
            <a:prstDash val="solid"/>
            <a:headEnd type="none" w="med" len="med"/>
            <a:tailEnd type="none" w="med" len="med"/>
          </a:ln>
          <a:effectLst/>
        </p:spPr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71E0321B-E599-0693-2E97-2BDEBB19C24D}"/>
              </a:ext>
            </a:extLst>
          </p:cNvPr>
          <p:cNvCxnSpPr>
            <a:cxnSpLocks/>
          </p:cNvCxnSpPr>
          <p:nvPr/>
        </p:nvCxnSpPr>
        <p:spPr>
          <a:xfrm>
            <a:off x="7018560" y="3109246"/>
            <a:ext cx="1902638" cy="0"/>
          </a:xfrm>
          <a:prstGeom prst="line">
            <a:avLst/>
          </a:prstGeom>
          <a:noFill/>
          <a:ln w="12700" cap="flat" cmpd="sng" algn="ctr">
            <a:solidFill>
              <a:schemeClr val="tx1">
                <a:lumMod val="95000"/>
                <a:lumOff val="5000"/>
              </a:schemeClr>
            </a:solidFill>
            <a:prstDash val="solid"/>
            <a:headEnd type="none" w="med" len="med"/>
            <a:tailEnd type="none" w="med" len="med"/>
          </a:ln>
          <a:effectLst/>
        </p:spPr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ADF1B0F7-E335-539E-1941-47EBDABEC748}"/>
              </a:ext>
            </a:extLst>
          </p:cNvPr>
          <p:cNvCxnSpPr>
            <a:cxnSpLocks/>
          </p:cNvCxnSpPr>
          <p:nvPr/>
        </p:nvCxnSpPr>
        <p:spPr>
          <a:xfrm flipH="1">
            <a:off x="6962126" y="3161141"/>
            <a:ext cx="1880921" cy="951460"/>
          </a:xfrm>
          <a:prstGeom prst="line">
            <a:avLst/>
          </a:prstGeom>
          <a:noFill/>
          <a:ln w="12700" cap="flat" cmpd="sng" algn="ctr">
            <a:solidFill>
              <a:schemeClr val="tx1">
                <a:lumMod val="95000"/>
                <a:lumOff val="5000"/>
              </a:schemeClr>
            </a:solidFill>
            <a:prstDash val="solid"/>
            <a:headEnd type="none" w="med" len="med"/>
            <a:tailEnd type="none" w="med" len="med"/>
          </a:ln>
          <a:effectLst/>
        </p:spPr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37151302-31D8-82AF-AC2E-6EA41F2F1556}"/>
              </a:ext>
            </a:extLst>
          </p:cNvPr>
          <p:cNvCxnSpPr>
            <a:cxnSpLocks/>
          </p:cNvCxnSpPr>
          <p:nvPr/>
        </p:nvCxnSpPr>
        <p:spPr>
          <a:xfrm>
            <a:off x="9080187" y="4112601"/>
            <a:ext cx="1361690" cy="0"/>
          </a:xfrm>
          <a:prstGeom prst="line">
            <a:avLst/>
          </a:prstGeom>
          <a:noFill/>
          <a:ln w="12700" cap="flat" cmpd="sng" algn="ctr">
            <a:solidFill>
              <a:schemeClr val="tx1">
                <a:lumMod val="95000"/>
                <a:lumOff val="5000"/>
              </a:schemeClr>
            </a:solidFill>
            <a:prstDash val="solid"/>
            <a:headEnd type="none" w="med" len="med"/>
            <a:tailEnd type="none" w="med" len="med"/>
          </a:ln>
          <a:effectLst/>
        </p:spPr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1AE3C1EA-8CFE-A318-66C7-06832CF4338F}"/>
              </a:ext>
            </a:extLst>
          </p:cNvPr>
          <p:cNvCxnSpPr>
            <a:cxnSpLocks/>
          </p:cNvCxnSpPr>
          <p:nvPr/>
        </p:nvCxnSpPr>
        <p:spPr>
          <a:xfrm>
            <a:off x="6931342" y="3174877"/>
            <a:ext cx="0" cy="993388"/>
          </a:xfrm>
          <a:prstGeom prst="line">
            <a:avLst/>
          </a:prstGeom>
          <a:noFill/>
          <a:ln w="12700" cap="flat" cmpd="sng" algn="ctr">
            <a:solidFill>
              <a:schemeClr val="tx1">
                <a:lumMod val="95000"/>
                <a:lumOff val="5000"/>
              </a:schemeClr>
            </a:solidFill>
            <a:prstDash val="solid"/>
            <a:headEnd type="none" w="med" len="med"/>
            <a:tailEnd type="none" w="med" len="med"/>
          </a:ln>
          <a:effectLst/>
        </p:spPr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B29CA109-B513-524F-4BDA-2FF0857C3420}"/>
              </a:ext>
            </a:extLst>
          </p:cNvPr>
          <p:cNvCxnSpPr>
            <a:cxnSpLocks/>
          </p:cNvCxnSpPr>
          <p:nvPr/>
        </p:nvCxnSpPr>
        <p:spPr>
          <a:xfrm>
            <a:off x="8921198" y="3174877"/>
            <a:ext cx="1841740" cy="981691"/>
          </a:xfrm>
          <a:prstGeom prst="line">
            <a:avLst/>
          </a:prstGeom>
          <a:noFill/>
          <a:ln w="12700" cap="flat" cmpd="sng" algn="ctr">
            <a:solidFill>
              <a:schemeClr val="tx1">
                <a:lumMod val="95000"/>
                <a:lumOff val="5000"/>
              </a:schemeClr>
            </a:solidFill>
            <a:prstDash val="solid"/>
            <a:headEnd type="none" w="med" len="med"/>
            <a:tailEnd type="none" w="med" len="med"/>
          </a:ln>
          <a:effectLst/>
        </p:spPr>
      </p:cxnSp>
      <p:pic>
        <p:nvPicPr>
          <p:cNvPr id="52" name="Picture 51">
            <a:extLst>
              <a:ext uri="{FF2B5EF4-FFF2-40B4-BE49-F238E27FC236}">
                <a16:creationId xmlns:a16="http://schemas.microsoft.com/office/drawing/2014/main" id="{F2C147DD-E28A-3A04-7584-F0957720B2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39519" y="3893447"/>
            <a:ext cx="883920" cy="457200"/>
          </a:xfrm>
          <a:prstGeom prst="rect">
            <a:avLst/>
          </a:prstGeom>
        </p:spPr>
      </p:pic>
      <p:pic>
        <p:nvPicPr>
          <p:cNvPr id="53" name="Picture 52">
            <a:extLst>
              <a:ext uri="{FF2B5EF4-FFF2-40B4-BE49-F238E27FC236}">
                <a16:creationId xmlns:a16="http://schemas.microsoft.com/office/drawing/2014/main" id="{31EB5A2A-63C4-7AA3-0820-505048F224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9967" y="3884001"/>
            <a:ext cx="883920" cy="457200"/>
          </a:xfrm>
          <a:prstGeom prst="rect">
            <a:avLst/>
          </a:prstGeom>
        </p:spPr>
      </p:pic>
      <p:pic>
        <p:nvPicPr>
          <p:cNvPr id="54" name="Picture 53">
            <a:extLst>
              <a:ext uri="{FF2B5EF4-FFF2-40B4-BE49-F238E27FC236}">
                <a16:creationId xmlns:a16="http://schemas.microsoft.com/office/drawing/2014/main" id="{B22DC733-3B55-FEB1-B973-884E29EC4A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8501" y="3893447"/>
            <a:ext cx="883920" cy="457200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C8B0C193-CDEA-7641-71DC-EC1A3F75CE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7922" y="2820811"/>
            <a:ext cx="883920" cy="457200"/>
          </a:xfrm>
          <a:prstGeom prst="rect">
            <a:avLst/>
          </a:prstGeom>
        </p:spPr>
      </p:pic>
      <p:pic>
        <p:nvPicPr>
          <p:cNvPr id="56" name="Picture 55">
            <a:extLst>
              <a:ext uri="{FF2B5EF4-FFF2-40B4-BE49-F238E27FC236}">
                <a16:creationId xmlns:a16="http://schemas.microsoft.com/office/drawing/2014/main" id="{FD5D0827-23EC-3DB5-1DE0-08CBF3D3A3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8892" y="2844756"/>
            <a:ext cx="883920" cy="457200"/>
          </a:xfrm>
          <a:prstGeom prst="rect">
            <a:avLst/>
          </a:prstGeom>
        </p:spPr>
      </p:pic>
      <p:pic>
        <p:nvPicPr>
          <p:cNvPr id="57" name="Picture 56">
            <a:extLst>
              <a:ext uri="{FF2B5EF4-FFF2-40B4-BE49-F238E27FC236}">
                <a16:creationId xmlns:a16="http://schemas.microsoft.com/office/drawing/2014/main" id="{F374F26C-7CE4-2D82-DF94-D8FFFCFEF7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64495" y="2825087"/>
            <a:ext cx="883920" cy="457200"/>
          </a:xfrm>
          <a:prstGeom prst="rect">
            <a:avLst/>
          </a:prstGeom>
        </p:spPr>
      </p:pic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3A0E0661-B0B0-0C89-A22C-5AC9C5B7675A}"/>
              </a:ext>
            </a:extLst>
          </p:cNvPr>
          <p:cNvCxnSpPr>
            <a:cxnSpLocks/>
          </p:cNvCxnSpPr>
          <p:nvPr/>
        </p:nvCxnSpPr>
        <p:spPr>
          <a:xfrm>
            <a:off x="5560484" y="1206270"/>
            <a:ext cx="0" cy="3318760"/>
          </a:xfrm>
          <a:prstGeom prst="line">
            <a:avLst/>
          </a:prstGeom>
          <a:ln w="44450" cmpd="dbl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TextBox 62">
            <a:extLst>
              <a:ext uri="{FF2B5EF4-FFF2-40B4-BE49-F238E27FC236}">
                <a16:creationId xmlns:a16="http://schemas.microsoft.com/office/drawing/2014/main" id="{8200DC9C-C05F-A6BA-D054-CCD11A33805A}"/>
              </a:ext>
            </a:extLst>
          </p:cNvPr>
          <p:cNvSpPr txBox="1"/>
          <p:nvPr/>
        </p:nvSpPr>
        <p:spPr>
          <a:xfrm>
            <a:off x="4880538" y="2514337"/>
            <a:ext cx="6623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RPKI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1D21EF13-5E25-E92E-7E06-00C4CA8953C5}"/>
              </a:ext>
            </a:extLst>
          </p:cNvPr>
          <p:cNvSpPr txBox="1"/>
          <p:nvPr/>
        </p:nvSpPr>
        <p:spPr>
          <a:xfrm>
            <a:off x="612234" y="2406521"/>
            <a:ext cx="145905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RPKI-enabled</a:t>
            </a:r>
          </a:p>
          <a:p>
            <a:pPr algn="ctr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AS</a:t>
            </a: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51CB9F77-A64A-8BF1-2FB3-682AF42AA475}"/>
              </a:ext>
            </a:extLst>
          </p:cNvPr>
          <p:cNvSpPr txBox="1"/>
          <p:nvPr/>
        </p:nvSpPr>
        <p:spPr>
          <a:xfrm>
            <a:off x="1133315" y="4106245"/>
            <a:ext cx="315971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Isolated world of non-RPKI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ASes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E35B79F6-B416-0410-FE2E-08DE2B2C62B9}"/>
              </a:ext>
            </a:extLst>
          </p:cNvPr>
          <p:cNvSpPr/>
          <p:nvPr/>
        </p:nvSpPr>
        <p:spPr>
          <a:xfrm>
            <a:off x="598934" y="594333"/>
            <a:ext cx="4637594" cy="858133"/>
          </a:xfrm>
          <a:prstGeom prst="rect">
            <a:avLst/>
          </a:prstGeom>
          <a:solidFill>
            <a:schemeClr val="accent6">
              <a:lumMod val="20000"/>
              <a:lumOff val="80000"/>
              <a:alpha val="23074"/>
            </a:schemeClr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Central RPKI Repository</a:t>
            </a:r>
          </a:p>
          <a:p>
            <a:pPr algn="ctr"/>
            <a:r>
              <a:rPr lang="en-US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(ROA records, etc.)</a:t>
            </a:r>
          </a:p>
        </p:txBody>
      </p:sp>
      <p:pic>
        <p:nvPicPr>
          <p:cNvPr id="1028" name="Picture 4" descr="Data collection - Free electronics icons">
            <a:extLst>
              <a:ext uri="{FF2B5EF4-FFF2-40B4-BE49-F238E27FC236}">
                <a16:creationId xmlns:a16="http://schemas.microsoft.com/office/drawing/2014/main" id="{8364828B-1364-2CBF-7485-4BACCDB9F5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0262" y="716879"/>
            <a:ext cx="622998" cy="6229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2" name="TextBox 111">
            <a:extLst>
              <a:ext uri="{FF2B5EF4-FFF2-40B4-BE49-F238E27FC236}">
                <a16:creationId xmlns:a16="http://schemas.microsoft.com/office/drawing/2014/main" id="{E65CA1E0-46BA-188C-6A26-9248069720B7}"/>
              </a:ext>
            </a:extLst>
          </p:cNvPr>
          <p:cNvSpPr txBox="1"/>
          <p:nvPr/>
        </p:nvSpPr>
        <p:spPr>
          <a:xfrm>
            <a:off x="2678403" y="1719258"/>
            <a:ext cx="153907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RPKI-only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algn="ctr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ROA validation</a:t>
            </a:r>
          </a:p>
        </p:txBody>
      </p:sp>
      <p:pic>
        <p:nvPicPr>
          <p:cNvPr id="118" name="Graphic 117" descr="Clipboard with solid fill">
            <a:extLst>
              <a:ext uri="{FF2B5EF4-FFF2-40B4-BE49-F238E27FC236}">
                <a16:creationId xmlns:a16="http://schemas.microsoft.com/office/drawing/2014/main" id="{27854373-CD66-C895-FF45-4858D78F896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436639" y="1609446"/>
            <a:ext cx="365760" cy="365760"/>
          </a:xfrm>
          <a:prstGeom prst="rect">
            <a:avLst/>
          </a:prstGeom>
        </p:spPr>
      </p:pic>
      <p:pic>
        <p:nvPicPr>
          <p:cNvPr id="126" name="Graphic 125" descr="Fingerprint with solid fill">
            <a:extLst>
              <a:ext uri="{FF2B5EF4-FFF2-40B4-BE49-F238E27FC236}">
                <a16:creationId xmlns:a16="http://schemas.microsoft.com/office/drawing/2014/main" id="{302A66CD-02F9-55C1-0D16-4BCE99D11BA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546157" y="1263186"/>
            <a:ext cx="640080" cy="640080"/>
          </a:xfrm>
          <a:prstGeom prst="rect">
            <a:avLst/>
          </a:prstGeom>
        </p:spPr>
      </p:pic>
      <p:pic>
        <p:nvPicPr>
          <p:cNvPr id="128" name="Graphic 127" descr="Badge Tick with solid fill">
            <a:extLst>
              <a:ext uri="{FF2B5EF4-FFF2-40B4-BE49-F238E27FC236}">
                <a16:creationId xmlns:a16="http://schemas.microsoft.com/office/drawing/2014/main" id="{8C630E98-97C3-A910-A768-B0E3F8F8320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127960" y="1289996"/>
            <a:ext cx="640080" cy="640080"/>
          </a:xfrm>
          <a:prstGeom prst="rect">
            <a:avLst/>
          </a:prstGeom>
        </p:spPr>
      </p:pic>
      <p:sp>
        <p:nvSpPr>
          <p:cNvPr id="130" name="TextBox 129">
            <a:extLst>
              <a:ext uri="{FF2B5EF4-FFF2-40B4-BE49-F238E27FC236}">
                <a16:creationId xmlns:a16="http://schemas.microsoft.com/office/drawing/2014/main" id="{C56890FE-8AA0-3251-1601-62B5E09B92B3}"/>
              </a:ext>
            </a:extLst>
          </p:cNvPr>
          <p:cNvSpPr txBox="1"/>
          <p:nvPr/>
        </p:nvSpPr>
        <p:spPr>
          <a:xfrm>
            <a:off x="7125277" y="4364825"/>
            <a:ext cx="339868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Unified observability of BGP-Sentry</a:t>
            </a:r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03C8B7CC-DFBA-2BB1-7CFD-CF32516ED6B9}"/>
              </a:ext>
            </a:extLst>
          </p:cNvPr>
          <p:cNvSpPr txBox="1"/>
          <p:nvPr/>
        </p:nvSpPr>
        <p:spPr>
          <a:xfrm>
            <a:off x="4985602" y="3081618"/>
            <a:ext cx="4833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7A089680-668A-BB47-A806-2D6C794B6B76}"/>
              </a:ext>
            </a:extLst>
          </p:cNvPr>
          <p:cNvSpPr txBox="1"/>
          <p:nvPr/>
        </p:nvSpPr>
        <p:spPr>
          <a:xfrm>
            <a:off x="102126" y="3143757"/>
            <a:ext cx="4833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</a:p>
        </p:txBody>
      </p:sp>
      <p:sp>
        <p:nvSpPr>
          <p:cNvPr id="188" name="TextBox 187">
            <a:extLst>
              <a:ext uri="{FF2B5EF4-FFF2-40B4-BE49-F238E27FC236}">
                <a16:creationId xmlns:a16="http://schemas.microsoft.com/office/drawing/2014/main" id="{89582814-26FD-52E4-1720-C2ACCA59D85A}"/>
              </a:ext>
            </a:extLst>
          </p:cNvPr>
          <p:cNvSpPr txBox="1"/>
          <p:nvPr/>
        </p:nvSpPr>
        <p:spPr>
          <a:xfrm>
            <a:off x="11084739" y="3282676"/>
            <a:ext cx="4833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</a:p>
        </p:txBody>
      </p:sp>
      <p:sp>
        <p:nvSpPr>
          <p:cNvPr id="189" name="TextBox 188">
            <a:extLst>
              <a:ext uri="{FF2B5EF4-FFF2-40B4-BE49-F238E27FC236}">
                <a16:creationId xmlns:a16="http://schemas.microsoft.com/office/drawing/2014/main" id="{626AF6F5-C95C-6F63-B806-DDF5D9E89132}"/>
              </a:ext>
            </a:extLst>
          </p:cNvPr>
          <p:cNvSpPr txBox="1"/>
          <p:nvPr/>
        </p:nvSpPr>
        <p:spPr>
          <a:xfrm>
            <a:off x="2951815" y="2512792"/>
            <a:ext cx="6623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RPKI</a:t>
            </a:r>
          </a:p>
        </p:txBody>
      </p:sp>
      <p:sp>
        <p:nvSpPr>
          <p:cNvPr id="1024" name="TextBox 1023">
            <a:extLst>
              <a:ext uri="{FF2B5EF4-FFF2-40B4-BE49-F238E27FC236}">
                <a16:creationId xmlns:a16="http://schemas.microsoft.com/office/drawing/2014/main" id="{DA93916E-A646-E785-D58E-6FFC6CBD5979}"/>
              </a:ext>
            </a:extLst>
          </p:cNvPr>
          <p:cNvSpPr txBox="1"/>
          <p:nvPr/>
        </p:nvSpPr>
        <p:spPr>
          <a:xfrm>
            <a:off x="6959650" y="2833784"/>
            <a:ext cx="160117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RPKI trust proxies</a:t>
            </a:r>
          </a:p>
        </p:txBody>
      </p:sp>
      <p:sp>
        <p:nvSpPr>
          <p:cNvPr id="1025" name="TextBox 1024">
            <a:extLst>
              <a:ext uri="{FF2B5EF4-FFF2-40B4-BE49-F238E27FC236}">
                <a16:creationId xmlns:a16="http://schemas.microsoft.com/office/drawing/2014/main" id="{D0643655-098B-39F1-5A4F-EB677B066596}"/>
              </a:ext>
            </a:extLst>
          </p:cNvPr>
          <p:cNvSpPr txBox="1"/>
          <p:nvPr/>
        </p:nvSpPr>
        <p:spPr>
          <a:xfrm>
            <a:off x="8960444" y="2827964"/>
            <a:ext cx="160117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RPKI trust proxies</a:t>
            </a:r>
          </a:p>
        </p:txBody>
      </p:sp>
      <p:sp>
        <p:nvSpPr>
          <p:cNvPr id="1027" name="TextBox 1026">
            <a:extLst>
              <a:ext uri="{FF2B5EF4-FFF2-40B4-BE49-F238E27FC236}">
                <a16:creationId xmlns:a16="http://schemas.microsoft.com/office/drawing/2014/main" id="{C8923019-442A-6B9A-1316-6564D13FB18E}"/>
              </a:ext>
            </a:extLst>
          </p:cNvPr>
          <p:cNvSpPr txBox="1"/>
          <p:nvPr/>
        </p:nvSpPr>
        <p:spPr>
          <a:xfrm>
            <a:off x="5470134" y="3207684"/>
            <a:ext cx="135370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Prefix Observation</a:t>
            </a:r>
          </a:p>
        </p:txBody>
      </p:sp>
      <p:sp>
        <p:nvSpPr>
          <p:cNvPr id="1029" name="Oval 1028">
            <a:extLst>
              <a:ext uri="{FF2B5EF4-FFF2-40B4-BE49-F238E27FC236}">
                <a16:creationId xmlns:a16="http://schemas.microsoft.com/office/drawing/2014/main" id="{FE615276-F840-3356-BB9C-F3C1B103E189}"/>
              </a:ext>
            </a:extLst>
          </p:cNvPr>
          <p:cNvSpPr/>
          <p:nvPr/>
        </p:nvSpPr>
        <p:spPr>
          <a:xfrm>
            <a:off x="5977415" y="2942630"/>
            <a:ext cx="274320" cy="27432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1030" name="Oval 1029">
            <a:extLst>
              <a:ext uri="{FF2B5EF4-FFF2-40B4-BE49-F238E27FC236}">
                <a16:creationId xmlns:a16="http://schemas.microsoft.com/office/drawing/2014/main" id="{01969B16-21C1-2CB5-4827-070DC3388D3B}"/>
              </a:ext>
            </a:extLst>
          </p:cNvPr>
          <p:cNvSpPr/>
          <p:nvPr/>
        </p:nvSpPr>
        <p:spPr>
          <a:xfrm>
            <a:off x="6150908" y="676922"/>
            <a:ext cx="274320" cy="27432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</p:txBody>
      </p:sp>
      <p:sp>
        <p:nvSpPr>
          <p:cNvPr id="1031" name="TextBox 1030">
            <a:extLst>
              <a:ext uri="{FF2B5EF4-FFF2-40B4-BE49-F238E27FC236}">
                <a16:creationId xmlns:a16="http://schemas.microsoft.com/office/drawing/2014/main" id="{183EA421-3DA4-9683-0230-3CD57B0EADBF}"/>
              </a:ext>
            </a:extLst>
          </p:cNvPr>
          <p:cNvSpPr txBox="1"/>
          <p:nvPr/>
        </p:nvSpPr>
        <p:spPr>
          <a:xfrm>
            <a:off x="6385317" y="613536"/>
            <a:ext cx="128686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PoP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Ledger Commit</a:t>
            </a:r>
          </a:p>
        </p:txBody>
      </p:sp>
      <p:sp>
        <p:nvSpPr>
          <p:cNvPr id="1032" name="TextBox 1031">
            <a:extLst>
              <a:ext uri="{FF2B5EF4-FFF2-40B4-BE49-F238E27FC236}">
                <a16:creationId xmlns:a16="http://schemas.microsoft.com/office/drawing/2014/main" id="{C66CACF4-1A27-80F8-BE2E-0220B2993E24}"/>
              </a:ext>
            </a:extLst>
          </p:cNvPr>
          <p:cNvSpPr txBox="1"/>
          <p:nvPr/>
        </p:nvSpPr>
        <p:spPr>
          <a:xfrm>
            <a:off x="8101353" y="617940"/>
            <a:ext cx="155803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Forensic </a:t>
            </a:r>
          </a:p>
          <a:p>
            <a:pPr algn="ctr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Audit Trail</a:t>
            </a:r>
          </a:p>
        </p:txBody>
      </p:sp>
      <p:sp>
        <p:nvSpPr>
          <p:cNvPr id="1033" name="TextBox 1032">
            <a:extLst>
              <a:ext uri="{FF2B5EF4-FFF2-40B4-BE49-F238E27FC236}">
                <a16:creationId xmlns:a16="http://schemas.microsoft.com/office/drawing/2014/main" id="{65FC0460-3DB6-CBA1-33F8-DB28388FF19D}"/>
              </a:ext>
            </a:extLst>
          </p:cNvPr>
          <p:cNvSpPr txBox="1"/>
          <p:nvPr/>
        </p:nvSpPr>
        <p:spPr>
          <a:xfrm>
            <a:off x="9679721" y="617940"/>
            <a:ext cx="155803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Trust Quantification</a:t>
            </a:r>
          </a:p>
        </p:txBody>
      </p:sp>
      <p:pic>
        <p:nvPicPr>
          <p:cNvPr id="1026" name="Picture 2" descr="blockchain Vector Icons free download in SVG, PNG Format">
            <a:extLst>
              <a:ext uri="{FF2B5EF4-FFF2-40B4-BE49-F238E27FC236}">
                <a16:creationId xmlns:a16="http://schemas.microsoft.com/office/drawing/2014/main" id="{F1865EE4-2282-4095-69C2-01492849D0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58279" y="1174286"/>
            <a:ext cx="887025" cy="887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0" descr="Population Icon Vector Isolated On White Stock Vector (Royalty Free)  1178239927 | Shutterstock">
            <a:extLst>
              <a:ext uri="{FF2B5EF4-FFF2-40B4-BE49-F238E27FC236}">
                <a16:creationId xmlns:a16="http://schemas.microsoft.com/office/drawing/2014/main" id="{8CDBD414-B3CC-015B-DFB3-422B4F30A21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9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421" t="20616" r="11520" b="44789"/>
          <a:stretch>
            <a:fillRect/>
          </a:stretch>
        </p:blipFill>
        <p:spPr bwMode="auto">
          <a:xfrm>
            <a:off x="6969907" y="1619601"/>
            <a:ext cx="525009" cy="3385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37" name="Oval 1036">
            <a:extLst>
              <a:ext uri="{FF2B5EF4-FFF2-40B4-BE49-F238E27FC236}">
                <a16:creationId xmlns:a16="http://schemas.microsoft.com/office/drawing/2014/main" id="{1E157D4E-6C13-9F44-83A6-362705BFA44D}"/>
              </a:ext>
            </a:extLst>
          </p:cNvPr>
          <p:cNvSpPr/>
          <p:nvPr/>
        </p:nvSpPr>
        <p:spPr>
          <a:xfrm>
            <a:off x="8081023" y="617745"/>
            <a:ext cx="274320" cy="27432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</a:p>
        </p:txBody>
      </p:sp>
      <p:sp>
        <p:nvSpPr>
          <p:cNvPr id="1038" name="Oval 1037">
            <a:extLst>
              <a:ext uri="{FF2B5EF4-FFF2-40B4-BE49-F238E27FC236}">
                <a16:creationId xmlns:a16="http://schemas.microsoft.com/office/drawing/2014/main" id="{561234F3-35F8-6D0F-8122-60D08577AA66}"/>
              </a:ext>
            </a:extLst>
          </p:cNvPr>
          <p:cNvSpPr/>
          <p:nvPr/>
        </p:nvSpPr>
        <p:spPr>
          <a:xfrm>
            <a:off x="9853640" y="621124"/>
            <a:ext cx="274320" cy="27432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</p:txBody>
      </p:sp>
      <p:sp>
        <p:nvSpPr>
          <p:cNvPr id="1039" name="Rectangle 1038">
            <a:extLst>
              <a:ext uri="{FF2B5EF4-FFF2-40B4-BE49-F238E27FC236}">
                <a16:creationId xmlns:a16="http://schemas.microsoft.com/office/drawing/2014/main" id="{BA1F74E4-AE24-558D-35BC-0FB435F66DBA}"/>
              </a:ext>
            </a:extLst>
          </p:cNvPr>
          <p:cNvSpPr/>
          <p:nvPr/>
        </p:nvSpPr>
        <p:spPr>
          <a:xfrm>
            <a:off x="5344950" y="1965328"/>
            <a:ext cx="539491" cy="17373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6FBB2C3F-1F06-D636-C1B4-F2BC41887902}"/>
              </a:ext>
            </a:extLst>
          </p:cNvPr>
          <p:cNvCxnSpPr>
            <a:cxnSpLocks/>
          </p:cNvCxnSpPr>
          <p:nvPr/>
        </p:nvCxnSpPr>
        <p:spPr>
          <a:xfrm>
            <a:off x="5358303" y="2033480"/>
            <a:ext cx="446282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3" name="Straight Arrow Connector 1042">
            <a:extLst>
              <a:ext uri="{FF2B5EF4-FFF2-40B4-BE49-F238E27FC236}">
                <a16:creationId xmlns:a16="http://schemas.microsoft.com/office/drawing/2014/main" id="{50E93792-F368-35A4-AEFB-5F3E6F8CD6E3}"/>
              </a:ext>
            </a:extLst>
          </p:cNvPr>
          <p:cNvCxnSpPr>
            <a:cxnSpLocks/>
          </p:cNvCxnSpPr>
          <p:nvPr/>
        </p:nvCxnSpPr>
        <p:spPr>
          <a:xfrm>
            <a:off x="9394972" y="1630618"/>
            <a:ext cx="365760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6" name="Straight Arrow Connector 1045">
            <a:extLst>
              <a:ext uri="{FF2B5EF4-FFF2-40B4-BE49-F238E27FC236}">
                <a16:creationId xmlns:a16="http://schemas.microsoft.com/office/drawing/2014/main" id="{0882AC44-646D-A361-DAE2-7EDBE6AC62A3}"/>
              </a:ext>
            </a:extLst>
          </p:cNvPr>
          <p:cNvCxnSpPr>
            <a:cxnSpLocks/>
          </p:cNvCxnSpPr>
          <p:nvPr/>
        </p:nvCxnSpPr>
        <p:spPr>
          <a:xfrm>
            <a:off x="7672180" y="1612006"/>
            <a:ext cx="365760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9121AB45-1796-80CB-7292-F757D0AEFA54}"/>
              </a:ext>
            </a:extLst>
          </p:cNvPr>
          <p:cNvSpPr txBox="1"/>
          <p:nvPr/>
        </p:nvSpPr>
        <p:spPr>
          <a:xfrm>
            <a:off x="9710089" y="2119186"/>
            <a:ext cx="16888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Trust-based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algn="ctr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ROA validation </a:t>
            </a:r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9015321C-15B1-B6A0-88A5-5DF78AD8445E}"/>
              </a:ext>
            </a:extLst>
          </p:cNvPr>
          <p:cNvGrpSpPr/>
          <p:nvPr/>
        </p:nvGrpSpPr>
        <p:grpSpPr>
          <a:xfrm>
            <a:off x="2424751" y="1667690"/>
            <a:ext cx="93122" cy="615248"/>
            <a:chOff x="6369238" y="5354201"/>
            <a:chExt cx="93122" cy="615248"/>
          </a:xfrm>
        </p:grpSpPr>
        <p:cxnSp>
          <p:nvCxnSpPr>
            <p:cNvPr id="40" name="Straight Arrow Connector 39">
              <a:extLst>
                <a:ext uri="{FF2B5EF4-FFF2-40B4-BE49-F238E27FC236}">
                  <a16:creationId xmlns:a16="http://schemas.microsoft.com/office/drawing/2014/main" id="{C08905EC-B072-E3D1-074F-132A826EDF4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369238" y="5354201"/>
              <a:ext cx="0" cy="421140"/>
            </a:xfrm>
            <a:prstGeom prst="straightConnector1">
              <a:avLst/>
            </a:prstGeom>
            <a:ln w="34925">
              <a:solidFill>
                <a:schemeClr val="accent5"/>
              </a:solidFill>
              <a:prstDash val="sysDot"/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Arrow Connector 40">
              <a:extLst>
                <a:ext uri="{FF2B5EF4-FFF2-40B4-BE49-F238E27FC236}">
                  <a16:creationId xmlns:a16="http://schemas.microsoft.com/office/drawing/2014/main" id="{6DCA6875-6729-9323-7FE4-AA1B48DBDC46}"/>
                </a:ext>
              </a:extLst>
            </p:cNvPr>
            <p:cNvCxnSpPr>
              <a:cxnSpLocks/>
            </p:cNvCxnSpPr>
            <p:nvPr/>
          </p:nvCxnSpPr>
          <p:spPr>
            <a:xfrm>
              <a:off x="6462360" y="5590215"/>
              <a:ext cx="0" cy="379234"/>
            </a:xfrm>
            <a:prstGeom prst="straightConnector1">
              <a:avLst/>
            </a:prstGeom>
            <a:ln w="34925">
              <a:solidFill>
                <a:schemeClr val="accent5"/>
              </a:solidFill>
              <a:prstDash val="sysDot"/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40307F1B-7192-EEFA-DCC3-DE597829CC19}"/>
              </a:ext>
            </a:extLst>
          </p:cNvPr>
          <p:cNvGrpSpPr/>
          <p:nvPr/>
        </p:nvGrpSpPr>
        <p:grpSpPr>
          <a:xfrm>
            <a:off x="9616199" y="2112446"/>
            <a:ext cx="93122" cy="601774"/>
            <a:chOff x="6369238" y="5354201"/>
            <a:chExt cx="93122" cy="601774"/>
          </a:xfrm>
        </p:grpSpPr>
        <p:cxnSp>
          <p:nvCxnSpPr>
            <p:cNvPr id="60" name="Straight Arrow Connector 59">
              <a:extLst>
                <a:ext uri="{FF2B5EF4-FFF2-40B4-BE49-F238E27FC236}">
                  <a16:creationId xmlns:a16="http://schemas.microsoft.com/office/drawing/2014/main" id="{A6A2F6FC-8AD9-47C3-6D28-AC37419AAD4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369238" y="5354201"/>
              <a:ext cx="0" cy="365760"/>
            </a:xfrm>
            <a:prstGeom prst="straightConnector1">
              <a:avLst/>
            </a:prstGeom>
            <a:ln w="34925">
              <a:solidFill>
                <a:schemeClr val="accent5"/>
              </a:solidFill>
              <a:prstDash val="sysDot"/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Arrow Connector 60">
              <a:extLst>
                <a:ext uri="{FF2B5EF4-FFF2-40B4-BE49-F238E27FC236}">
                  <a16:creationId xmlns:a16="http://schemas.microsoft.com/office/drawing/2014/main" id="{8A066549-0326-F810-52A2-9EE02C03398F}"/>
                </a:ext>
              </a:extLst>
            </p:cNvPr>
            <p:cNvCxnSpPr>
              <a:cxnSpLocks/>
            </p:cNvCxnSpPr>
            <p:nvPr/>
          </p:nvCxnSpPr>
          <p:spPr>
            <a:xfrm>
              <a:off x="6462360" y="5590215"/>
              <a:ext cx="0" cy="365760"/>
            </a:xfrm>
            <a:prstGeom prst="straightConnector1">
              <a:avLst/>
            </a:prstGeom>
            <a:ln w="34925">
              <a:solidFill>
                <a:schemeClr val="accent5"/>
              </a:solidFill>
              <a:prstDash val="sysDot"/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2" name="TextBox 61">
            <a:extLst>
              <a:ext uri="{FF2B5EF4-FFF2-40B4-BE49-F238E27FC236}">
                <a16:creationId xmlns:a16="http://schemas.microsoft.com/office/drawing/2014/main" id="{4E32EE44-4AD7-F642-CF93-837BF04806BE}"/>
              </a:ext>
            </a:extLst>
          </p:cNvPr>
          <p:cNvSpPr txBox="1"/>
          <p:nvPr/>
        </p:nvSpPr>
        <p:spPr>
          <a:xfrm>
            <a:off x="6575922" y="2169882"/>
            <a:ext cx="1609603" cy="4924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BGP-Sentry</a:t>
            </a:r>
          </a:p>
          <a:p>
            <a:pPr algn="ctr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Trust Expansion</a:t>
            </a:r>
          </a:p>
        </p:txBody>
      </p:sp>
      <p:sp>
        <p:nvSpPr>
          <p:cNvPr id="8" name="Up-Down Arrow 7">
            <a:extLst>
              <a:ext uri="{FF2B5EF4-FFF2-40B4-BE49-F238E27FC236}">
                <a16:creationId xmlns:a16="http://schemas.microsoft.com/office/drawing/2014/main" id="{E5B52B3F-43D0-6DED-F49A-CBED9A23A9D5}"/>
              </a:ext>
            </a:extLst>
          </p:cNvPr>
          <p:cNvSpPr/>
          <p:nvPr/>
        </p:nvSpPr>
        <p:spPr>
          <a:xfrm>
            <a:off x="8141208" y="1900032"/>
            <a:ext cx="182880" cy="1005840"/>
          </a:xfrm>
          <a:prstGeom prst="upDown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2309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B88E93-1516-F101-98EF-53CE92F95D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Freeform 2">
            <a:extLst>
              <a:ext uri="{FF2B5EF4-FFF2-40B4-BE49-F238E27FC236}">
                <a16:creationId xmlns:a16="http://schemas.microsoft.com/office/drawing/2014/main" id="{DFDB590D-9AFE-BE50-3746-018DE800F0B3}"/>
              </a:ext>
            </a:extLst>
          </p:cNvPr>
          <p:cNvSpPr>
            <a:spLocks/>
          </p:cNvSpPr>
          <p:nvPr/>
        </p:nvSpPr>
        <p:spPr bwMode="auto">
          <a:xfrm rot="2197882">
            <a:off x="1171133" y="3824444"/>
            <a:ext cx="1488860" cy="649413"/>
          </a:xfrm>
          <a:custGeom>
            <a:avLst/>
            <a:gdLst>
              <a:gd name="T0" fmla="*/ 2147483647 w 10001"/>
              <a:gd name="T1" fmla="*/ 2147483647 h 10125"/>
              <a:gd name="T2" fmla="*/ 2147483647 w 10001"/>
              <a:gd name="T3" fmla="*/ 2147483647 h 10125"/>
              <a:gd name="T4" fmla="*/ 2147483647 w 10001"/>
              <a:gd name="T5" fmla="*/ 2147483647 h 10125"/>
              <a:gd name="T6" fmla="*/ 2147483647 w 10001"/>
              <a:gd name="T7" fmla="*/ 0 h 10125"/>
              <a:gd name="T8" fmla="*/ 2147483647 w 10001"/>
              <a:gd name="T9" fmla="*/ 2147483647 h 10125"/>
              <a:gd name="T10" fmla="*/ 2147483647 w 10001"/>
              <a:gd name="T11" fmla="*/ 2147483647 h 10125"/>
              <a:gd name="T12" fmla="*/ 2147483647 w 10001"/>
              <a:gd name="T13" fmla="*/ 2147483647 h 10125"/>
              <a:gd name="T14" fmla="*/ 2147483647 w 10001"/>
              <a:gd name="T15" fmla="*/ 2147483647 h 10125"/>
              <a:gd name="T16" fmla="*/ 2147483647 w 10001"/>
              <a:gd name="T17" fmla="*/ 2147483647 h 10125"/>
              <a:gd name="T18" fmla="*/ 2147483647 w 10001"/>
              <a:gd name="T19" fmla="*/ 2147483647 h 10125"/>
              <a:gd name="T20" fmla="*/ 2147483647 w 10001"/>
              <a:gd name="T21" fmla="*/ 2147483647 h 10125"/>
              <a:gd name="T22" fmla="*/ 2147483647 w 10001"/>
              <a:gd name="T23" fmla="*/ 2147483647 h 10125"/>
              <a:gd name="T24" fmla="*/ 2147483647 w 10001"/>
              <a:gd name="T25" fmla="*/ 2147483647 h 10125"/>
              <a:gd name="T26" fmla="*/ 2147483647 w 10001"/>
              <a:gd name="T27" fmla="*/ 2147483647 h 10125"/>
              <a:gd name="T28" fmla="*/ 2147483647 w 10001"/>
              <a:gd name="T29" fmla="*/ 2147483647 h 10125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</a:gdLst>
            <a:ahLst/>
            <a:cxnLst>
              <a:cxn ang="T30">
                <a:pos x="T0" y="T1"/>
              </a:cxn>
              <a:cxn ang="T31">
                <a:pos x="T2" y="T3"/>
              </a:cxn>
              <a:cxn ang="T32">
                <a:pos x="T4" y="T5"/>
              </a:cxn>
              <a:cxn ang="T33">
                <a:pos x="T6" y="T7"/>
              </a:cxn>
              <a:cxn ang="T34">
                <a:pos x="T8" y="T9"/>
              </a:cxn>
              <a:cxn ang="T35">
                <a:pos x="T10" y="T11"/>
              </a:cxn>
              <a:cxn ang="T36">
                <a:pos x="T12" y="T13"/>
              </a:cxn>
              <a:cxn ang="T37">
                <a:pos x="T14" y="T15"/>
              </a:cxn>
              <a:cxn ang="T38">
                <a:pos x="T16" y="T17"/>
              </a:cxn>
              <a:cxn ang="T39">
                <a:pos x="T18" y="T19"/>
              </a:cxn>
              <a:cxn ang="T40">
                <a:pos x="T20" y="T21"/>
              </a:cxn>
              <a:cxn ang="T41">
                <a:pos x="T22" y="T23"/>
              </a:cxn>
              <a:cxn ang="T42">
                <a:pos x="T24" y="T25"/>
              </a:cxn>
              <a:cxn ang="T43">
                <a:pos x="T26" y="T27"/>
              </a:cxn>
              <a:cxn ang="T44">
                <a:pos x="T28" y="T29"/>
              </a:cxn>
            </a:cxnLst>
            <a:rect l="0" t="0" r="r" b="b"/>
            <a:pathLst>
              <a:path w="10001" h="10125">
                <a:moveTo>
                  <a:pt x="4" y="4039"/>
                </a:moveTo>
                <a:cubicBezTo>
                  <a:pt x="-29" y="2271"/>
                  <a:pt x="194" y="2100"/>
                  <a:pt x="715" y="1595"/>
                </a:cubicBezTo>
                <a:cubicBezTo>
                  <a:pt x="1236" y="1089"/>
                  <a:pt x="2417" y="1272"/>
                  <a:pt x="3130" y="1006"/>
                </a:cubicBezTo>
                <a:cubicBezTo>
                  <a:pt x="3843" y="740"/>
                  <a:pt x="4397" y="0"/>
                  <a:pt x="4995" y="0"/>
                </a:cubicBezTo>
                <a:cubicBezTo>
                  <a:pt x="5593" y="1"/>
                  <a:pt x="6206" y="926"/>
                  <a:pt x="6720" y="1009"/>
                </a:cubicBezTo>
                <a:cubicBezTo>
                  <a:pt x="7234" y="1092"/>
                  <a:pt x="7536" y="241"/>
                  <a:pt x="8082" y="497"/>
                </a:cubicBezTo>
                <a:cubicBezTo>
                  <a:pt x="8628" y="756"/>
                  <a:pt x="9854" y="442"/>
                  <a:pt x="9989" y="2989"/>
                </a:cubicBezTo>
                <a:cubicBezTo>
                  <a:pt x="10124" y="5536"/>
                  <a:pt x="9098" y="5742"/>
                  <a:pt x="8599" y="6797"/>
                </a:cubicBezTo>
                <a:cubicBezTo>
                  <a:pt x="8100" y="7852"/>
                  <a:pt x="7544" y="8981"/>
                  <a:pt x="6995" y="9322"/>
                </a:cubicBezTo>
                <a:cubicBezTo>
                  <a:pt x="6446" y="9663"/>
                  <a:pt x="5793" y="8957"/>
                  <a:pt x="5307" y="8843"/>
                </a:cubicBezTo>
                <a:cubicBezTo>
                  <a:pt x="4819" y="8726"/>
                  <a:pt x="4628" y="10048"/>
                  <a:pt x="4371" y="9912"/>
                </a:cubicBezTo>
                <a:cubicBezTo>
                  <a:pt x="4114" y="9775"/>
                  <a:pt x="3505" y="10355"/>
                  <a:pt x="3140" y="10019"/>
                </a:cubicBezTo>
                <a:cubicBezTo>
                  <a:pt x="2774" y="9683"/>
                  <a:pt x="2820" y="8138"/>
                  <a:pt x="2179" y="7895"/>
                </a:cubicBezTo>
                <a:cubicBezTo>
                  <a:pt x="1586" y="6800"/>
                  <a:pt x="1549" y="8137"/>
                  <a:pt x="1187" y="7495"/>
                </a:cubicBezTo>
                <a:cubicBezTo>
                  <a:pt x="825" y="6852"/>
                  <a:pt x="-7" y="6157"/>
                  <a:pt x="4" y="4039"/>
                </a:cubicBezTo>
                <a:close/>
              </a:path>
            </a:pathLst>
          </a:custGeom>
          <a:solidFill>
            <a:schemeClr val="bg2"/>
          </a:solidFill>
          <a:ln>
            <a:noFill/>
          </a:ln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defRPr/>
            </a:pPr>
            <a:endParaRPr lang="en-US" sz="1800" kern="1200">
              <a:latin typeface="Helvetica" pitchFamily="2" charset="0"/>
              <a:ea typeface="ＭＳ Ｐゴシック" panose="020B0600070205080204" pitchFamily="34" charset="-128"/>
            </a:endParaRPr>
          </a:p>
        </p:txBody>
      </p:sp>
      <p:sp>
        <p:nvSpPr>
          <p:cNvPr id="27" name="Freeform 2">
            <a:extLst>
              <a:ext uri="{FF2B5EF4-FFF2-40B4-BE49-F238E27FC236}">
                <a16:creationId xmlns:a16="http://schemas.microsoft.com/office/drawing/2014/main" id="{1C6C4524-544D-43EB-CFE8-39706C3AADA1}"/>
              </a:ext>
            </a:extLst>
          </p:cNvPr>
          <p:cNvSpPr>
            <a:spLocks/>
          </p:cNvSpPr>
          <p:nvPr/>
        </p:nvSpPr>
        <p:spPr bwMode="auto">
          <a:xfrm rot="19793310">
            <a:off x="3100084" y="3756095"/>
            <a:ext cx="1363657" cy="649413"/>
          </a:xfrm>
          <a:custGeom>
            <a:avLst/>
            <a:gdLst>
              <a:gd name="T0" fmla="*/ 2147483647 w 10001"/>
              <a:gd name="T1" fmla="*/ 2147483647 h 10125"/>
              <a:gd name="T2" fmla="*/ 2147483647 w 10001"/>
              <a:gd name="T3" fmla="*/ 2147483647 h 10125"/>
              <a:gd name="T4" fmla="*/ 2147483647 w 10001"/>
              <a:gd name="T5" fmla="*/ 2147483647 h 10125"/>
              <a:gd name="T6" fmla="*/ 2147483647 w 10001"/>
              <a:gd name="T7" fmla="*/ 0 h 10125"/>
              <a:gd name="T8" fmla="*/ 2147483647 w 10001"/>
              <a:gd name="T9" fmla="*/ 2147483647 h 10125"/>
              <a:gd name="T10" fmla="*/ 2147483647 w 10001"/>
              <a:gd name="T11" fmla="*/ 2147483647 h 10125"/>
              <a:gd name="T12" fmla="*/ 2147483647 w 10001"/>
              <a:gd name="T13" fmla="*/ 2147483647 h 10125"/>
              <a:gd name="T14" fmla="*/ 2147483647 w 10001"/>
              <a:gd name="T15" fmla="*/ 2147483647 h 10125"/>
              <a:gd name="T16" fmla="*/ 2147483647 w 10001"/>
              <a:gd name="T17" fmla="*/ 2147483647 h 10125"/>
              <a:gd name="T18" fmla="*/ 2147483647 w 10001"/>
              <a:gd name="T19" fmla="*/ 2147483647 h 10125"/>
              <a:gd name="T20" fmla="*/ 2147483647 w 10001"/>
              <a:gd name="T21" fmla="*/ 2147483647 h 10125"/>
              <a:gd name="T22" fmla="*/ 2147483647 w 10001"/>
              <a:gd name="T23" fmla="*/ 2147483647 h 10125"/>
              <a:gd name="T24" fmla="*/ 2147483647 w 10001"/>
              <a:gd name="T25" fmla="*/ 2147483647 h 10125"/>
              <a:gd name="T26" fmla="*/ 2147483647 w 10001"/>
              <a:gd name="T27" fmla="*/ 2147483647 h 10125"/>
              <a:gd name="T28" fmla="*/ 2147483647 w 10001"/>
              <a:gd name="T29" fmla="*/ 2147483647 h 10125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</a:gdLst>
            <a:ahLst/>
            <a:cxnLst>
              <a:cxn ang="T30">
                <a:pos x="T0" y="T1"/>
              </a:cxn>
              <a:cxn ang="T31">
                <a:pos x="T2" y="T3"/>
              </a:cxn>
              <a:cxn ang="T32">
                <a:pos x="T4" y="T5"/>
              </a:cxn>
              <a:cxn ang="T33">
                <a:pos x="T6" y="T7"/>
              </a:cxn>
              <a:cxn ang="T34">
                <a:pos x="T8" y="T9"/>
              </a:cxn>
              <a:cxn ang="T35">
                <a:pos x="T10" y="T11"/>
              </a:cxn>
              <a:cxn ang="T36">
                <a:pos x="T12" y="T13"/>
              </a:cxn>
              <a:cxn ang="T37">
                <a:pos x="T14" y="T15"/>
              </a:cxn>
              <a:cxn ang="T38">
                <a:pos x="T16" y="T17"/>
              </a:cxn>
              <a:cxn ang="T39">
                <a:pos x="T18" y="T19"/>
              </a:cxn>
              <a:cxn ang="T40">
                <a:pos x="T20" y="T21"/>
              </a:cxn>
              <a:cxn ang="T41">
                <a:pos x="T22" y="T23"/>
              </a:cxn>
              <a:cxn ang="T42">
                <a:pos x="T24" y="T25"/>
              </a:cxn>
              <a:cxn ang="T43">
                <a:pos x="T26" y="T27"/>
              </a:cxn>
              <a:cxn ang="T44">
                <a:pos x="T28" y="T29"/>
              </a:cxn>
            </a:cxnLst>
            <a:rect l="0" t="0" r="r" b="b"/>
            <a:pathLst>
              <a:path w="10001" h="10125">
                <a:moveTo>
                  <a:pt x="4" y="4039"/>
                </a:moveTo>
                <a:cubicBezTo>
                  <a:pt x="-29" y="2271"/>
                  <a:pt x="194" y="2100"/>
                  <a:pt x="715" y="1595"/>
                </a:cubicBezTo>
                <a:cubicBezTo>
                  <a:pt x="1236" y="1089"/>
                  <a:pt x="2417" y="1272"/>
                  <a:pt x="3130" y="1006"/>
                </a:cubicBezTo>
                <a:cubicBezTo>
                  <a:pt x="3843" y="740"/>
                  <a:pt x="4397" y="0"/>
                  <a:pt x="4995" y="0"/>
                </a:cubicBezTo>
                <a:cubicBezTo>
                  <a:pt x="5593" y="1"/>
                  <a:pt x="6206" y="926"/>
                  <a:pt x="6720" y="1009"/>
                </a:cubicBezTo>
                <a:cubicBezTo>
                  <a:pt x="7234" y="1092"/>
                  <a:pt x="7536" y="241"/>
                  <a:pt x="8082" y="497"/>
                </a:cubicBezTo>
                <a:cubicBezTo>
                  <a:pt x="8628" y="756"/>
                  <a:pt x="9854" y="442"/>
                  <a:pt x="9989" y="2989"/>
                </a:cubicBezTo>
                <a:cubicBezTo>
                  <a:pt x="10124" y="5536"/>
                  <a:pt x="9098" y="5742"/>
                  <a:pt x="8599" y="6797"/>
                </a:cubicBezTo>
                <a:cubicBezTo>
                  <a:pt x="8100" y="7852"/>
                  <a:pt x="7544" y="8981"/>
                  <a:pt x="6995" y="9322"/>
                </a:cubicBezTo>
                <a:cubicBezTo>
                  <a:pt x="6446" y="9663"/>
                  <a:pt x="5793" y="8957"/>
                  <a:pt x="5307" y="8843"/>
                </a:cubicBezTo>
                <a:cubicBezTo>
                  <a:pt x="4819" y="8726"/>
                  <a:pt x="4628" y="10048"/>
                  <a:pt x="4371" y="9912"/>
                </a:cubicBezTo>
                <a:cubicBezTo>
                  <a:pt x="4114" y="9775"/>
                  <a:pt x="3505" y="10355"/>
                  <a:pt x="3140" y="10019"/>
                </a:cubicBezTo>
                <a:cubicBezTo>
                  <a:pt x="2774" y="9683"/>
                  <a:pt x="2820" y="8138"/>
                  <a:pt x="2179" y="7895"/>
                </a:cubicBezTo>
                <a:cubicBezTo>
                  <a:pt x="1586" y="6800"/>
                  <a:pt x="1549" y="8137"/>
                  <a:pt x="1187" y="7495"/>
                </a:cubicBezTo>
                <a:cubicBezTo>
                  <a:pt x="825" y="6852"/>
                  <a:pt x="-7" y="6157"/>
                  <a:pt x="4" y="4039"/>
                </a:cubicBezTo>
                <a:close/>
              </a:path>
            </a:pathLst>
          </a:custGeom>
          <a:solidFill>
            <a:schemeClr val="bg2"/>
          </a:solidFill>
          <a:ln>
            <a:noFill/>
          </a:ln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defRPr/>
            </a:pPr>
            <a:endParaRPr lang="en-US" sz="1800" kern="1200">
              <a:latin typeface="Helvetica" pitchFamily="2" charset="0"/>
              <a:ea typeface="ＭＳ Ｐゴシック" panose="020B0600070205080204" pitchFamily="34" charset="-128"/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E7A807EF-1C72-FC62-37C4-62084A3C958E}"/>
              </a:ext>
            </a:extLst>
          </p:cNvPr>
          <p:cNvCxnSpPr>
            <a:cxnSpLocks/>
          </p:cNvCxnSpPr>
          <p:nvPr/>
        </p:nvCxnSpPr>
        <p:spPr>
          <a:xfrm>
            <a:off x="3328662" y="3472312"/>
            <a:ext cx="673068" cy="365701"/>
          </a:xfrm>
          <a:prstGeom prst="line">
            <a:avLst/>
          </a:prstGeom>
          <a:noFill/>
          <a:ln w="12700" cap="flat" cmpd="sng" algn="ctr">
            <a:solidFill>
              <a:schemeClr val="tx1">
                <a:lumMod val="95000"/>
                <a:lumOff val="5000"/>
              </a:schemeClr>
            </a:solidFill>
            <a:prstDash val="solid"/>
            <a:headEnd type="none" w="med" len="med"/>
            <a:tailEnd type="none" w="med" len="med"/>
          </a:ln>
          <a:effectLst/>
        </p:spPr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ED6D8E57-ECE0-EF48-B37A-EF458016761A}"/>
              </a:ext>
            </a:extLst>
          </p:cNvPr>
          <p:cNvCxnSpPr>
            <a:cxnSpLocks/>
          </p:cNvCxnSpPr>
          <p:nvPr/>
        </p:nvCxnSpPr>
        <p:spPr>
          <a:xfrm>
            <a:off x="2491859" y="3321582"/>
            <a:ext cx="523852" cy="502898"/>
          </a:xfrm>
          <a:prstGeom prst="line">
            <a:avLst/>
          </a:prstGeom>
          <a:noFill/>
          <a:ln w="12700" cap="flat" cmpd="sng" algn="ctr">
            <a:solidFill>
              <a:schemeClr val="tx1">
                <a:lumMod val="95000"/>
                <a:lumOff val="5000"/>
              </a:schemeClr>
            </a:solidFill>
            <a:prstDash val="solid"/>
            <a:headEnd type="none" w="med" len="med"/>
            <a:tailEnd type="none" w="med" len="med"/>
          </a:ln>
          <a:effectLst/>
        </p:spPr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0CB931C-9B62-BBE0-0D41-5EFE2FD7ADB4}"/>
              </a:ext>
            </a:extLst>
          </p:cNvPr>
          <p:cNvCxnSpPr>
            <a:cxnSpLocks/>
            <a:stCxn id="7" idx="0"/>
          </p:cNvCxnSpPr>
          <p:nvPr/>
        </p:nvCxnSpPr>
        <p:spPr>
          <a:xfrm flipH="1" flipV="1">
            <a:off x="3063532" y="3906561"/>
            <a:ext cx="406359" cy="255085"/>
          </a:xfrm>
          <a:prstGeom prst="line">
            <a:avLst/>
          </a:prstGeom>
          <a:noFill/>
          <a:ln w="12700" cap="flat" cmpd="sng" algn="ctr">
            <a:solidFill>
              <a:schemeClr val="tx1">
                <a:lumMod val="95000"/>
                <a:lumOff val="5000"/>
              </a:schemeClr>
            </a:solidFill>
            <a:prstDash val="solid"/>
            <a:headEnd type="none" w="med" len="med"/>
            <a:tailEnd type="none" w="med" len="med"/>
          </a:ln>
          <a:effectLst/>
        </p:spPr>
      </p:cxnSp>
      <p:sp>
        <p:nvSpPr>
          <p:cNvPr id="115" name="Rectangle 114">
            <a:extLst>
              <a:ext uri="{FF2B5EF4-FFF2-40B4-BE49-F238E27FC236}">
                <a16:creationId xmlns:a16="http://schemas.microsoft.com/office/drawing/2014/main" id="{C8B99174-DF59-984B-EC2B-5EE4AEE5E08C}"/>
              </a:ext>
            </a:extLst>
          </p:cNvPr>
          <p:cNvSpPr/>
          <p:nvPr/>
        </p:nvSpPr>
        <p:spPr>
          <a:xfrm>
            <a:off x="5928374" y="810631"/>
            <a:ext cx="5034151" cy="1548545"/>
          </a:xfrm>
          <a:prstGeom prst="rect">
            <a:avLst/>
          </a:prstGeom>
          <a:solidFill>
            <a:schemeClr val="accent6">
              <a:lumMod val="20000"/>
              <a:lumOff val="80000"/>
              <a:alpha val="23074"/>
            </a:schemeClr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ADA51085-5A57-0AC0-8BFA-7D6A5860504D}"/>
              </a:ext>
            </a:extLst>
          </p:cNvPr>
          <p:cNvCxnSpPr>
            <a:cxnSpLocks/>
          </p:cNvCxnSpPr>
          <p:nvPr/>
        </p:nvCxnSpPr>
        <p:spPr>
          <a:xfrm>
            <a:off x="5560484" y="1127247"/>
            <a:ext cx="0" cy="3689754"/>
          </a:xfrm>
          <a:prstGeom prst="line">
            <a:avLst/>
          </a:prstGeom>
          <a:ln w="44450" cmpd="dbl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TextBox 65">
            <a:extLst>
              <a:ext uri="{FF2B5EF4-FFF2-40B4-BE49-F238E27FC236}">
                <a16:creationId xmlns:a16="http://schemas.microsoft.com/office/drawing/2014/main" id="{63CBB432-A125-AC93-7FA9-B843D295875B}"/>
              </a:ext>
            </a:extLst>
          </p:cNvPr>
          <p:cNvSpPr txBox="1"/>
          <p:nvPr/>
        </p:nvSpPr>
        <p:spPr>
          <a:xfrm>
            <a:off x="2007257" y="2872938"/>
            <a:ext cx="199432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RPKI-enabled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ASes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D3ED4452-22D9-4C0D-A253-A366726FDEA6}"/>
              </a:ext>
            </a:extLst>
          </p:cNvPr>
          <p:cNvSpPr txBox="1"/>
          <p:nvPr/>
        </p:nvSpPr>
        <p:spPr>
          <a:xfrm>
            <a:off x="2093399" y="4347540"/>
            <a:ext cx="16416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Non-RPKI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ASes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74E89F3A-BFE8-A39B-9A0D-2E406ECA96EA}"/>
              </a:ext>
            </a:extLst>
          </p:cNvPr>
          <p:cNvSpPr/>
          <p:nvPr/>
        </p:nvSpPr>
        <p:spPr>
          <a:xfrm>
            <a:off x="1066399" y="1158783"/>
            <a:ext cx="4091105" cy="858133"/>
          </a:xfrm>
          <a:prstGeom prst="rect">
            <a:avLst/>
          </a:prstGeom>
          <a:solidFill>
            <a:schemeClr val="accent6">
              <a:lumMod val="20000"/>
              <a:lumOff val="80000"/>
              <a:alpha val="23074"/>
            </a:schemeClr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Central RPKI Repository</a:t>
            </a:r>
          </a:p>
          <a:p>
            <a:pPr algn="ctr"/>
            <a:r>
              <a:rPr lang="en-US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(ROA records, etc.)</a:t>
            </a:r>
          </a:p>
        </p:txBody>
      </p:sp>
      <p:pic>
        <p:nvPicPr>
          <p:cNvPr id="1028" name="Picture 4" descr="Data collection - Free electronics icons">
            <a:extLst>
              <a:ext uri="{FF2B5EF4-FFF2-40B4-BE49-F238E27FC236}">
                <a16:creationId xmlns:a16="http://schemas.microsoft.com/office/drawing/2014/main" id="{D3C841F7-49D9-0C6C-F688-ADD54D01E7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44753" y="1281329"/>
            <a:ext cx="622998" cy="6229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2" name="TextBox 111">
            <a:extLst>
              <a:ext uri="{FF2B5EF4-FFF2-40B4-BE49-F238E27FC236}">
                <a16:creationId xmlns:a16="http://schemas.microsoft.com/office/drawing/2014/main" id="{B7391776-4B8F-A36E-4212-DBD5C87FDCCA}"/>
              </a:ext>
            </a:extLst>
          </p:cNvPr>
          <p:cNvSpPr txBox="1"/>
          <p:nvPr/>
        </p:nvSpPr>
        <p:spPr>
          <a:xfrm>
            <a:off x="3131240" y="2114012"/>
            <a:ext cx="153907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RPKI-only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algn="ctr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ROA validation</a:t>
            </a:r>
          </a:p>
        </p:txBody>
      </p:sp>
      <p:pic>
        <p:nvPicPr>
          <p:cNvPr id="118" name="Graphic 117" descr="Clipboard with solid fill">
            <a:extLst>
              <a:ext uri="{FF2B5EF4-FFF2-40B4-BE49-F238E27FC236}">
                <a16:creationId xmlns:a16="http://schemas.microsoft.com/office/drawing/2014/main" id="{F598F27B-D254-98EB-4085-F8DD0DBA94A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278593" y="1880382"/>
            <a:ext cx="365760" cy="365760"/>
          </a:xfrm>
          <a:prstGeom prst="rect">
            <a:avLst/>
          </a:prstGeom>
        </p:spPr>
      </p:pic>
      <p:pic>
        <p:nvPicPr>
          <p:cNvPr id="126" name="Graphic 125" descr="Fingerprint with solid fill">
            <a:extLst>
              <a:ext uri="{FF2B5EF4-FFF2-40B4-BE49-F238E27FC236}">
                <a16:creationId xmlns:a16="http://schemas.microsoft.com/office/drawing/2014/main" id="{1C5AFFE7-A4E6-D0D4-850A-72CF20370BB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388111" y="1534122"/>
            <a:ext cx="640080" cy="640080"/>
          </a:xfrm>
          <a:prstGeom prst="rect">
            <a:avLst/>
          </a:prstGeom>
        </p:spPr>
      </p:pic>
      <p:pic>
        <p:nvPicPr>
          <p:cNvPr id="128" name="Graphic 127" descr="Badge Tick with solid fill">
            <a:extLst>
              <a:ext uri="{FF2B5EF4-FFF2-40B4-BE49-F238E27FC236}">
                <a16:creationId xmlns:a16="http://schemas.microsoft.com/office/drawing/2014/main" id="{3F258AF9-948C-C469-9162-6DF7F1E5903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969914" y="1560932"/>
            <a:ext cx="640080" cy="640080"/>
          </a:xfrm>
          <a:prstGeom prst="rect">
            <a:avLst/>
          </a:prstGeom>
        </p:spPr>
      </p:pic>
      <p:sp>
        <p:nvSpPr>
          <p:cNvPr id="130" name="TextBox 129">
            <a:extLst>
              <a:ext uri="{FF2B5EF4-FFF2-40B4-BE49-F238E27FC236}">
                <a16:creationId xmlns:a16="http://schemas.microsoft.com/office/drawing/2014/main" id="{20D84FF4-B9B1-D912-6605-074766B83D9E}"/>
              </a:ext>
            </a:extLst>
          </p:cNvPr>
          <p:cNvSpPr txBox="1"/>
          <p:nvPr/>
        </p:nvSpPr>
        <p:spPr>
          <a:xfrm>
            <a:off x="6859445" y="4647724"/>
            <a:ext cx="339868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Unified observability of BGP-Sentry</a:t>
            </a:r>
          </a:p>
        </p:txBody>
      </p:sp>
      <p:sp>
        <p:nvSpPr>
          <p:cNvPr id="1024" name="TextBox 1023">
            <a:extLst>
              <a:ext uri="{FF2B5EF4-FFF2-40B4-BE49-F238E27FC236}">
                <a16:creationId xmlns:a16="http://schemas.microsoft.com/office/drawing/2014/main" id="{CAC80221-1ABD-3621-2897-14E0D2BFB384}"/>
              </a:ext>
            </a:extLst>
          </p:cNvPr>
          <p:cNvSpPr txBox="1"/>
          <p:nvPr/>
        </p:nvSpPr>
        <p:spPr>
          <a:xfrm>
            <a:off x="7609698" y="3082534"/>
            <a:ext cx="189818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RPKI trust proxies</a:t>
            </a:r>
          </a:p>
        </p:txBody>
      </p:sp>
      <p:sp>
        <p:nvSpPr>
          <p:cNvPr id="1027" name="TextBox 1026">
            <a:extLst>
              <a:ext uri="{FF2B5EF4-FFF2-40B4-BE49-F238E27FC236}">
                <a16:creationId xmlns:a16="http://schemas.microsoft.com/office/drawing/2014/main" id="{2F66B81C-917D-DABE-B224-35655EADEAC9}"/>
              </a:ext>
            </a:extLst>
          </p:cNvPr>
          <p:cNvSpPr txBox="1"/>
          <p:nvPr/>
        </p:nvSpPr>
        <p:spPr>
          <a:xfrm>
            <a:off x="5708951" y="3375731"/>
            <a:ext cx="135370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Prefix Observation</a:t>
            </a:r>
          </a:p>
        </p:txBody>
      </p:sp>
      <p:sp>
        <p:nvSpPr>
          <p:cNvPr id="1029" name="Oval 1028">
            <a:extLst>
              <a:ext uri="{FF2B5EF4-FFF2-40B4-BE49-F238E27FC236}">
                <a16:creationId xmlns:a16="http://schemas.microsoft.com/office/drawing/2014/main" id="{BA21AF0D-0EA8-6DB6-5153-FDA8A5982DF3}"/>
              </a:ext>
            </a:extLst>
          </p:cNvPr>
          <p:cNvSpPr/>
          <p:nvPr/>
        </p:nvSpPr>
        <p:spPr>
          <a:xfrm>
            <a:off x="6242092" y="3136528"/>
            <a:ext cx="274320" cy="27432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1030" name="Oval 1029">
            <a:extLst>
              <a:ext uri="{FF2B5EF4-FFF2-40B4-BE49-F238E27FC236}">
                <a16:creationId xmlns:a16="http://schemas.microsoft.com/office/drawing/2014/main" id="{1289E949-B6D3-88C5-1039-92ED0850F5EE}"/>
              </a:ext>
            </a:extLst>
          </p:cNvPr>
          <p:cNvSpPr/>
          <p:nvPr/>
        </p:nvSpPr>
        <p:spPr>
          <a:xfrm>
            <a:off x="5992862" y="947858"/>
            <a:ext cx="274320" cy="27432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</p:txBody>
      </p:sp>
      <p:sp>
        <p:nvSpPr>
          <p:cNvPr id="1031" name="TextBox 1030">
            <a:extLst>
              <a:ext uri="{FF2B5EF4-FFF2-40B4-BE49-F238E27FC236}">
                <a16:creationId xmlns:a16="http://schemas.microsoft.com/office/drawing/2014/main" id="{32A45D6B-AC07-8D4F-BB4B-D71B35FD9EA6}"/>
              </a:ext>
            </a:extLst>
          </p:cNvPr>
          <p:cNvSpPr txBox="1"/>
          <p:nvPr/>
        </p:nvSpPr>
        <p:spPr>
          <a:xfrm>
            <a:off x="6227271" y="884472"/>
            <a:ext cx="128686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PoP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Ledger Commit</a:t>
            </a:r>
          </a:p>
        </p:txBody>
      </p:sp>
      <p:sp>
        <p:nvSpPr>
          <p:cNvPr id="1032" name="TextBox 1031">
            <a:extLst>
              <a:ext uri="{FF2B5EF4-FFF2-40B4-BE49-F238E27FC236}">
                <a16:creationId xmlns:a16="http://schemas.microsoft.com/office/drawing/2014/main" id="{D35B848A-01CA-E702-A3EC-F485A5EC39FC}"/>
              </a:ext>
            </a:extLst>
          </p:cNvPr>
          <p:cNvSpPr txBox="1"/>
          <p:nvPr/>
        </p:nvSpPr>
        <p:spPr>
          <a:xfrm>
            <a:off x="7943307" y="888876"/>
            <a:ext cx="155803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Forensic </a:t>
            </a:r>
          </a:p>
          <a:p>
            <a:pPr algn="ctr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Audit Trail</a:t>
            </a:r>
          </a:p>
        </p:txBody>
      </p:sp>
      <p:sp>
        <p:nvSpPr>
          <p:cNvPr id="1033" name="TextBox 1032">
            <a:extLst>
              <a:ext uri="{FF2B5EF4-FFF2-40B4-BE49-F238E27FC236}">
                <a16:creationId xmlns:a16="http://schemas.microsoft.com/office/drawing/2014/main" id="{9BF1C5FD-874A-B3AB-5C2A-FFF1709112C9}"/>
              </a:ext>
            </a:extLst>
          </p:cNvPr>
          <p:cNvSpPr txBox="1"/>
          <p:nvPr/>
        </p:nvSpPr>
        <p:spPr>
          <a:xfrm>
            <a:off x="9521675" y="888876"/>
            <a:ext cx="155803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Trust Quantification</a:t>
            </a:r>
          </a:p>
        </p:txBody>
      </p:sp>
      <p:pic>
        <p:nvPicPr>
          <p:cNvPr id="1026" name="Picture 2" descr="blockchain Vector Icons free download in SVG, PNG Format">
            <a:extLst>
              <a:ext uri="{FF2B5EF4-FFF2-40B4-BE49-F238E27FC236}">
                <a16:creationId xmlns:a16="http://schemas.microsoft.com/office/drawing/2014/main" id="{B73441D4-D57B-459A-403D-A1665304ED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00233" y="1445222"/>
            <a:ext cx="887025" cy="887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0" descr="Population Icon Vector Isolated On White Stock Vector (Royalty Free)  1178239927 | Shutterstock">
            <a:extLst>
              <a:ext uri="{FF2B5EF4-FFF2-40B4-BE49-F238E27FC236}">
                <a16:creationId xmlns:a16="http://schemas.microsoft.com/office/drawing/2014/main" id="{76DB4AD3-87E7-D133-85DA-C5BA7F012FC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421" t="20616" r="11520" b="44789"/>
          <a:stretch>
            <a:fillRect/>
          </a:stretch>
        </p:blipFill>
        <p:spPr bwMode="auto">
          <a:xfrm>
            <a:off x="6811861" y="1890537"/>
            <a:ext cx="525009" cy="3385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37" name="Oval 1036">
            <a:extLst>
              <a:ext uri="{FF2B5EF4-FFF2-40B4-BE49-F238E27FC236}">
                <a16:creationId xmlns:a16="http://schemas.microsoft.com/office/drawing/2014/main" id="{7EC457DD-2407-4C5F-929F-6BEF5B7B71F2}"/>
              </a:ext>
            </a:extLst>
          </p:cNvPr>
          <p:cNvSpPr/>
          <p:nvPr/>
        </p:nvSpPr>
        <p:spPr>
          <a:xfrm>
            <a:off x="7922977" y="888681"/>
            <a:ext cx="274320" cy="27432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</a:p>
        </p:txBody>
      </p:sp>
      <p:sp>
        <p:nvSpPr>
          <p:cNvPr id="1038" name="Oval 1037">
            <a:extLst>
              <a:ext uri="{FF2B5EF4-FFF2-40B4-BE49-F238E27FC236}">
                <a16:creationId xmlns:a16="http://schemas.microsoft.com/office/drawing/2014/main" id="{5938B987-DAF2-64E1-CE36-2270A0AAA86A}"/>
              </a:ext>
            </a:extLst>
          </p:cNvPr>
          <p:cNvSpPr/>
          <p:nvPr/>
        </p:nvSpPr>
        <p:spPr>
          <a:xfrm>
            <a:off x="9695594" y="892060"/>
            <a:ext cx="274320" cy="27432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</p:txBody>
      </p:sp>
      <p:sp>
        <p:nvSpPr>
          <p:cNvPr id="1039" name="Rectangle 1038">
            <a:extLst>
              <a:ext uri="{FF2B5EF4-FFF2-40B4-BE49-F238E27FC236}">
                <a16:creationId xmlns:a16="http://schemas.microsoft.com/office/drawing/2014/main" id="{87106CDC-4099-454D-D66C-83D2FB12D3C9}"/>
              </a:ext>
            </a:extLst>
          </p:cNvPr>
          <p:cNvSpPr/>
          <p:nvPr/>
        </p:nvSpPr>
        <p:spPr>
          <a:xfrm>
            <a:off x="5344950" y="1965328"/>
            <a:ext cx="539491" cy="17373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610DA90E-6075-FD42-0A68-C4EA719A9988}"/>
              </a:ext>
            </a:extLst>
          </p:cNvPr>
          <p:cNvCxnSpPr>
            <a:cxnSpLocks/>
          </p:cNvCxnSpPr>
          <p:nvPr/>
        </p:nvCxnSpPr>
        <p:spPr>
          <a:xfrm>
            <a:off x="5358303" y="2033480"/>
            <a:ext cx="446282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3" name="Straight Arrow Connector 1042">
            <a:extLst>
              <a:ext uri="{FF2B5EF4-FFF2-40B4-BE49-F238E27FC236}">
                <a16:creationId xmlns:a16="http://schemas.microsoft.com/office/drawing/2014/main" id="{E959F08E-4F93-60FB-50EF-E6A777858927}"/>
              </a:ext>
            </a:extLst>
          </p:cNvPr>
          <p:cNvCxnSpPr>
            <a:cxnSpLocks/>
          </p:cNvCxnSpPr>
          <p:nvPr/>
        </p:nvCxnSpPr>
        <p:spPr>
          <a:xfrm>
            <a:off x="9236926" y="1901554"/>
            <a:ext cx="365760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6" name="Straight Arrow Connector 1045">
            <a:extLst>
              <a:ext uri="{FF2B5EF4-FFF2-40B4-BE49-F238E27FC236}">
                <a16:creationId xmlns:a16="http://schemas.microsoft.com/office/drawing/2014/main" id="{860734F2-BAB9-1F5E-69B4-3126267DB51A}"/>
              </a:ext>
            </a:extLst>
          </p:cNvPr>
          <p:cNvCxnSpPr>
            <a:cxnSpLocks/>
          </p:cNvCxnSpPr>
          <p:nvPr/>
        </p:nvCxnSpPr>
        <p:spPr>
          <a:xfrm>
            <a:off x="7514134" y="1882942"/>
            <a:ext cx="365760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1D716FF4-5AAF-534B-4EFC-FE2842738CD3}"/>
              </a:ext>
            </a:extLst>
          </p:cNvPr>
          <p:cNvSpPr txBox="1"/>
          <p:nvPr/>
        </p:nvSpPr>
        <p:spPr>
          <a:xfrm>
            <a:off x="8858481" y="2412119"/>
            <a:ext cx="16888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Trust-based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algn="ctr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ROA validation </a:t>
            </a:r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94A1D801-780A-68A4-A910-2E60CDAA6048}"/>
              </a:ext>
            </a:extLst>
          </p:cNvPr>
          <p:cNvGrpSpPr/>
          <p:nvPr/>
        </p:nvGrpSpPr>
        <p:grpSpPr>
          <a:xfrm>
            <a:off x="2933900" y="2130163"/>
            <a:ext cx="93122" cy="615248"/>
            <a:chOff x="6369238" y="5354201"/>
            <a:chExt cx="93122" cy="615248"/>
          </a:xfrm>
        </p:grpSpPr>
        <p:cxnSp>
          <p:nvCxnSpPr>
            <p:cNvPr id="40" name="Straight Arrow Connector 39">
              <a:extLst>
                <a:ext uri="{FF2B5EF4-FFF2-40B4-BE49-F238E27FC236}">
                  <a16:creationId xmlns:a16="http://schemas.microsoft.com/office/drawing/2014/main" id="{4BA30408-3CB6-B855-5437-F9360A817AA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369238" y="5354201"/>
              <a:ext cx="0" cy="421140"/>
            </a:xfrm>
            <a:prstGeom prst="straightConnector1">
              <a:avLst/>
            </a:prstGeom>
            <a:ln w="34925">
              <a:solidFill>
                <a:schemeClr val="accent5"/>
              </a:solidFill>
              <a:prstDash val="sysDot"/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Arrow Connector 40">
              <a:extLst>
                <a:ext uri="{FF2B5EF4-FFF2-40B4-BE49-F238E27FC236}">
                  <a16:creationId xmlns:a16="http://schemas.microsoft.com/office/drawing/2014/main" id="{246B5220-854D-CF5A-FD8C-3B5C024B5F13}"/>
                </a:ext>
              </a:extLst>
            </p:cNvPr>
            <p:cNvCxnSpPr>
              <a:cxnSpLocks/>
            </p:cNvCxnSpPr>
            <p:nvPr/>
          </p:nvCxnSpPr>
          <p:spPr>
            <a:xfrm>
              <a:off x="6462360" y="5590215"/>
              <a:ext cx="0" cy="379234"/>
            </a:xfrm>
            <a:prstGeom prst="straightConnector1">
              <a:avLst/>
            </a:prstGeom>
            <a:ln w="34925">
              <a:solidFill>
                <a:schemeClr val="accent5"/>
              </a:solidFill>
              <a:prstDash val="sysDot"/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00B8D9FD-6D29-1D44-9243-E0743A055702}"/>
              </a:ext>
            </a:extLst>
          </p:cNvPr>
          <p:cNvGrpSpPr/>
          <p:nvPr/>
        </p:nvGrpSpPr>
        <p:grpSpPr>
          <a:xfrm>
            <a:off x="8782734" y="2405441"/>
            <a:ext cx="93122" cy="601774"/>
            <a:chOff x="6369238" y="5354201"/>
            <a:chExt cx="93122" cy="601774"/>
          </a:xfrm>
        </p:grpSpPr>
        <p:cxnSp>
          <p:nvCxnSpPr>
            <p:cNvPr id="60" name="Straight Arrow Connector 59">
              <a:extLst>
                <a:ext uri="{FF2B5EF4-FFF2-40B4-BE49-F238E27FC236}">
                  <a16:creationId xmlns:a16="http://schemas.microsoft.com/office/drawing/2014/main" id="{47EEEA87-9BC9-DF23-D893-41D207957BF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369238" y="5354201"/>
              <a:ext cx="0" cy="365760"/>
            </a:xfrm>
            <a:prstGeom prst="straightConnector1">
              <a:avLst/>
            </a:prstGeom>
            <a:ln w="34925">
              <a:solidFill>
                <a:schemeClr val="accent5"/>
              </a:solidFill>
              <a:prstDash val="sysDot"/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Arrow Connector 60">
              <a:extLst>
                <a:ext uri="{FF2B5EF4-FFF2-40B4-BE49-F238E27FC236}">
                  <a16:creationId xmlns:a16="http://schemas.microsoft.com/office/drawing/2014/main" id="{1CA42C42-3356-EE66-20C4-A8C378B863C5}"/>
                </a:ext>
              </a:extLst>
            </p:cNvPr>
            <p:cNvCxnSpPr>
              <a:cxnSpLocks/>
            </p:cNvCxnSpPr>
            <p:nvPr/>
          </p:nvCxnSpPr>
          <p:spPr>
            <a:xfrm>
              <a:off x="6462360" y="5590215"/>
              <a:ext cx="0" cy="365760"/>
            </a:xfrm>
            <a:prstGeom prst="straightConnector1">
              <a:avLst/>
            </a:prstGeom>
            <a:ln w="34925">
              <a:solidFill>
                <a:schemeClr val="accent5"/>
              </a:solidFill>
              <a:prstDash val="sysDot"/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2" name="TextBox 61">
            <a:extLst>
              <a:ext uri="{FF2B5EF4-FFF2-40B4-BE49-F238E27FC236}">
                <a16:creationId xmlns:a16="http://schemas.microsoft.com/office/drawing/2014/main" id="{7C7B6D45-7947-6FD5-5A3A-D196DE5A6A6D}"/>
              </a:ext>
            </a:extLst>
          </p:cNvPr>
          <p:cNvSpPr txBox="1"/>
          <p:nvPr/>
        </p:nvSpPr>
        <p:spPr>
          <a:xfrm>
            <a:off x="6450139" y="2418706"/>
            <a:ext cx="1545094" cy="4924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BGP-Sentry</a:t>
            </a:r>
          </a:p>
          <a:p>
            <a:pPr algn="ctr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Trust Expansion</a:t>
            </a:r>
          </a:p>
        </p:txBody>
      </p:sp>
      <p:sp>
        <p:nvSpPr>
          <p:cNvPr id="8" name="Up-Down Arrow 7">
            <a:extLst>
              <a:ext uri="{FF2B5EF4-FFF2-40B4-BE49-F238E27FC236}">
                <a16:creationId xmlns:a16="http://schemas.microsoft.com/office/drawing/2014/main" id="{EEEC1E3F-5501-2281-29A5-B3C7595D08E5}"/>
              </a:ext>
            </a:extLst>
          </p:cNvPr>
          <p:cNvSpPr/>
          <p:nvPr/>
        </p:nvSpPr>
        <p:spPr>
          <a:xfrm>
            <a:off x="7973761" y="2245681"/>
            <a:ext cx="189567" cy="843105"/>
          </a:xfrm>
          <a:prstGeom prst="upDown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00D00C3-F979-A808-0789-78467130C9D9}"/>
              </a:ext>
            </a:extLst>
          </p:cNvPr>
          <p:cNvPicPr>
            <a:picLocks noChangeAspect="1"/>
          </p:cNvPicPr>
          <p:nvPr/>
        </p:nvPicPr>
        <p:blipFill>
          <a:blip r:embed="rId9">
            <a:duotone>
              <a:prstClr val="black"/>
              <a:schemeClr val="accent2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3793073" y="3694327"/>
            <a:ext cx="530352" cy="274320"/>
          </a:xfrm>
          <a:prstGeom prst="rect">
            <a:avLst/>
          </a:prstGeom>
        </p:spPr>
      </p:pic>
      <p:sp>
        <p:nvSpPr>
          <p:cNvPr id="6" name="Oval 5">
            <a:extLst>
              <a:ext uri="{FF2B5EF4-FFF2-40B4-BE49-F238E27FC236}">
                <a16:creationId xmlns:a16="http://schemas.microsoft.com/office/drawing/2014/main" id="{128734F6-44A5-2416-5830-D2BB19174C8F}"/>
              </a:ext>
            </a:extLst>
          </p:cNvPr>
          <p:cNvSpPr/>
          <p:nvPr/>
        </p:nvSpPr>
        <p:spPr>
          <a:xfrm>
            <a:off x="1830532" y="2935613"/>
            <a:ext cx="1934196" cy="1180386"/>
          </a:xfrm>
          <a:prstGeom prst="ellipse">
            <a:avLst/>
          </a:prstGeom>
          <a:solidFill>
            <a:schemeClr val="accent1">
              <a:alpha val="10000"/>
            </a:schemeClr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DD87D06-D396-50A2-58B1-8F4D0E27248E}"/>
              </a:ext>
            </a:extLst>
          </p:cNvPr>
          <p:cNvPicPr>
            <a:picLocks noChangeAspect="1"/>
          </p:cNvPicPr>
          <p:nvPr/>
        </p:nvPicPr>
        <p:blipFill>
          <a:blip r:embed="rId9">
            <a:duotone>
              <a:prstClr val="black"/>
              <a:schemeClr val="accent2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3204715" y="4161646"/>
            <a:ext cx="530352" cy="274320"/>
          </a:xfrm>
          <a:prstGeom prst="rect">
            <a:avLst/>
          </a:prstGeom>
        </p:spPr>
      </p:pic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916D508C-3F62-E4BD-957D-3435A4296D3E}"/>
              </a:ext>
            </a:extLst>
          </p:cNvPr>
          <p:cNvCxnSpPr>
            <a:cxnSpLocks/>
          </p:cNvCxnSpPr>
          <p:nvPr/>
        </p:nvCxnSpPr>
        <p:spPr>
          <a:xfrm flipV="1">
            <a:off x="2367009" y="3472312"/>
            <a:ext cx="950963" cy="301639"/>
          </a:xfrm>
          <a:prstGeom prst="line">
            <a:avLst/>
          </a:prstGeom>
          <a:noFill/>
          <a:ln w="12700" cap="flat" cmpd="sng" algn="ctr">
            <a:solidFill>
              <a:schemeClr val="tx1">
                <a:lumMod val="95000"/>
                <a:lumOff val="5000"/>
              </a:schemeClr>
            </a:solidFill>
            <a:prstDash val="solid"/>
            <a:headEnd type="none" w="med" len="med"/>
            <a:tailEnd type="none" w="med" len="med"/>
          </a:ln>
          <a:effectLst/>
        </p:spPr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679263F3-730A-6D8C-97A9-2531BF72EF51}"/>
              </a:ext>
            </a:extLst>
          </p:cNvPr>
          <p:cNvPicPr>
            <a:picLocks noChangeAspect="1"/>
          </p:cNvPicPr>
          <p:nvPr/>
        </p:nvPicPr>
        <p:blipFill>
          <a:blip r:embed="rId9">
            <a:grayscl/>
          </a:blip>
          <a:stretch>
            <a:fillRect/>
          </a:stretch>
        </p:blipFill>
        <p:spPr>
          <a:xfrm>
            <a:off x="3080992" y="3349357"/>
            <a:ext cx="530352" cy="274320"/>
          </a:xfrm>
          <a:prstGeom prst="rect">
            <a:avLst/>
          </a:prstGeom>
        </p:spPr>
      </p:pic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50F56DE8-2097-5516-03D2-3651CCFA0FBA}"/>
              </a:ext>
            </a:extLst>
          </p:cNvPr>
          <p:cNvCxnSpPr>
            <a:cxnSpLocks/>
          </p:cNvCxnSpPr>
          <p:nvPr/>
        </p:nvCxnSpPr>
        <p:spPr>
          <a:xfrm flipV="1">
            <a:off x="1636964" y="3773726"/>
            <a:ext cx="585024" cy="110723"/>
          </a:xfrm>
          <a:prstGeom prst="line">
            <a:avLst/>
          </a:prstGeom>
          <a:noFill/>
          <a:ln w="12700" cap="flat" cmpd="sng" algn="ctr">
            <a:solidFill>
              <a:schemeClr val="tx1">
                <a:lumMod val="95000"/>
                <a:lumOff val="5000"/>
              </a:schemeClr>
            </a:solidFill>
            <a:prstDash val="solid"/>
            <a:headEnd type="none" w="med" len="med"/>
            <a:tailEnd type="none" w="med" len="med"/>
          </a:ln>
          <a:effectLst/>
        </p:spPr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5743F21B-C5C9-CBBE-CA7C-34FEA2631FA1}"/>
              </a:ext>
            </a:extLst>
          </p:cNvPr>
          <p:cNvCxnSpPr>
            <a:cxnSpLocks/>
            <a:endCxn id="9" idx="0"/>
          </p:cNvCxnSpPr>
          <p:nvPr/>
        </p:nvCxnSpPr>
        <p:spPr>
          <a:xfrm flipH="1">
            <a:off x="2218509" y="3810679"/>
            <a:ext cx="14169" cy="350967"/>
          </a:xfrm>
          <a:prstGeom prst="line">
            <a:avLst/>
          </a:prstGeom>
          <a:noFill/>
          <a:ln w="12700" cap="flat" cmpd="sng" algn="ctr">
            <a:solidFill>
              <a:schemeClr val="tx1">
                <a:lumMod val="95000"/>
                <a:lumOff val="5000"/>
              </a:schemeClr>
            </a:solidFill>
            <a:prstDash val="solid"/>
            <a:headEnd type="none" w="med" len="med"/>
            <a:tailEnd type="none" w="med" len="med"/>
          </a:ln>
          <a:effectLst/>
        </p:spPr>
      </p:cxnSp>
      <p:pic>
        <p:nvPicPr>
          <p:cNvPr id="2" name="Picture 1">
            <a:extLst>
              <a:ext uri="{FF2B5EF4-FFF2-40B4-BE49-F238E27FC236}">
                <a16:creationId xmlns:a16="http://schemas.microsoft.com/office/drawing/2014/main" id="{9E2AB6F1-A3BE-91A7-EE15-D5C38221DA70}"/>
              </a:ext>
            </a:extLst>
          </p:cNvPr>
          <p:cNvPicPr>
            <a:picLocks noChangeAspect="1"/>
          </p:cNvPicPr>
          <p:nvPr/>
        </p:nvPicPr>
        <p:blipFill>
          <a:blip r:embed="rId9">
            <a:grayscl/>
          </a:blip>
          <a:stretch>
            <a:fillRect/>
          </a:stretch>
        </p:blipFill>
        <p:spPr>
          <a:xfrm>
            <a:off x="2001758" y="3668119"/>
            <a:ext cx="530352" cy="27432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4DC55C1-C496-473C-5E93-2A4FC32CDF0E}"/>
              </a:ext>
            </a:extLst>
          </p:cNvPr>
          <p:cNvPicPr>
            <a:picLocks noChangeAspect="1"/>
          </p:cNvPicPr>
          <p:nvPr/>
        </p:nvPicPr>
        <p:blipFill>
          <a:blip r:embed="rId9">
            <a:duotone>
              <a:prstClr val="black"/>
              <a:schemeClr val="accent2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1953333" y="4161646"/>
            <a:ext cx="530352" cy="27432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8D1675F-E88A-0737-1239-E52389548E00}"/>
              </a:ext>
            </a:extLst>
          </p:cNvPr>
          <p:cNvPicPr>
            <a:picLocks noChangeAspect="1"/>
          </p:cNvPicPr>
          <p:nvPr/>
        </p:nvPicPr>
        <p:blipFill>
          <a:blip r:embed="rId9">
            <a:grayscl/>
          </a:blip>
          <a:stretch>
            <a:fillRect/>
          </a:stretch>
        </p:blipFill>
        <p:spPr>
          <a:xfrm>
            <a:off x="2796480" y="3753651"/>
            <a:ext cx="530352" cy="27432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3D4A236-C128-0C18-0981-5C726E66D8B7}"/>
              </a:ext>
            </a:extLst>
          </p:cNvPr>
          <p:cNvPicPr>
            <a:picLocks noChangeAspect="1"/>
          </p:cNvPicPr>
          <p:nvPr/>
        </p:nvPicPr>
        <p:blipFill>
          <a:blip r:embed="rId9">
            <a:duotone>
              <a:prstClr val="black"/>
              <a:schemeClr val="accent2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1359914" y="3740397"/>
            <a:ext cx="530352" cy="274320"/>
          </a:xfrm>
          <a:prstGeom prst="rect">
            <a:avLst/>
          </a:prstGeom>
        </p:spPr>
      </p:pic>
      <p:pic>
        <p:nvPicPr>
          <p:cNvPr id="148" name="Picture 147">
            <a:extLst>
              <a:ext uri="{FF2B5EF4-FFF2-40B4-BE49-F238E27FC236}">
                <a16:creationId xmlns:a16="http://schemas.microsoft.com/office/drawing/2014/main" id="{64B2D671-00EA-C9BA-4ADF-D52BFCD1D0CD}"/>
              </a:ext>
            </a:extLst>
          </p:cNvPr>
          <p:cNvPicPr>
            <a:picLocks noChangeAspect="1"/>
          </p:cNvPicPr>
          <p:nvPr/>
        </p:nvPicPr>
        <p:blipFill>
          <a:blip r:embed="rId9">
            <a:grayscl/>
          </a:blip>
          <a:stretch>
            <a:fillRect/>
          </a:stretch>
        </p:blipFill>
        <p:spPr>
          <a:xfrm>
            <a:off x="2220991" y="3164840"/>
            <a:ext cx="530352" cy="274320"/>
          </a:xfrm>
          <a:prstGeom prst="rect">
            <a:avLst/>
          </a:prstGeom>
        </p:spPr>
      </p:pic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E86855F9-607E-16B5-7533-02DEA08665A0}"/>
              </a:ext>
            </a:extLst>
          </p:cNvPr>
          <p:cNvCxnSpPr>
            <a:cxnSpLocks/>
          </p:cNvCxnSpPr>
          <p:nvPr/>
        </p:nvCxnSpPr>
        <p:spPr>
          <a:xfrm>
            <a:off x="8970469" y="3684548"/>
            <a:ext cx="673068" cy="365701"/>
          </a:xfrm>
          <a:prstGeom prst="line">
            <a:avLst/>
          </a:prstGeom>
          <a:noFill/>
          <a:ln w="12700" cap="flat" cmpd="sng" algn="ctr">
            <a:solidFill>
              <a:schemeClr val="tx1">
                <a:lumMod val="95000"/>
                <a:lumOff val="5000"/>
              </a:schemeClr>
            </a:solidFill>
            <a:prstDash val="solid"/>
            <a:headEnd type="none" w="med" len="med"/>
            <a:tailEnd type="none" w="med" len="med"/>
          </a:ln>
          <a:effectLst/>
        </p:spPr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DCD9F28D-EF33-0642-A490-8437541926E4}"/>
              </a:ext>
            </a:extLst>
          </p:cNvPr>
          <p:cNvCxnSpPr>
            <a:cxnSpLocks/>
          </p:cNvCxnSpPr>
          <p:nvPr/>
        </p:nvCxnSpPr>
        <p:spPr>
          <a:xfrm>
            <a:off x="8133666" y="3533818"/>
            <a:ext cx="523852" cy="502898"/>
          </a:xfrm>
          <a:prstGeom prst="line">
            <a:avLst/>
          </a:prstGeom>
          <a:noFill/>
          <a:ln w="12700" cap="flat" cmpd="sng" algn="ctr">
            <a:solidFill>
              <a:schemeClr val="tx1">
                <a:lumMod val="95000"/>
                <a:lumOff val="5000"/>
              </a:schemeClr>
            </a:solidFill>
            <a:prstDash val="solid"/>
            <a:headEnd type="none" w="med" len="med"/>
            <a:tailEnd type="none" w="med" len="med"/>
          </a:ln>
          <a:effectLst/>
        </p:spPr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297EB962-3B9B-D899-895D-772397D17606}"/>
              </a:ext>
            </a:extLst>
          </p:cNvPr>
          <p:cNvCxnSpPr>
            <a:cxnSpLocks/>
            <a:stCxn id="38" idx="0"/>
          </p:cNvCxnSpPr>
          <p:nvPr/>
        </p:nvCxnSpPr>
        <p:spPr>
          <a:xfrm flipH="1" flipV="1">
            <a:off x="8705339" y="4118797"/>
            <a:ext cx="406359" cy="255085"/>
          </a:xfrm>
          <a:prstGeom prst="line">
            <a:avLst/>
          </a:prstGeom>
          <a:noFill/>
          <a:ln w="12700" cap="flat" cmpd="sng" algn="ctr">
            <a:solidFill>
              <a:schemeClr val="tx1">
                <a:lumMod val="95000"/>
                <a:lumOff val="5000"/>
              </a:schemeClr>
            </a:solidFill>
            <a:prstDash val="solid"/>
            <a:headEnd type="none" w="med" len="med"/>
            <a:tailEnd type="none" w="med" len="med"/>
          </a:ln>
          <a:effectLst/>
        </p:spPr>
      </p:cxnSp>
      <p:pic>
        <p:nvPicPr>
          <p:cNvPr id="36" name="Picture 35">
            <a:extLst>
              <a:ext uri="{FF2B5EF4-FFF2-40B4-BE49-F238E27FC236}">
                <a16:creationId xmlns:a16="http://schemas.microsoft.com/office/drawing/2014/main" id="{A09DFFBC-ADB2-0346-3C55-8985CF038E82}"/>
              </a:ext>
            </a:extLst>
          </p:cNvPr>
          <p:cNvPicPr>
            <a:picLocks noChangeAspect="1"/>
          </p:cNvPicPr>
          <p:nvPr/>
        </p:nvPicPr>
        <p:blipFill>
          <a:blip r:embed="rId9">
            <a:duotone>
              <a:prstClr val="black"/>
              <a:schemeClr val="accent1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9434880" y="3906563"/>
            <a:ext cx="530352" cy="274320"/>
          </a:xfrm>
          <a:prstGeom prst="rect">
            <a:avLst/>
          </a:prstGeom>
        </p:spPr>
      </p:pic>
      <p:sp>
        <p:nvSpPr>
          <p:cNvPr id="37" name="Oval 36">
            <a:extLst>
              <a:ext uri="{FF2B5EF4-FFF2-40B4-BE49-F238E27FC236}">
                <a16:creationId xmlns:a16="http://schemas.microsoft.com/office/drawing/2014/main" id="{70A10C1C-9171-2370-7B9B-7CDCDBB3AA96}"/>
              </a:ext>
            </a:extLst>
          </p:cNvPr>
          <p:cNvSpPr/>
          <p:nvPr/>
        </p:nvSpPr>
        <p:spPr>
          <a:xfrm>
            <a:off x="7427183" y="3178307"/>
            <a:ext cx="1934196" cy="1206373"/>
          </a:xfrm>
          <a:prstGeom prst="ellipse">
            <a:avLst/>
          </a:prstGeom>
          <a:solidFill>
            <a:schemeClr val="accent1">
              <a:alpha val="10000"/>
            </a:schemeClr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94BBA254-8F9B-112D-123C-912802DFD6A4}"/>
              </a:ext>
            </a:extLst>
          </p:cNvPr>
          <p:cNvPicPr>
            <a:picLocks noChangeAspect="1"/>
          </p:cNvPicPr>
          <p:nvPr/>
        </p:nvPicPr>
        <p:blipFill>
          <a:blip r:embed="rId9">
            <a:duotone>
              <a:prstClr val="black"/>
              <a:schemeClr val="accent5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8846522" y="4373882"/>
            <a:ext cx="530352" cy="274320"/>
          </a:xfrm>
          <a:prstGeom prst="rect">
            <a:avLst/>
          </a:prstGeom>
        </p:spPr>
      </p:pic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90A44B60-C491-FFFC-2706-DDF6E9BDF926}"/>
              </a:ext>
            </a:extLst>
          </p:cNvPr>
          <p:cNvCxnSpPr>
            <a:cxnSpLocks/>
          </p:cNvCxnSpPr>
          <p:nvPr/>
        </p:nvCxnSpPr>
        <p:spPr>
          <a:xfrm flipV="1">
            <a:off x="8008816" y="3684548"/>
            <a:ext cx="950963" cy="301639"/>
          </a:xfrm>
          <a:prstGeom prst="line">
            <a:avLst/>
          </a:prstGeom>
          <a:noFill/>
          <a:ln w="12700" cap="flat" cmpd="sng" algn="ctr">
            <a:solidFill>
              <a:schemeClr val="tx1">
                <a:lumMod val="95000"/>
                <a:lumOff val="5000"/>
              </a:schemeClr>
            </a:solidFill>
            <a:prstDash val="solid"/>
            <a:headEnd type="none" w="med" len="med"/>
            <a:tailEnd type="none" w="med" len="med"/>
          </a:ln>
          <a:effectLst/>
        </p:spPr>
      </p:cxnSp>
      <p:pic>
        <p:nvPicPr>
          <p:cNvPr id="44" name="Picture 43">
            <a:extLst>
              <a:ext uri="{FF2B5EF4-FFF2-40B4-BE49-F238E27FC236}">
                <a16:creationId xmlns:a16="http://schemas.microsoft.com/office/drawing/2014/main" id="{791ACB83-1289-8E84-B165-A706CC3ADB32}"/>
              </a:ext>
            </a:extLst>
          </p:cNvPr>
          <p:cNvPicPr>
            <a:picLocks noChangeAspect="1"/>
          </p:cNvPicPr>
          <p:nvPr/>
        </p:nvPicPr>
        <p:blipFill>
          <a:blip r:embed="rId9">
            <a:grayscl/>
          </a:blip>
          <a:stretch>
            <a:fillRect/>
          </a:stretch>
        </p:blipFill>
        <p:spPr>
          <a:xfrm>
            <a:off x="8722799" y="3561593"/>
            <a:ext cx="530352" cy="274320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36983A97-97EF-4B4B-FD01-16727B29CEBC}"/>
              </a:ext>
            </a:extLst>
          </p:cNvPr>
          <p:cNvCxnSpPr>
            <a:cxnSpLocks/>
          </p:cNvCxnSpPr>
          <p:nvPr/>
        </p:nvCxnSpPr>
        <p:spPr>
          <a:xfrm flipV="1">
            <a:off x="7278771" y="3985962"/>
            <a:ext cx="585024" cy="110723"/>
          </a:xfrm>
          <a:prstGeom prst="line">
            <a:avLst/>
          </a:prstGeom>
          <a:noFill/>
          <a:ln w="12700" cap="flat" cmpd="sng" algn="ctr">
            <a:solidFill>
              <a:schemeClr val="tx1">
                <a:lumMod val="95000"/>
                <a:lumOff val="5000"/>
              </a:schemeClr>
            </a:solidFill>
            <a:prstDash val="solid"/>
            <a:headEnd type="none" w="med" len="med"/>
            <a:tailEnd type="none" w="med" len="med"/>
          </a:ln>
          <a:effectLst/>
        </p:spPr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CAFB009A-F009-BCA8-1F57-742743AD8578}"/>
              </a:ext>
            </a:extLst>
          </p:cNvPr>
          <p:cNvCxnSpPr>
            <a:cxnSpLocks/>
            <a:endCxn id="48" idx="0"/>
          </p:cNvCxnSpPr>
          <p:nvPr/>
        </p:nvCxnSpPr>
        <p:spPr>
          <a:xfrm flipH="1">
            <a:off x="7860316" y="4022915"/>
            <a:ext cx="14169" cy="350967"/>
          </a:xfrm>
          <a:prstGeom prst="line">
            <a:avLst/>
          </a:prstGeom>
          <a:noFill/>
          <a:ln w="12700" cap="flat" cmpd="sng" algn="ctr">
            <a:solidFill>
              <a:schemeClr val="tx1">
                <a:lumMod val="95000"/>
                <a:lumOff val="5000"/>
              </a:schemeClr>
            </a:solidFill>
            <a:prstDash val="solid"/>
            <a:headEnd type="none" w="med" len="med"/>
            <a:tailEnd type="none" w="med" len="med"/>
          </a:ln>
          <a:effectLst/>
        </p:spPr>
      </p:cxnSp>
      <p:pic>
        <p:nvPicPr>
          <p:cNvPr id="47" name="Picture 46">
            <a:extLst>
              <a:ext uri="{FF2B5EF4-FFF2-40B4-BE49-F238E27FC236}">
                <a16:creationId xmlns:a16="http://schemas.microsoft.com/office/drawing/2014/main" id="{53556BDD-ED72-5E96-DBD1-58E2B579132D}"/>
              </a:ext>
            </a:extLst>
          </p:cNvPr>
          <p:cNvPicPr>
            <a:picLocks noChangeAspect="1"/>
          </p:cNvPicPr>
          <p:nvPr/>
        </p:nvPicPr>
        <p:blipFill>
          <a:blip r:embed="rId9">
            <a:grayscl/>
          </a:blip>
          <a:stretch>
            <a:fillRect/>
          </a:stretch>
        </p:blipFill>
        <p:spPr>
          <a:xfrm>
            <a:off x="7643565" y="3880355"/>
            <a:ext cx="530352" cy="274320"/>
          </a:xfrm>
          <a:prstGeom prst="rect">
            <a:avLst/>
          </a:prstGeom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24192CE5-E07E-BE9E-EBCE-BA0D442975F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595140" y="4373882"/>
            <a:ext cx="530352" cy="274320"/>
          </a:xfrm>
          <a:prstGeom prst="rect">
            <a:avLst/>
          </a:prstGeom>
        </p:spPr>
      </p:pic>
      <p:pic>
        <p:nvPicPr>
          <p:cNvPr id="49" name="Picture 48">
            <a:extLst>
              <a:ext uri="{FF2B5EF4-FFF2-40B4-BE49-F238E27FC236}">
                <a16:creationId xmlns:a16="http://schemas.microsoft.com/office/drawing/2014/main" id="{F20FAF87-E9E3-32D7-D763-1F73985A827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438287" y="3965887"/>
            <a:ext cx="530352" cy="274320"/>
          </a:xfrm>
          <a:prstGeom prst="rect">
            <a:avLst/>
          </a:prstGeom>
        </p:spPr>
      </p:pic>
      <p:pic>
        <p:nvPicPr>
          <p:cNvPr id="50" name="Picture 49">
            <a:extLst>
              <a:ext uri="{FF2B5EF4-FFF2-40B4-BE49-F238E27FC236}">
                <a16:creationId xmlns:a16="http://schemas.microsoft.com/office/drawing/2014/main" id="{E9713DF0-8AFC-8F59-96CB-797C1085CFF0}"/>
              </a:ext>
            </a:extLst>
          </p:cNvPr>
          <p:cNvPicPr>
            <a:picLocks noChangeAspect="1"/>
          </p:cNvPicPr>
          <p:nvPr/>
        </p:nvPicPr>
        <p:blipFill>
          <a:blip r:embed="rId9">
            <a:duotone>
              <a:schemeClr val="accent3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7001721" y="3952633"/>
            <a:ext cx="530352" cy="274320"/>
          </a:xfrm>
          <a:prstGeom prst="rect">
            <a:avLst/>
          </a:prstGeom>
        </p:spPr>
      </p:pic>
      <p:pic>
        <p:nvPicPr>
          <p:cNvPr id="51" name="Picture 50">
            <a:extLst>
              <a:ext uri="{FF2B5EF4-FFF2-40B4-BE49-F238E27FC236}">
                <a16:creationId xmlns:a16="http://schemas.microsoft.com/office/drawing/2014/main" id="{F6834451-745A-4D38-73DF-6D843C6B6E79}"/>
              </a:ext>
            </a:extLst>
          </p:cNvPr>
          <p:cNvPicPr>
            <a:picLocks noChangeAspect="1"/>
          </p:cNvPicPr>
          <p:nvPr/>
        </p:nvPicPr>
        <p:blipFill>
          <a:blip r:embed="rId9">
            <a:grayscl/>
          </a:blip>
          <a:stretch>
            <a:fillRect/>
          </a:stretch>
        </p:blipFill>
        <p:spPr>
          <a:xfrm>
            <a:off x="7862798" y="3377076"/>
            <a:ext cx="530352" cy="274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62233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618317-9C55-D9BB-3C0B-DCB8151715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hord 3">
            <a:extLst>
              <a:ext uri="{FF2B5EF4-FFF2-40B4-BE49-F238E27FC236}">
                <a16:creationId xmlns:a16="http://schemas.microsoft.com/office/drawing/2014/main" id="{713EF436-5695-B797-F745-46DC81804B7A}"/>
              </a:ext>
            </a:extLst>
          </p:cNvPr>
          <p:cNvSpPr/>
          <p:nvPr/>
        </p:nvSpPr>
        <p:spPr>
          <a:xfrm rot="17546820">
            <a:off x="3284101" y="2350431"/>
            <a:ext cx="3749040" cy="3749040"/>
          </a:xfrm>
          <a:prstGeom prst="chord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hord 4">
            <a:extLst>
              <a:ext uri="{FF2B5EF4-FFF2-40B4-BE49-F238E27FC236}">
                <a16:creationId xmlns:a16="http://schemas.microsoft.com/office/drawing/2014/main" id="{59A4478B-053D-F201-CF81-074B6BA8623E}"/>
              </a:ext>
            </a:extLst>
          </p:cNvPr>
          <p:cNvSpPr/>
          <p:nvPr/>
        </p:nvSpPr>
        <p:spPr>
          <a:xfrm rot="17001992">
            <a:off x="3505648" y="2291320"/>
            <a:ext cx="3474720" cy="2834640"/>
          </a:xfrm>
          <a:prstGeom prst="chord">
            <a:avLst>
              <a:gd name="adj1" fmla="val 3973806"/>
              <a:gd name="adj2" fmla="val 15846991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73211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469</TotalTime>
  <Words>234</Words>
  <Application>Microsoft Macintosh PowerPoint</Application>
  <PresentationFormat>Widescreen</PresentationFormat>
  <Paragraphs>139</Paragraphs>
  <Slides>7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Aptos</vt:lpstr>
      <vt:lpstr>Aptos Display</vt:lpstr>
      <vt:lpstr>Arial</vt:lpstr>
      <vt:lpstr>Cambria Math</vt:lpstr>
      <vt:lpstr>Helvetica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Mehdi Mirnajafi</dc:creator>
  <cp:lastModifiedBy>Mehdi Mirnajafi</cp:lastModifiedBy>
  <cp:revision>28</cp:revision>
  <dcterms:created xsi:type="dcterms:W3CDTF">2026-04-07T13:57:49Z</dcterms:created>
  <dcterms:modified xsi:type="dcterms:W3CDTF">2026-04-10T20:31:38Z</dcterms:modified>
</cp:coreProperties>
</file>